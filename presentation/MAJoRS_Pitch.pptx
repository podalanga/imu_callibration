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3fc06c7-7501-d377-45d7-39fc5653a7e5}">
          <p14:sldIdLst>
            <p14:sldId id="256"/>
            <p14:sldId id="257"/>
            <p14:sldId id="258"/>
            <p14:sldId id="259"/>
          </p14:sldIdLst>
        </p14:section>
        <p14:section name="Sensor, calibration, drift" id="{944f8848-f992-b9d8-6093-d4d50b18f81b}">
          <p14:sldIdLst>
            <p14:sldId id="260"/>
            <p14:sldId id="261"/>
            <p14:sldId id="262"/>
            <p14:sldId id="263"/>
          </p14:sldIdLst>
        </p14:section>
        <p14:section name="Filter" id="{99dee696-bb28-9825-8382-41fc1678f20d}">
          <p14:sldIdLst>
            <p14:sldId id="264"/>
            <p14:sldId id="265"/>
          </p14:sldIdLst>
        </p14:section>
        <p14:section name="Results" id="{95a51107-cfc4-de9f-8611-4bf57717050c}">
          <p14:sldIdLst>
            <p14:sldId id="266"/>
            <p14:sldId id="267"/>
            <p14:sldId id="268"/>
            <p14:sldId id="269"/>
            <p14:sldId id="270"/>
          </p14:sldIdLst>
        </p14:section>
        <p14:section name="Close" id="{379b8a40-9d21-62d8-b432-71745086978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MAJoRS: Michelle, Aditya, Joshua, Rahul, Saiprakash. Problem 4. One sentence: we measured our phone's IMU properly, built one 15-state ESKF tuned from that measurement, and showed it on a simulated drone, a public UWB dataset and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Raw phone IMU over ADB, every sample kept with its hardware timestamp. Bias and noise measured from a 1-hour static run. Those numbers set the ESKF's process noise. The ESKF predicts at IMU rate and is corrected by an absolute aid: AprilTag pose on real hardware, UWB ranges in Gazebo and on i-ASL. Then the three test beds and their headline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bare IMU fails Tier 1 on this phone (7.5 m at 30 s), which is exactly why the brief allows aiding. With an aid we are well inside Tier 1 and Tier 3 numbers. Tier 2 asks for a 50 m path; our recorded real walk is 33.8 m, so that run is the first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each person by name while walking the eight cards in order. The thread: measure the sensor, model its noise, build the filter on synthetic data, prove it with UWB on a dataset and in simulation, then take it to hardware with the aid we could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Android problems we hit and how each was fixed. The proof is on the right: a full hour at 395 Hz with 3 microseconds of timing jitter and not one lost sample out of 1.42 million per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Aditya's procedure. The error model is the standard multi-position one from Tedaldi et al. The numbers that matter on this phone are the gyro turn-on bias, about a third of a degree per second, and the accel magnitude 0.06 m/s^2 above local g. The plot shows the bias is not constant: it follows temperature, which is why the filter keeps estimating bias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Saiprakash's 1-hour static recording, all six channels. Allan deviation: the minus one-half slope is white noise, the flat bottom is bias instability. These N, B and K values are exactly what goes into the filter's Q matrix and into the simulator's noisy 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back-to-back 60 s segments of the static hour, integrated freely. Heading drift matches the noise model (measured over predicted is 1.22). Position blows up because a tiny gyro bias tilts the frame and gravity leaks into acceleration. That single term is 4.98 of the predicted 5 m at 30 s. Hence: every test bed uses an absolute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Rahul first ran the Kalman filter on synthetic signals with plain Gaussian noise. Michelle then swapped in the measured noise model: white noise, Gauss-Markov bias, bias random walk and turn-on bias. The generator reproduces the real Allan curves. Attitude results on a synthetic manoeuvre, EKF vs ESKF, and a Q/R grid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in all three test beds. Predict is plain strapdown integration at IMU rate, which is where drift comes from. Each aid is a measurement model into the same update, with a chi-square gate. Inject the error into the nominal state and reset. Q comes from the Allan fit, not from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found the i-ASL dataset: IMU, eight UWB anchors and ground truth from a real flight. IMU and magnetometer predict; each anchor range is its own scalar update, so the filter uses every anchor it can see and drops outliers by normalised innovation. 13.8 cm 3D RMSE over 100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built the PX4 drone simulation over our tag track with eight UWB anchors on a 12 m cube. The noisy IMU carries our phone's measured noise. Rahul's live ESKF node fuses IMU and UWB ranges; ground truth is only used to score it. The node's own log reads 3.9 cm RMSE over 1514 matched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Fiducial tags are on the brief's list of allowed low-cost aids, and they also give ground truth. Printed track on the floor, phone in hand with the back camera looking down, one command records IMU and video together. Camera pose from the tags, time-aligned to the IMU by matching rotations.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walk_01: 70 s, down the 10 m track and back. Orange dots are AprilTag fixes, the coloured line is the ESKF over time, red is the bare IMU from the same start: it leaves the track within 3 s. Tags are visible in only 44 percent of frames; the IMU carries the estimate through the rest. The weak spot is the turnaround at the far end, 7 s without a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 plots. Teal: ESKF against each AprilTag fix it saw. Orange: an honest test, the camera switched off 2 s out of every 4 s, error measured on the fixes the filter never saw. Red: bare IMU. The dashed lines are the tier limits; the dash-dot line is 3 percent of distance. The only excursion above 1 m is the 7 s turnaround with no tag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to the rubric, then the next steps in priority order. The 50 m walk is the single most valuable next run for Tier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chemeClr val="accent4"/>
                </a:solidFill>
              </a:rPr>
              <a:t>MAJoRS · Embien Problem 4 · Transfinitte'26</a:t>
            </a:r>
            <a:endParaRPr lang="en-US" sz="9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5577840" cy="13258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chemeClr val="accent6"/>
                </a:solidFill>
              </a:rPr>
              <a:t>MAJoRS · Embien Problem 4 · Transfinitte'26</a:t>
            </a:r>
            <a:endParaRPr lang="en-US" sz="9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5577840" cy="1325880"/>
          </a:xfrm>
          <a:prstGeom prst="rect">
            <a:avLst/>
          </a:prstGeom>
          <a:noFill/>
          <a:ln/>
        </p:spPr>
        <p:txBody>
          <a:bodyPr wrap="square" lIns="0" tIns="0" rIns="0" bIns="0" rtlCol="0" anchor="t"/>
          <a:lstStyle/>
          <a:p>
            <a:pPr algn="l" indent="0" marL="0">
              <a:buNone/>
            </a:pPr>
            <a:r>
              <a:rPr lang="en-US" sz="3000" b="1" dirty="0">
                <a:solidFill>
                  <a:schemeClr val="bg1"/>
                </a:solidFill>
              </a:rPr>
              <a:t>Indoor positioning with an IMU at the core</a:t>
            </a:r>
            <a:endParaRPr lang="en-US" sz="3000" dirty="0"/>
          </a:p>
        </p:txBody>
      </p:sp>
      <p:sp>
        <p:nvSpPr>
          <p:cNvPr id="4" name="pill-1"/>
          <p:cNvSpPr txBox="1"/>
          <p:nvPr/>
        </p:nvSpPr>
        <p:spPr>
          <a:xfrm>
            <a:off x="548640" y="566928"/>
            <a:ext cx="5784494"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Embien Technologies · Problem 4 · Transfinitte'26, NIT Tiruchirappalli</a:t>
            </a:r>
            <a:endParaRPr lang="en-US" sz="1100" dirty="0"/>
          </a:p>
        </p:txBody>
      </p:sp>
      <p:sp>
        <p:nvSpPr>
          <p:cNvPr id="5" name="text-2"/>
          <p:cNvSpPr txBox="1"/>
          <p:nvPr/>
        </p:nvSpPr>
        <p:spPr>
          <a:xfrm>
            <a:off x="548640" y="1051560"/>
            <a:ext cx="5577840" cy="1188720"/>
          </a:xfrm>
          <a:prstGeom prst="rect">
            <a:avLst/>
          </a:prstGeom>
          <a:noFill/>
          <a:ln/>
        </p:spPr>
        <p:txBody>
          <a:bodyPr wrap="square" lIns="0" tIns="0" rIns="0" bIns="0" rtlCol="0" anchor="ctr"/>
          <a:lstStyle/>
          <a:p>
            <a:pPr indent="0" marL="0">
              <a:buNone/>
            </a:pPr>
            <a:r>
              <a:rPr lang="en-US" sz="6600" b="1" dirty="0">
                <a:solidFill>
                  <a:schemeClr val="bg1"/>
                </a:solidFill>
                <a:latin typeface="+mj-lt" pitchFamily="34" charset="0"/>
                <a:ea typeface="+mj-lt" pitchFamily="34" charset="-122"/>
                <a:cs typeface="+mj-lt" pitchFamily="34" charset="-120"/>
              </a:rPr>
              <a:t>MAJoRS</a:t>
            </a:r>
            <a:endParaRPr lang="en-US" sz="6600" dirty="0"/>
          </a:p>
        </p:txBody>
      </p:sp>
      <p:sp>
        <p:nvSpPr>
          <p:cNvPr id="6" name="text-3"/>
          <p:cNvSpPr txBox="1"/>
          <p:nvPr/>
        </p:nvSpPr>
        <p:spPr>
          <a:xfrm>
            <a:off x="548640" y="3703320"/>
            <a:ext cx="5394960" cy="960120"/>
          </a:xfrm>
          <a:prstGeom prst="rect">
            <a:avLst/>
          </a:prstGeom>
          <a:noFill/>
          <a:ln/>
        </p:spPr>
        <p:txBody>
          <a:bodyPr wrap="square" lIns="0" tIns="0" rIns="0" bIns="0" rtlCol="0" anchor="t"/>
          <a:lstStyle/>
          <a:p>
            <a:pPr indent="0" marL="0">
              <a:buNone/>
            </a:pPr>
            <a:r>
              <a:rPr lang="en-US" sz="1500" dirty="0">
                <a:solidFill>
                  <a:schemeClr val="accent6"/>
                </a:solidFill>
              </a:rPr>
              <a:t>Phone IMU → measured noise model → 15-state ESKF, aided by AprilTags on real hardware and by UWB in simulation and on a public dataset</a:t>
            </a:r>
            <a:endParaRPr lang="en-US" sz="1500" dirty="0"/>
          </a:p>
        </p:txBody>
      </p:sp>
      <p:sp>
        <p:nvSpPr>
          <p:cNvPr id="7" name="card-4"/>
          <p:cNvSpPr/>
          <p:nvPr/>
        </p:nvSpPr>
        <p:spPr>
          <a:xfrm>
            <a:off x="548640" y="4983480"/>
            <a:ext cx="1719072" cy="1051560"/>
          </a:xfrm>
          <a:prstGeom prst="roundRect">
            <a:avLst>
              <a:gd name="adj" fmla="val 6957"/>
            </a:avLst>
          </a:prstGeom>
          <a:solidFill>
            <a:schemeClr val="tx2"/>
          </a:solidFill>
          <a:ln/>
        </p:spPr>
      </p:sp>
      <p:sp>
        <p:nvSpPr>
          <p:cNvPr id="8" name="text-5"/>
          <p:cNvSpPr txBox="1"/>
          <p:nvPr/>
        </p:nvSpPr>
        <p:spPr>
          <a:xfrm>
            <a:off x="685800" y="5074920"/>
            <a:ext cx="1444752" cy="457200"/>
          </a:xfrm>
          <a:prstGeom prst="rect">
            <a:avLst/>
          </a:prstGeom>
          <a:noFill/>
          <a:ln/>
        </p:spPr>
        <p:txBody>
          <a:bodyPr wrap="square" lIns="0" tIns="0" rIns="0" bIns="0" rtlCol="0" anchor="ctr"/>
          <a:lstStyle/>
          <a:p>
            <a:pPr indent="0" marL="0">
              <a:buNone/>
            </a:pPr>
            <a:r>
              <a:rPr lang="en-US" sz="2200" b="1" dirty="0">
                <a:solidFill>
                  <a:schemeClr val="accent1"/>
                </a:solidFill>
              </a:rPr>
              <a:t>3.9 cm</a:t>
            </a:r>
            <a:endParaRPr lang="en-US" sz="2200" dirty="0"/>
          </a:p>
        </p:txBody>
      </p:sp>
      <p:sp>
        <p:nvSpPr>
          <p:cNvPr id="9" name="text-6"/>
          <p:cNvSpPr txBox="1"/>
          <p:nvPr/>
        </p:nvSpPr>
        <p:spPr>
          <a:xfrm>
            <a:off x="685800" y="5532120"/>
            <a:ext cx="1444752" cy="411480"/>
          </a:xfrm>
          <a:prstGeom prst="rect">
            <a:avLst/>
          </a:prstGeom>
          <a:noFill/>
          <a:ln/>
        </p:spPr>
        <p:txBody>
          <a:bodyPr wrap="square" lIns="0" tIns="0" rIns="0" bIns="0" rtlCol="0" anchor="t"/>
          <a:lstStyle/>
          <a:p>
            <a:pPr indent="0" marL="0">
              <a:buNone/>
            </a:pPr>
            <a:r>
              <a:rPr lang="en-US" sz="1050" dirty="0">
                <a:solidFill>
                  <a:schemeClr val="bg2"/>
                </a:solidFill>
              </a:rPr>
              <a:t>RMSE · Gazebo drone + UWB</a:t>
            </a:r>
            <a:endParaRPr lang="en-US" sz="1050" dirty="0"/>
          </a:p>
        </p:txBody>
      </p:sp>
      <p:sp>
        <p:nvSpPr>
          <p:cNvPr id="10" name="card-7"/>
          <p:cNvSpPr/>
          <p:nvPr/>
        </p:nvSpPr>
        <p:spPr>
          <a:xfrm>
            <a:off x="2395728" y="4983480"/>
            <a:ext cx="1719072" cy="1051560"/>
          </a:xfrm>
          <a:prstGeom prst="roundRect">
            <a:avLst>
              <a:gd name="adj" fmla="val 6957"/>
            </a:avLst>
          </a:prstGeom>
          <a:solidFill>
            <a:schemeClr val="tx2"/>
          </a:solidFill>
          <a:ln/>
        </p:spPr>
      </p:sp>
      <p:sp>
        <p:nvSpPr>
          <p:cNvPr id="11" name="text-8"/>
          <p:cNvSpPr txBox="1"/>
          <p:nvPr/>
        </p:nvSpPr>
        <p:spPr>
          <a:xfrm>
            <a:off x="2532888" y="5074920"/>
            <a:ext cx="1444752" cy="457200"/>
          </a:xfrm>
          <a:prstGeom prst="rect">
            <a:avLst/>
          </a:prstGeom>
          <a:noFill/>
          <a:ln/>
        </p:spPr>
        <p:txBody>
          <a:bodyPr wrap="square" lIns="0" tIns="0" rIns="0" bIns="0" rtlCol="0" anchor="ctr"/>
          <a:lstStyle/>
          <a:p>
            <a:pPr indent="0" marL="0">
              <a:buNone/>
            </a:pPr>
            <a:r>
              <a:rPr lang="en-US" sz="2200" b="1" dirty="0">
                <a:solidFill>
                  <a:schemeClr val="accent1"/>
                </a:solidFill>
              </a:rPr>
              <a:t>13.8 cm</a:t>
            </a:r>
            <a:endParaRPr lang="en-US" sz="2200" dirty="0"/>
          </a:p>
        </p:txBody>
      </p:sp>
      <p:sp>
        <p:nvSpPr>
          <p:cNvPr id="12" name="text-9"/>
          <p:cNvSpPr txBox="1"/>
          <p:nvPr/>
        </p:nvSpPr>
        <p:spPr>
          <a:xfrm>
            <a:off x="2532888" y="5532120"/>
            <a:ext cx="1444752" cy="411480"/>
          </a:xfrm>
          <a:prstGeom prst="rect">
            <a:avLst/>
          </a:prstGeom>
          <a:noFill/>
          <a:ln/>
        </p:spPr>
        <p:txBody>
          <a:bodyPr wrap="square" lIns="0" tIns="0" rIns="0" bIns="0" rtlCol="0" anchor="t"/>
          <a:lstStyle/>
          <a:p>
            <a:pPr indent="0" marL="0">
              <a:buNone/>
            </a:pPr>
            <a:r>
              <a:rPr lang="en-US" sz="1050" dirty="0">
                <a:solidFill>
                  <a:schemeClr val="bg2"/>
                </a:solidFill>
              </a:rPr>
              <a:t>RMSE · i-ASL UWB dataset</a:t>
            </a:r>
            <a:endParaRPr lang="en-US" sz="1050" dirty="0"/>
          </a:p>
        </p:txBody>
      </p:sp>
      <p:sp>
        <p:nvSpPr>
          <p:cNvPr id="13" name="card-10"/>
          <p:cNvSpPr/>
          <p:nvPr/>
        </p:nvSpPr>
        <p:spPr>
          <a:xfrm>
            <a:off x="4242816" y="4983480"/>
            <a:ext cx="1719072" cy="1051560"/>
          </a:xfrm>
          <a:prstGeom prst="roundRect">
            <a:avLst>
              <a:gd name="adj" fmla="val 6957"/>
            </a:avLst>
          </a:prstGeom>
          <a:solidFill>
            <a:schemeClr val="tx2"/>
          </a:solidFill>
          <a:ln/>
        </p:spPr>
      </p:sp>
      <p:sp>
        <p:nvSpPr>
          <p:cNvPr id="14" name="text-11"/>
          <p:cNvSpPr txBox="1"/>
          <p:nvPr/>
        </p:nvSpPr>
        <p:spPr>
          <a:xfrm>
            <a:off x="4379976" y="5074920"/>
            <a:ext cx="1444752" cy="457200"/>
          </a:xfrm>
          <a:prstGeom prst="rect">
            <a:avLst/>
          </a:prstGeom>
          <a:noFill/>
          <a:ln/>
        </p:spPr>
        <p:txBody>
          <a:bodyPr wrap="square" lIns="0" tIns="0" rIns="0" bIns="0" rtlCol="0" anchor="ctr"/>
          <a:lstStyle/>
          <a:p>
            <a:pPr indent="0" marL="0">
              <a:buNone/>
            </a:pPr>
            <a:r>
              <a:rPr lang="en-US" sz="2200" b="1" dirty="0">
                <a:solidFill>
                  <a:schemeClr val="accent2"/>
                </a:solidFill>
              </a:rPr>
              <a:t>13.5 cm</a:t>
            </a:r>
            <a:endParaRPr lang="en-US" sz="2200" dirty="0"/>
          </a:p>
        </p:txBody>
      </p:sp>
      <p:sp>
        <p:nvSpPr>
          <p:cNvPr id="15" name="text-12"/>
          <p:cNvSpPr txBox="1"/>
          <p:nvPr/>
        </p:nvSpPr>
        <p:spPr>
          <a:xfrm>
            <a:off x="4379976" y="5532120"/>
            <a:ext cx="1444752" cy="411480"/>
          </a:xfrm>
          <a:prstGeom prst="rect">
            <a:avLst/>
          </a:prstGeom>
          <a:noFill/>
          <a:ln/>
        </p:spPr>
        <p:txBody>
          <a:bodyPr wrap="square" lIns="0" tIns="0" rIns="0" bIns="0" rtlCol="0" anchor="t"/>
          <a:lstStyle/>
          <a:p>
            <a:pPr indent="0" marL="0">
              <a:buNone/>
            </a:pPr>
            <a:r>
              <a:rPr lang="en-US" sz="1050" dirty="0">
                <a:solidFill>
                  <a:schemeClr val="bg2"/>
                </a:solidFill>
              </a:rPr>
              <a:t>end error · 33.8 m real walk</a:t>
            </a:r>
            <a:endParaRPr lang="en-US" sz="1050" dirty="0"/>
          </a:p>
        </p:txBody>
      </p:sp>
      <p:pic>
        <p:nvPicPr>
          <p:cNvPr id="16" name="image-13" descr="Gazebo drone flying over the AprilTag track with the ESKF path and the ground-truth path drawn behind it">    </p:cNvPr>
          <p:cNvPicPr>
            <a:picLocks noChangeAspect="1"/>
          </p:cNvPicPr>
          <p:nvPr/>
        </p:nvPicPr>
        <p:blipFill>
          <a:blip r:embed="rId1"/>
          <a:stretch>
            <a:fillRect/>
          </a:stretch>
        </p:blipFill>
        <p:spPr>
          <a:xfrm>
            <a:off x="6400800" y="769001"/>
            <a:ext cx="5239512" cy="4807934"/>
          </a:xfrm>
          <a:prstGeom prst="rect">
            <a:avLst/>
          </a:prstGeom>
        </p:spPr>
      </p:pic>
      <p:sp>
        <p:nvSpPr>
          <p:cNvPr id="17" name="text-14"/>
          <p:cNvSpPr txBox="1"/>
          <p:nvPr/>
        </p:nvSpPr>
        <p:spPr>
          <a:xfrm>
            <a:off x="6400800" y="5686663"/>
            <a:ext cx="5239512" cy="457200"/>
          </a:xfrm>
          <a:prstGeom prst="rect">
            <a:avLst/>
          </a:prstGeom>
          <a:noFill/>
          <a:ln/>
        </p:spPr>
        <p:txBody>
          <a:bodyPr wrap="square" lIns="0" tIns="0" rIns="0" bIns="0" rtlCol="0" anchor="t"/>
          <a:lstStyle/>
          <a:p>
            <a:pPr indent="0" marL="0">
              <a:buNone/>
            </a:pPr>
            <a:r>
              <a:rPr lang="en-US" sz="1100" dirty="0">
                <a:solidFill>
                  <a:schemeClr val="accent6"/>
                </a:solidFill>
              </a:rPr>
              <a:t>Gazebo: PX4 drone over the tag track, live ESKF path (blue) on top of ground truth (green)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One ESKF, three test beds</a:t>
            </a:r>
            <a:endParaRPr lang="en-US" sz="3000" dirty="0"/>
          </a:p>
        </p:txBody>
      </p:sp>
      <p:sp>
        <p:nvSpPr>
          <p:cNvPr id="4" name="pill-15"/>
          <p:cNvSpPr txBox="1"/>
          <p:nvPr/>
        </p:nvSpPr>
        <p:spPr>
          <a:xfrm>
            <a:off x="548640" y="987552"/>
            <a:ext cx="891723"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Overview</a:t>
            </a:r>
            <a:endParaRPr lang="en-US" sz="1050" dirty="0"/>
          </a:p>
        </p:txBody>
      </p:sp>
      <p:sp>
        <p:nvSpPr>
          <p:cNvPr id="5" name="card-16"/>
          <p:cNvSpPr/>
          <p:nvPr/>
        </p:nvSpPr>
        <p:spPr>
          <a:xfrm>
            <a:off x="548640" y="1463040"/>
            <a:ext cx="1965960" cy="1051560"/>
          </a:xfrm>
          <a:prstGeom prst="roundRect">
            <a:avLst>
              <a:gd name="adj" fmla="val 6957"/>
            </a:avLst>
          </a:prstGeom>
          <a:solidFill>
            <a:schemeClr val="bg2"/>
          </a:solidFill>
          <a:ln/>
        </p:spPr>
      </p:sp>
      <p:sp>
        <p:nvSpPr>
          <p:cNvPr id="6" name="text-17"/>
          <p:cNvSpPr txBox="1"/>
          <p:nvPr/>
        </p:nvSpPr>
        <p:spPr>
          <a:xfrm>
            <a:off x="685800" y="1572768"/>
            <a:ext cx="1691640" cy="320040"/>
          </a:xfrm>
          <a:prstGeom prst="rect">
            <a:avLst/>
          </a:prstGeom>
          <a:noFill/>
          <a:ln/>
        </p:spPr>
        <p:txBody>
          <a:bodyPr wrap="square" lIns="0" tIns="0" rIns="0" bIns="0" rtlCol="0" anchor="t"/>
          <a:lstStyle/>
          <a:p>
            <a:pPr indent="0" marL="0">
              <a:buNone/>
            </a:pPr>
            <a:r>
              <a:rPr lang="en-US" sz="1400" b="1" dirty="0">
                <a:solidFill>
                  <a:schemeClr val="tx1"/>
                </a:solidFill>
              </a:rPr>
              <a:t>Phone IMU</a:t>
            </a:r>
            <a:endParaRPr lang="en-US" sz="1400" dirty="0"/>
          </a:p>
        </p:txBody>
      </p:sp>
      <p:sp>
        <p:nvSpPr>
          <p:cNvPr id="7" name="text-18"/>
          <p:cNvSpPr txBox="1"/>
          <p:nvPr/>
        </p:nvSpPr>
        <p:spPr>
          <a:xfrm>
            <a:off x="685800" y="1892808"/>
            <a:ext cx="1691640" cy="566928"/>
          </a:xfrm>
          <a:prstGeom prst="rect">
            <a:avLst/>
          </a:prstGeom>
          <a:noFill/>
          <a:ln/>
        </p:spPr>
        <p:txBody>
          <a:bodyPr wrap="square" lIns="0" tIns="0" rIns="0" bIns="0" rtlCol="0" anchor="t"/>
          <a:lstStyle/>
          <a:p>
            <a:pPr indent="0" marL="0">
              <a:buNone/>
            </a:pPr>
            <a:r>
              <a:rPr lang="en-US" sz="1150" dirty="0">
                <a:solidFill>
                  <a:schemeClr val="tx2"/>
                </a:solidFill>
              </a:rPr>
              <a:t>Bosch BMI26x in a CPH2661, accel + gyro at 395 Hz</a:t>
            </a:r>
            <a:endParaRPr lang="en-US" sz="1150" dirty="0"/>
          </a:p>
        </p:txBody>
      </p:sp>
      <p:sp>
        <p:nvSpPr>
          <p:cNvPr id="8" name="arrow-19"/>
          <p:cNvSpPr/>
          <p:nvPr/>
        </p:nvSpPr>
        <p:spPr>
          <a:xfrm>
            <a:off x="2551176" y="1988820"/>
            <a:ext cx="242316" cy="91"/>
          </a:xfrm>
          <a:prstGeom prst="line">
            <a:avLst/>
          </a:prstGeom>
          <a:noFill/>
          <a:ln w="22225">
            <a:solidFill>
              <a:schemeClr val="accent4"/>
            </a:solidFill>
            <a:prstDash val="solid"/>
            <a:tailEnd type="triangle"/>
          </a:ln>
        </p:spPr>
      </p:sp>
      <p:sp>
        <p:nvSpPr>
          <p:cNvPr id="9" name="card-20"/>
          <p:cNvSpPr/>
          <p:nvPr/>
        </p:nvSpPr>
        <p:spPr>
          <a:xfrm>
            <a:off x="2830068" y="1463040"/>
            <a:ext cx="1965960" cy="1051560"/>
          </a:xfrm>
          <a:prstGeom prst="roundRect">
            <a:avLst>
              <a:gd name="adj" fmla="val 6957"/>
            </a:avLst>
          </a:prstGeom>
          <a:solidFill>
            <a:schemeClr val="bg2"/>
          </a:solidFill>
          <a:ln/>
        </p:spPr>
      </p:sp>
      <p:sp>
        <p:nvSpPr>
          <p:cNvPr id="10" name="text-21"/>
          <p:cNvSpPr txBox="1"/>
          <p:nvPr/>
        </p:nvSpPr>
        <p:spPr>
          <a:xfrm>
            <a:off x="2967228" y="1572768"/>
            <a:ext cx="1691640" cy="320040"/>
          </a:xfrm>
          <a:prstGeom prst="rect">
            <a:avLst/>
          </a:prstGeom>
          <a:noFill/>
          <a:ln/>
        </p:spPr>
        <p:txBody>
          <a:bodyPr wrap="square" lIns="0" tIns="0" rIns="0" bIns="0" rtlCol="0" anchor="t"/>
          <a:lstStyle/>
          <a:p>
            <a:pPr indent="0" marL="0">
              <a:buNone/>
            </a:pPr>
            <a:r>
              <a:rPr lang="en-US" sz="1400" b="1" dirty="0">
                <a:solidFill>
                  <a:schemeClr val="tx1"/>
                </a:solidFill>
              </a:rPr>
              <a:t>ADB streaming</a:t>
            </a:r>
            <a:endParaRPr lang="en-US" sz="1400" dirty="0"/>
          </a:p>
        </p:txBody>
      </p:sp>
      <p:sp>
        <p:nvSpPr>
          <p:cNvPr id="11" name="text-22"/>
          <p:cNvSpPr txBox="1"/>
          <p:nvPr/>
        </p:nvSpPr>
        <p:spPr>
          <a:xfrm>
            <a:off x="2967228" y="1892808"/>
            <a:ext cx="1691640" cy="566928"/>
          </a:xfrm>
          <a:prstGeom prst="rect">
            <a:avLst/>
          </a:prstGeom>
          <a:noFill/>
          <a:ln/>
        </p:spPr>
        <p:txBody>
          <a:bodyPr wrap="square" lIns="0" tIns="0" rIns="0" bIns="0" rtlCol="0" anchor="t"/>
          <a:lstStyle/>
          <a:p>
            <a:pPr indent="0" marL="0">
              <a:buNone/>
            </a:pPr>
            <a:r>
              <a:rPr lang="en-US" sz="1150" dirty="0">
                <a:solidFill>
                  <a:schemeClr val="tx2"/>
                </a:solidFill>
              </a:rPr>
              <a:t>SensorServer app: every sample, hardware timestamps</a:t>
            </a:r>
            <a:endParaRPr lang="en-US" sz="1150" dirty="0"/>
          </a:p>
        </p:txBody>
      </p:sp>
      <p:sp>
        <p:nvSpPr>
          <p:cNvPr id="12" name="arrow-23"/>
          <p:cNvSpPr/>
          <p:nvPr/>
        </p:nvSpPr>
        <p:spPr>
          <a:xfrm>
            <a:off x="4832604" y="1988820"/>
            <a:ext cx="242316" cy="91"/>
          </a:xfrm>
          <a:prstGeom prst="line">
            <a:avLst/>
          </a:prstGeom>
          <a:noFill/>
          <a:ln w="22225">
            <a:solidFill>
              <a:schemeClr val="accent4"/>
            </a:solidFill>
            <a:prstDash val="solid"/>
            <a:tailEnd type="triangle"/>
          </a:ln>
        </p:spPr>
      </p:sp>
      <p:sp>
        <p:nvSpPr>
          <p:cNvPr id="13" name="card-24"/>
          <p:cNvSpPr/>
          <p:nvPr/>
        </p:nvSpPr>
        <p:spPr>
          <a:xfrm>
            <a:off x="5111496" y="1463040"/>
            <a:ext cx="1965960" cy="1051560"/>
          </a:xfrm>
          <a:prstGeom prst="roundRect">
            <a:avLst>
              <a:gd name="adj" fmla="val 6957"/>
            </a:avLst>
          </a:prstGeom>
          <a:solidFill>
            <a:schemeClr val="bg2"/>
          </a:solidFill>
          <a:ln/>
        </p:spPr>
      </p:sp>
      <p:sp>
        <p:nvSpPr>
          <p:cNvPr id="14" name="text-25"/>
          <p:cNvSpPr txBox="1"/>
          <p:nvPr/>
        </p:nvSpPr>
        <p:spPr>
          <a:xfrm>
            <a:off x="5248656" y="1572768"/>
            <a:ext cx="1691640" cy="320040"/>
          </a:xfrm>
          <a:prstGeom prst="rect">
            <a:avLst/>
          </a:prstGeom>
          <a:noFill/>
          <a:ln/>
        </p:spPr>
        <p:txBody>
          <a:bodyPr wrap="square" lIns="0" tIns="0" rIns="0" bIns="0" rtlCol="0" anchor="t"/>
          <a:lstStyle/>
          <a:p>
            <a:pPr indent="0" marL="0">
              <a:buNone/>
            </a:pPr>
            <a:r>
              <a:rPr lang="en-US" sz="1400" b="1" dirty="0">
                <a:solidFill>
                  <a:schemeClr val="tx1"/>
                </a:solidFill>
              </a:rPr>
              <a:t>Calibrate + model</a:t>
            </a:r>
            <a:endParaRPr lang="en-US" sz="1400" dirty="0"/>
          </a:p>
        </p:txBody>
      </p:sp>
      <p:sp>
        <p:nvSpPr>
          <p:cNvPr id="15" name="text-26"/>
          <p:cNvSpPr txBox="1"/>
          <p:nvPr/>
        </p:nvSpPr>
        <p:spPr>
          <a:xfrm>
            <a:off x="5248656" y="1892808"/>
            <a:ext cx="1691640" cy="566928"/>
          </a:xfrm>
          <a:prstGeom prst="rect">
            <a:avLst/>
          </a:prstGeom>
          <a:noFill/>
          <a:ln/>
        </p:spPr>
        <p:txBody>
          <a:bodyPr wrap="square" lIns="0" tIns="0" rIns="0" bIns="0" rtlCol="0" anchor="t"/>
          <a:lstStyle/>
          <a:p>
            <a:pPr indent="0" marL="0">
              <a:buNone/>
            </a:pPr>
            <a:r>
              <a:rPr lang="en-US" sz="1150" dirty="0">
                <a:solidFill>
                  <a:schemeClr val="tx2"/>
                </a:solidFill>
              </a:rPr>
              <a:t>bias, then Allan noise N · B · K per axis</a:t>
            </a:r>
            <a:endParaRPr lang="en-US" sz="1150" dirty="0"/>
          </a:p>
        </p:txBody>
      </p:sp>
      <p:sp>
        <p:nvSpPr>
          <p:cNvPr id="16" name="arrow-27"/>
          <p:cNvSpPr/>
          <p:nvPr/>
        </p:nvSpPr>
        <p:spPr>
          <a:xfrm>
            <a:off x="7114032" y="1988820"/>
            <a:ext cx="242316" cy="91"/>
          </a:xfrm>
          <a:prstGeom prst="line">
            <a:avLst/>
          </a:prstGeom>
          <a:noFill/>
          <a:ln w="22225">
            <a:solidFill>
              <a:schemeClr val="accent4"/>
            </a:solidFill>
            <a:prstDash val="solid"/>
            <a:tailEnd type="triangle"/>
          </a:ln>
        </p:spPr>
      </p:sp>
      <p:sp>
        <p:nvSpPr>
          <p:cNvPr id="17" name="card-28"/>
          <p:cNvSpPr/>
          <p:nvPr/>
        </p:nvSpPr>
        <p:spPr>
          <a:xfrm>
            <a:off x="7392924" y="1463040"/>
            <a:ext cx="1965960" cy="1051560"/>
          </a:xfrm>
          <a:prstGeom prst="roundRect">
            <a:avLst>
              <a:gd name="adj" fmla="val 6957"/>
            </a:avLst>
          </a:prstGeom>
          <a:solidFill>
            <a:schemeClr val="accent1"/>
          </a:solidFill>
          <a:ln/>
        </p:spPr>
      </p:sp>
      <p:sp>
        <p:nvSpPr>
          <p:cNvPr id="18" name="text-29"/>
          <p:cNvSpPr txBox="1"/>
          <p:nvPr/>
        </p:nvSpPr>
        <p:spPr>
          <a:xfrm>
            <a:off x="7530084" y="1572768"/>
            <a:ext cx="1691640" cy="320040"/>
          </a:xfrm>
          <a:prstGeom prst="rect">
            <a:avLst/>
          </a:prstGeom>
          <a:noFill/>
          <a:ln/>
        </p:spPr>
        <p:txBody>
          <a:bodyPr wrap="square" lIns="0" tIns="0" rIns="0" bIns="0" rtlCol="0" anchor="t"/>
          <a:lstStyle/>
          <a:p>
            <a:pPr indent="0" marL="0">
              <a:buNone/>
            </a:pPr>
            <a:r>
              <a:rPr lang="en-US" sz="1400" b="1" dirty="0">
                <a:solidFill>
                  <a:schemeClr val="bg1"/>
                </a:solidFill>
              </a:rPr>
              <a:t>15-state ESKF</a:t>
            </a:r>
            <a:endParaRPr lang="en-US" sz="1400" dirty="0"/>
          </a:p>
        </p:txBody>
      </p:sp>
      <p:sp>
        <p:nvSpPr>
          <p:cNvPr id="19" name="text-30"/>
          <p:cNvSpPr txBox="1"/>
          <p:nvPr/>
        </p:nvSpPr>
        <p:spPr>
          <a:xfrm>
            <a:off x="7530084" y="1892808"/>
            <a:ext cx="1691640" cy="566928"/>
          </a:xfrm>
          <a:prstGeom prst="rect">
            <a:avLst/>
          </a:prstGeom>
          <a:noFill/>
          <a:ln/>
        </p:spPr>
        <p:txBody>
          <a:bodyPr wrap="square" lIns="0" tIns="0" rIns="0" bIns="0" rtlCol="0" anchor="t"/>
          <a:lstStyle/>
          <a:p>
            <a:pPr indent="0" marL="0">
              <a:buNone/>
            </a:pPr>
            <a:r>
              <a:rPr lang="en-US" sz="1150" dirty="0">
                <a:solidFill>
                  <a:schemeClr val="bg1"/>
                </a:solidFill>
              </a:rPr>
              <a:t>predict at IMU rate, correct with an aid</a:t>
            </a:r>
            <a:endParaRPr lang="en-US" sz="1150" dirty="0"/>
          </a:p>
        </p:txBody>
      </p:sp>
      <p:sp>
        <p:nvSpPr>
          <p:cNvPr id="20" name="arrow-31"/>
          <p:cNvSpPr/>
          <p:nvPr/>
        </p:nvSpPr>
        <p:spPr>
          <a:xfrm>
            <a:off x="9395460" y="1988820"/>
            <a:ext cx="242316" cy="91"/>
          </a:xfrm>
          <a:prstGeom prst="line">
            <a:avLst/>
          </a:prstGeom>
          <a:noFill/>
          <a:ln w="22225">
            <a:solidFill>
              <a:schemeClr val="accent4"/>
            </a:solidFill>
            <a:prstDash val="solid"/>
            <a:tailEnd type="triangle"/>
          </a:ln>
        </p:spPr>
      </p:sp>
      <p:sp>
        <p:nvSpPr>
          <p:cNvPr id="21" name="card-32"/>
          <p:cNvSpPr/>
          <p:nvPr/>
        </p:nvSpPr>
        <p:spPr>
          <a:xfrm>
            <a:off x="9674352" y="1463040"/>
            <a:ext cx="1965960" cy="1051560"/>
          </a:xfrm>
          <a:prstGeom prst="roundRect">
            <a:avLst>
              <a:gd name="adj" fmla="val 6957"/>
            </a:avLst>
          </a:prstGeom>
          <a:solidFill>
            <a:schemeClr val="bg2"/>
          </a:solidFill>
          <a:ln/>
        </p:spPr>
      </p:sp>
      <p:sp>
        <p:nvSpPr>
          <p:cNvPr id="22" name="text-33"/>
          <p:cNvSpPr txBox="1"/>
          <p:nvPr/>
        </p:nvSpPr>
        <p:spPr>
          <a:xfrm>
            <a:off x="9811512" y="1572768"/>
            <a:ext cx="1691640" cy="320040"/>
          </a:xfrm>
          <a:prstGeom prst="rect">
            <a:avLst/>
          </a:prstGeom>
          <a:noFill/>
          <a:ln/>
        </p:spPr>
        <p:txBody>
          <a:bodyPr wrap="square" lIns="0" tIns="0" rIns="0" bIns="0" rtlCol="0" anchor="t"/>
          <a:lstStyle/>
          <a:p>
            <a:pPr indent="0" marL="0">
              <a:buNone/>
            </a:pPr>
            <a:r>
              <a:rPr lang="en-US" sz="1400" b="1" dirty="0">
                <a:solidFill>
                  <a:schemeClr val="tx1"/>
                </a:solidFill>
              </a:rPr>
              <a:t>Position + GUI</a:t>
            </a:r>
            <a:endParaRPr lang="en-US" sz="1400" dirty="0"/>
          </a:p>
        </p:txBody>
      </p:sp>
      <p:sp>
        <p:nvSpPr>
          <p:cNvPr id="23" name="text-34"/>
          <p:cNvSpPr txBox="1"/>
          <p:nvPr/>
        </p:nvSpPr>
        <p:spPr>
          <a:xfrm>
            <a:off x="9811512" y="1892808"/>
            <a:ext cx="1691640" cy="566928"/>
          </a:xfrm>
          <a:prstGeom prst="rect">
            <a:avLst/>
          </a:prstGeom>
          <a:noFill/>
          <a:ln/>
        </p:spPr>
        <p:txBody>
          <a:bodyPr wrap="square" lIns="0" tIns="0" rIns="0" bIns="0" rtlCol="0" anchor="t"/>
          <a:lstStyle/>
          <a:p>
            <a:pPr indent="0" marL="0">
              <a:buNone/>
            </a:pPr>
            <a:r>
              <a:rPr lang="en-US" sz="1150" dirty="0">
                <a:solidFill>
                  <a:schemeClr val="tx2"/>
                </a:solidFill>
              </a:rPr>
              <a:t>3D trajectory, live plots, automatic reports</a:t>
            </a:r>
            <a:endParaRPr lang="en-US" sz="1150" dirty="0"/>
          </a:p>
        </p:txBody>
      </p:sp>
      <p:sp>
        <p:nvSpPr>
          <p:cNvPr id="24" name="card-35"/>
          <p:cNvSpPr/>
          <p:nvPr/>
        </p:nvSpPr>
        <p:spPr>
          <a:xfrm>
            <a:off x="5449824" y="2852928"/>
            <a:ext cx="5852160" cy="438912"/>
          </a:xfrm>
          <a:prstGeom prst="roundRect">
            <a:avLst>
              <a:gd name="adj" fmla="val 16667"/>
            </a:avLst>
          </a:prstGeom>
          <a:solidFill>
            <a:schemeClr val="bg2"/>
          </a:solidFill>
          <a:ln w="15875">
            <a:solidFill>
              <a:srgbClr val="F28C28"/>
            </a:solidFill>
            <a:prstDash val="solid"/>
          </a:ln>
        </p:spPr>
      </p:sp>
      <p:sp>
        <p:nvSpPr>
          <p:cNvPr id="25" name="text-36"/>
          <p:cNvSpPr txBox="1"/>
          <p:nvPr/>
        </p:nvSpPr>
        <p:spPr>
          <a:xfrm>
            <a:off x="5586984" y="2852928"/>
            <a:ext cx="5577840" cy="438912"/>
          </a:xfrm>
          <a:prstGeom prst="rect">
            <a:avLst/>
          </a:prstGeom>
          <a:noFill/>
          <a:ln/>
        </p:spPr>
        <p:txBody>
          <a:bodyPr wrap="square" lIns="0" tIns="0" rIns="0" bIns="0" rtlCol="0" anchor="ctr"/>
          <a:lstStyle/>
          <a:p>
            <a:pPr algn="ctr" indent="0" marL="0">
              <a:buNone/>
            </a:pPr>
            <a:r>
              <a:rPr lang="en-US" sz="1150" b="1" dirty="0">
                <a:solidFill>
                  <a:schemeClr val="accent2"/>
                </a:solidFill>
              </a:rPr>
              <a:t>Absolute aid  </a:t>
            </a:r>
            <a:pPr algn="ctr" indent="0" marL="0">
              <a:buNone/>
            </a:pPr>
            <a:r>
              <a:rPr lang="en-US" sz="1150" dirty="0">
                <a:solidFill>
                  <a:schemeClr val="tx1"/>
                </a:solidFill>
              </a:rPr>
              <a:t>AprilTag pose (real) · UWB ranges (sim, i-ASL) · gravity for tilt</a:t>
            </a:r>
            <a:endParaRPr lang="en-US" sz="1150" dirty="0"/>
          </a:p>
        </p:txBody>
      </p:sp>
      <p:sp>
        <p:nvSpPr>
          <p:cNvPr id="26" name="arrow-37"/>
          <p:cNvSpPr/>
          <p:nvPr/>
        </p:nvSpPr>
        <p:spPr>
          <a:xfrm flipV="1">
            <a:off x="8375904" y="2542032"/>
            <a:ext cx="91" cy="310896"/>
          </a:xfrm>
          <a:prstGeom prst="line">
            <a:avLst/>
          </a:prstGeom>
          <a:noFill/>
          <a:ln w="22225">
            <a:solidFill>
              <a:schemeClr val="accent2"/>
            </a:solidFill>
            <a:prstDash val="solid"/>
            <a:tailEnd type="triangle"/>
          </a:ln>
        </p:spPr>
      </p:sp>
      <p:sp>
        <p:nvSpPr>
          <p:cNvPr id="27" name="card-38"/>
          <p:cNvSpPr/>
          <p:nvPr/>
        </p:nvSpPr>
        <p:spPr>
          <a:xfrm>
            <a:off x="548640" y="3520440"/>
            <a:ext cx="3520440" cy="2743200"/>
          </a:xfrm>
          <a:prstGeom prst="roundRect">
            <a:avLst>
              <a:gd name="adj" fmla="val 2667"/>
            </a:avLst>
          </a:prstGeom>
          <a:solidFill>
            <a:schemeClr val="bg2"/>
          </a:solidFill>
          <a:ln/>
        </p:spPr>
      </p:sp>
      <p:pic>
        <p:nvPicPr>
          <p:cNvPr id="28" name="image-39" descr="Gazebo drone + 8 UWB anchors">    </p:cNvPr>
          <p:cNvPicPr>
            <a:picLocks noChangeAspect="1"/>
          </p:cNvPicPr>
          <p:nvPr/>
        </p:nvPicPr>
        <p:blipFill>
          <a:blip r:embed="rId1"/>
          <a:srcRect l="0" r="0" t="0" b="0"/>
          <a:stretch/>
        </p:blipFill>
        <p:spPr>
          <a:xfrm>
            <a:off x="658368" y="3630168"/>
            <a:ext cx="3300984" cy="1325880"/>
          </a:xfrm>
          <a:prstGeom prst="rect">
            <a:avLst/>
          </a:prstGeom>
        </p:spPr>
      </p:pic>
      <p:sp>
        <p:nvSpPr>
          <p:cNvPr id="29" name="pill-40"/>
          <p:cNvSpPr txBox="1"/>
          <p:nvPr/>
        </p:nvSpPr>
        <p:spPr>
          <a:xfrm>
            <a:off x="749808" y="3721608"/>
            <a:ext cx="970178"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950" b="1" dirty="0">
                <a:solidFill>
                  <a:schemeClr val="bg1"/>
                </a:solidFill>
              </a:rPr>
              <a:t>SIMULATION</a:t>
            </a:r>
            <a:endParaRPr lang="en-US" sz="950" dirty="0"/>
          </a:p>
        </p:txBody>
      </p:sp>
      <p:sp>
        <p:nvSpPr>
          <p:cNvPr id="30" name="text-41"/>
          <p:cNvSpPr txBox="1"/>
          <p:nvPr/>
        </p:nvSpPr>
        <p:spPr>
          <a:xfrm>
            <a:off x="713232" y="5074920"/>
            <a:ext cx="3191256" cy="292608"/>
          </a:xfrm>
          <a:prstGeom prst="rect">
            <a:avLst/>
          </a:prstGeom>
          <a:noFill/>
          <a:ln/>
        </p:spPr>
        <p:txBody>
          <a:bodyPr wrap="square" lIns="0" tIns="0" rIns="0" bIns="0" rtlCol="0" anchor="t"/>
          <a:lstStyle/>
          <a:p>
            <a:pPr indent="0" marL="0">
              <a:buNone/>
            </a:pPr>
            <a:r>
              <a:rPr lang="en-US" sz="1350" b="1" dirty="0">
                <a:solidFill>
                  <a:schemeClr val="tx1"/>
                </a:solidFill>
              </a:rPr>
              <a:t>Gazebo drone + 8 UWB anchors</a:t>
            </a:r>
            <a:endParaRPr lang="en-US" sz="1350" dirty="0"/>
          </a:p>
        </p:txBody>
      </p:sp>
      <p:sp>
        <p:nvSpPr>
          <p:cNvPr id="31" name="text-42"/>
          <p:cNvSpPr txBox="1"/>
          <p:nvPr/>
        </p:nvSpPr>
        <p:spPr>
          <a:xfrm>
            <a:off x="713232" y="5367528"/>
            <a:ext cx="3191256" cy="457200"/>
          </a:xfrm>
          <a:prstGeom prst="rect">
            <a:avLst/>
          </a:prstGeom>
          <a:noFill/>
          <a:ln/>
        </p:spPr>
        <p:txBody>
          <a:bodyPr wrap="square" lIns="0" tIns="0" rIns="0" bIns="0" rtlCol="0" anchor="ctr"/>
          <a:lstStyle/>
          <a:p>
            <a:pPr indent="0" marL="0">
              <a:buNone/>
            </a:pPr>
            <a:r>
              <a:rPr lang="en-US" sz="2600" b="1" dirty="0">
                <a:solidFill>
                  <a:schemeClr val="accent1"/>
                </a:solidFill>
              </a:rPr>
              <a:t>3.9 cm</a:t>
            </a:r>
            <a:endParaRPr lang="en-US" sz="2600" dirty="0"/>
          </a:p>
        </p:txBody>
      </p:sp>
      <p:sp>
        <p:nvSpPr>
          <p:cNvPr id="32" name="text-43"/>
          <p:cNvSpPr txBox="1"/>
          <p:nvPr/>
        </p:nvSpPr>
        <p:spPr>
          <a:xfrm>
            <a:off x="713232" y="5824728"/>
            <a:ext cx="3191256" cy="320040"/>
          </a:xfrm>
          <a:prstGeom prst="rect">
            <a:avLst/>
          </a:prstGeom>
          <a:noFill/>
          <a:ln/>
        </p:spPr>
        <p:txBody>
          <a:bodyPr wrap="square" lIns="0" tIns="0" rIns="0" bIns="0" rtlCol="0" anchor="t"/>
          <a:lstStyle/>
          <a:p>
            <a:pPr indent="0" marL="0">
              <a:buNone/>
            </a:pPr>
            <a:r>
              <a:rPr lang="en-US" sz="1150" dirty="0">
                <a:solidFill>
                  <a:schemeClr val="tx2"/>
                </a:solidFill>
              </a:rPr>
              <a:t>live RMSE vs ground truth, 1514 samples</a:t>
            </a:r>
            <a:endParaRPr lang="en-US" sz="1150" dirty="0"/>
          </a:p>
        </p:txBody>
      </p:sp>
      <p:sp>
        <p:nvSpPr>
          <p:cNvPr id="33" name="card-44"/>
          <p:cNvSpPr/>
          <p:nvPr/>
        </p:nvSpPr>
        <p:spPr>
          <a:xfrm>
            <a:off x="4335628" y="3520440"/>
            <a:ext cx="3520440" cy="2743200"/>
          </a:xfrm>
          <a:prstGeom prst="roundRect">
            <a:avLst>
              <a:gd name="adj" fmla="val 2667"/>
            </a:avLst>
          </a:prstGeom>
          <a:solidFill>
            <a:schemeClr val="bg2"/>
          </a:solidFill>
          <a:ln/>
        </p:spPr>
      </p:sp>
      <p:pic>
        <p:nvPicPr>
          <p:cNvPr id="34" name="image-45" descr="i-ASL flight, 8 real UWB anchors">    </p:cNvPr>
          <p:cNvPicPr>
            <a:picLocks noChangeAspect="1"/>
          </p:cNvPicPr>
          <p:nvPr/>
        </p:nvPicPr>
        <p:blipFill>
          <a:blip r:embed="rId2"/>
          <a:srcRect l="0" r="0" t="0" b="0"/>
          <a:stretch/>
        </p:blipFill>
        <p:spPr>
          <a:xfrm>
            <a:off x="4445356" y="3630168"/>
            <a:ext cx="3300984" cy="1325880"/>
          </a:xfrm>
          <a:prstGeom prst="rect">
            <a:avLst/>
          </a:prstGeom>
        </p:spPr>
      </p:pic>
      <p:sp>
        <p:nvSpPr>
          <p:cNvPr id="35" name="pill-46"/>
          <p:cNvSpPr txBox="1"/>
          <p:nvPr/>
        </p:nvSpPr>
        <p:spPr>
          <a:xfrm>
            <a:off x="4536796" y="3721608"/>
            <a:ext cx="1241207"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dirty="0">
                <a:solidFill>
                  <a:schemeClr val="bg1"/>
                </a:solidFill>
              </a:rPr>
              <a:t>PUBLIC DATASET</a:t>
            </a:r>
            <a:endParaRPr lang="en-US" sz="950" dirty="0"/>
          </a:p>
        </p:txBody>
      </p:sp>
      <p:sp>
        <p:nvSpPr>
          <p:cNvPr id="36" name="text-47"/>
          <p:cNvSpPr txBox="1"/>
          <p:nvPr/>
        </p:nvSpPr>
        <p:spPr>
          <a:xfrm>
            <a:off x="4500220" y="5074920"/>
            <a:ext cx="3191256" cy="292608"/>
          </a:xfrm>
          <a:prstGeom prst="rect">
            <a:avLst/>
          </a:prstGeom>
          <a:noFill/>
          <a:ln/>
        </p:spPr>
        <p:txBody>
          <a:bodyPr wrap="square" lIns="0" tIns="0" rIns="0" bIns="0" rtlCol="0" anchor="t"/>
          <a:lstStyle/>
          <a:p>
            <a:pPr indent="0" marL="0">
              <a:buNone/>
            </a:pPr>
            <a:r>
              <a:rPr lang="en-US" sz="1350" b="1" dirty="0">
                <a:solidFill>
                  <a:schemeClr val="tx1"/>
                </a:solidFill>
              </a:rPr>
              <a:t>i-ASL flight, 8 real UWB anchors</a:t>
            </a:r>
            <a:endParaRPr lang="en-US" sz="1350" dirty="0"/>
          </a:p>
        </p:txBody>
      </p:sp>
      <p:sp>
        <p:nvSpPr>
          <p:cNvPr id="37" name="text-48"/>
          <p:cNvSpPr txBox="1"/>
          <p:nvPr/>
        </p:nvSpPr>
        <p:spPr>
          <a:xfrm>
            <a:off x="4500220" y="5367528"/>
            <a:ext cx="3191256" cy="457200"/>
          </a:xfrm>
          <a:prstGeom prst="rect">
            <a:avLst/>
          </a:prstGeom>
          <a:noFill/>
          <a:ln/>
        </p:spPr>
        <p:txBody>
          <a:bodyPr wrap="square" lIns="0" tIns="0" rIns="0" bIns="0" rtlCol="0" anchor="ctr"/>
          <a:lstStyle/>
          <a:p>
            <a:pPr indent="0" marL="0">
              <a:buNone/>
            </a:pPr>
            <a:r>
              <a:rPr lang="en-US" sz="2600" b="1" dirty="0">
                <a:solidFill>
                  <a:schemeClr val="accent1"/>
                </a:solidFill>
              </a:rPr>
              <a:t>13.8 cm</a:t>
            </a:r>
            <a:endParaRPr lang="en-US" sz="2600" dirty="0"/>
          </a:p>
        </p:txBody>
      </p:sp>
      <p:sp>
        <p:nvSpPr>
          <p:cNvPr id="38" name="text-49"/>
          <p:cNvSpPr txBox="1"/>
          <p:nvPr/>
        </p:nvSpPr>
        <p:spPr>
          <a:xfrm>
            <a:off x="4500220" y="5824728"/>
            <a:ext cx="3191256" cy="320040"/>
          </a:xfrm>
          <a:prstGeom prst="rect">
            <a:avLst/>
          </a:prstGeom>
          <a:noFill/>
          <a:ln/>
        </p:spPr>
        <p:txBody>
          <a:bodyPr wrap="square" lIns="0" tIns="0" rIns="0" bIns="0" rtlCol="0" anchor="t"/>
          <a:lstStyle/>
          <a:p>
            <a:pPr indent="0" marL="0">
              <a:buNone/>
            </a:pPr>
            <a:r>
              <a:rPr lang="en-US" sz="1150" dirty="0">
                <a:solidFill>
                  <a:schemeClr val="tx2"/>
                </a:solidFill>
              </a:rPr>
              <a:t>3D RMSE over a 100 s flight</a:t>
            </a:r>
            <a:endParaRPr lang="en-US" sz="1150" dirty="0"/>
          </a:p>
        </p:txBody>
      </p:sp>
      <p:sp>
        <p:nvSpPr>
          <p:cNvPr id="39" name="card-50"/>
          <p:cNvSpPr/>
          <p:nvPr/>
        </p:nvSpPr>
        <p:spPr>
          <a:xfrm>
            <a:off x="8122615" y="3520440"/>
            <a:ext cx="3520440" cy="2743200"/>
          </a:xfrm>
          <a:prstGeom prst="roundRect">
            <a:avLst>
              <a:gd name="adj" fmla="val 2667"/>
            </a:avLst>
          </a:prstGeom>
          <a:solidFill>
            <a:schemeClr val="bg2"/>
          </a:solidFill>
          <a:ln/>
        </p:spPr>
      </p:sp>
      <p:pic>
        <p:nvPicPr>
          <p:cNvPr id="40" name="image-51" descr="Handheld phone on an AprilTag track">    </p:cNvPr>
          <p:cNvPicPr>
            <a:picLocks noChangeAspect="1"/>
          </p:cNvPicPr>
          <p:nvPr/>
        </p:nvPicPr>
        <p:blipFill>
          <a:blip r:embed="rId3"/>
          <a:srcRect l="0" r="0" t="0" b="0"/>
          <a:stretch/>
        </p:blipFill>
        <p:spPr>
          <a:xfrm>
            <a:off x="8232343" y="3630168"/>
            <a:ext cx="3300984" cy="1325880"/>
          </a:xfrm>
          <a:prstGeom prst="rect">
            <a:avLst/>
          </a:prstGeom>
        </p:spPr>
      </p:pic>
      <p:sp>
        <p:nvSpPr>
          <p:cNvPr id="41" name="pill-52"/>
          <p:cNvSpPr txBox="1"/>
          <p:nvPr/>
        </p:nvSpPr>
        <p:spPr>
          <a:xfrm>
            <a:off x="8323783" y="3721608"/>
            <a:ext cx="117345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dirty="0">
                <a:solidFill>
                  <a:schemeClr val="bg1"/>
                </a:solidFill>
              </a:rPr>
              <a:t>REAL HARDWARE</a:t>
            </a:r>
            <a:endParaRPr lang="en-US" sz="950" dirty="0"/>
          </a:p>
        </p:txBody>
      </p:sp>
      <p:sp>
        <p:nvSpPr>
          <p:cNvPr id="42" name="text-53"/>
          <p:cNvSpPr txBox="1"/>
          <p:nvPr/>
        </p:nvSpPr>
        <p:spPr>
          <a:xfrm>
            <a:off x="8287207" y="5074920"/>
            <a:ext cx="3191256" cy="292608"/>
          </a:xfrm>
          <a:prstGeom prst="rect">
            <a:avLst/>
          </a:prstGeom>
          <a:noFill/>
          <a:ln/>
        </p:spPr>
        <p:txBody>
          <a:bodyPr wrap="square" lIns="0" tIns="0" rIns="0" bIns="0" rtlCol="0" anchor="t"/>
          <a:lstStyle/>
          <a:p>
            <a:pPr indent="0" marL="0">
              <a:buNone/>
            </a:pPr>
            <a:r>
              <a:rPr lang="en-US" sz="1350" b="1" dirty="0">
                <a:solidFill>
                  <a:schemeClr val="tx1"/>
                </a:solidFill>
              </a:rPr>
              <a:t>Handheld phone on an AprilTag track</a:t>
            </a:r>
            <a:endParaRPr lang="en-US" sz="1350" dirty="0"/>
          </a:p>
        </p:txBody>
      </p:sp>
      <p:sp>
        <p:nvSpPr>
          <p:cNvPr id="43" name="text-54"/>
          <p:cNvSpPr txBox="1"/>
          <p:nvPr/>
        </p:nvSpPr>
        <p:spPr>
          <a:xfrm>
            <a:off x="8287207" y="5367528"/>
            <a:ext cx="3191256" cy="457200"/>
          </a:xfrm>
          <a:prstGeom prst="rect">
            <a:avLst/>
          </a:prstGeom>
          <a:noFill/>
          <a:ln/>
        </p:spPr>
        <p:txBody>
          <a:bodyPr wrap="square" lIns="0" tIns="0" rIns="0" bIns="0" rtlCol="0" anchor="ctr"/>
          <a:lstStyle/>
          <a:p>
            <a:pPr indent="0" marL="0">
              <a:buNone/>
            </a:pPr>
            <a:r>
              <a:rPr lang="en-US" sz="2600" b="1" dirty="0">
                <a:solidFill>
                  <a:schemeClr val="accent2"/>
                </a:solidFill>
              </a:rPr>
              <a:t>13.5 cm</a:t>
            </a:r>
            <a:endParaRPr lang="en-US" sz="2600" dirty="0"/>
          </a:p>
        </p:txBody>
      </p:sp>
      <p:sp>
        <p:nvSpPr>
          <p:cNvPr id="44" name="text-55"/>
          <p:cNvSpPr txBox="1"/>
          <p:nvPr/>
        </p:nvSpPr>
        <p:spPr>
          <a:xfrm>
            <a:off x="8287207" y="5824728"/>
            <a:ext cx="3191256" cy="320040"/>
          </a:xfrm>
          <a:prstGeom prst="rect">
            <a:avLst/>
          </a:prstGeom>
          <a:noFill/>
          <a:ln/>
        </p:spPr>
        <p:txBody>
          <a:bodyPr wrap="square" lIns="0" tIns="0" rIns="0" bIns="0" rtlCol="0" anchor="t"/>
          <a:lstStyle/>
          <a:p>
            <a:pPr indent="0" marL="0">
              <a:buNone/>
            </a:pPr>
            <a:r>
              <a:rPr lang="en-US" sz="1150" dirty="0">
                <a:solidFill>
                  <a:schemeClr val="tx2"/>
                </a:solidFill>
              </a:rPr>
              <a:t>end-point error after 33.8 m</a:t>
            </a:r>
            <a:endParaRPr lang="en-US" sz="11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Where we stand against the brief</a:t>
            </a:r>
            <a:endParaRPr lang="en-US" sz="3000" dirty="0"/>
          </a:p>
        </p:txBody>
      </p:sp>
      <p:sp>
        <p:nvSpPr>
          <p:cNvPr id="4" name="pill-56"/>
          <p:cNvSpPr txBox="1"/>
          <p:nvPr/>
        </p:nvSpPr>
        <p:spPr>
          <a:xfrm>
            <a:off x="548640" y="987552"/>
            <a:ext cx="1415948"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Problem 4 tiers</a:t>
            </a:r>
            <a:endParaRPr lang="en-US" sz="1050" dirty="0"/>
          </a:p>
        </p:txBody>
      </p:sp>
      <p:graphicFrame>
        <p:nvGraphicFramePr>
          <p:cNvPr id="4" name="table-57"/>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234440"/>
                <a:gridCol w="2514600"/>
                <a:gridCol w="5422392"/>
                <a:gridCol w="1922983"/>
              </a:tblGrid>
              <a:tr h="384048">
                <a:tc>
                  <a:txBody>
                    <a:bodyPr/>
                    <a:lstStyle/>
                    <a:p>
                      <a:pPr indent="0" marL="0">
                        <a:buNone/>
                      </a:pPr>
                      <a:r>
                        <a:rPr lang="en-US" sz="1300" b="1" dirty="0">
                          <a:solidFill>
                            <a:schemeClr val="bg1"/>
                          </a:solidFill>
                        </a:rPr>
                        <a:t>Tier</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300" b="1" dirty="0">
                          <a:solidFill>
                            <a:schemeClr val="bg1"/>
                          </a:solidFill>
                        </a:rPr>
                        <a:t>Target</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300" b="1" dirty="0">
                          <a:solidFill>
                            <a:schemeClr val="bg1"/>
                          </a:solidFill>
                        </a:rPr>
                        <a:t>What we measured</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300" b="1" dirty="0">
                          <a:solidFill>
                            <a:schemeClr val="bg1"/>
                          </a:solidFill>
                        </a:rPr>
                        <a:t>Status</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r>
              <a:tr h="1097280">
                <a:tc>
                  <a:txBody>
                    <a:bodyPr/>
                    <a:lstStyle/>
                    <a:p>
                      <a:pPr indent="0" marL="0">
                        <a:buNone/>
                      </a:pPr>
                      <a:r>
                        <a:rPr lang="en-US" sz="1300" b="1" dirty="0">
                          <a:solidFill>
                            <a:schemeClr val="tx1"/>
                          </a:solidFill>
                        </a:rPr>
                        <a:t>1 · Core</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Calibration, orientation filter, under 1 m over the first 30 s</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Bias and a full Allan noise model from 1 h static. Attitude ESKF 0.4–1.3° RMSE on synthetic motion with the phone's noise. The bare IMU is 7.46 m off at 30 s, so we aid it: the aided ESKF stays under 1 m for the first 30 s of the real walk.</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300" b="1" dirty="0">
                          <a:solidFill>
                            <a:schemeClr val="bg1"/>
                          </a:solidFill>
                        </a:rPr>
                        <a:t>Met with an aid</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998B"/>
                    </a:solidFill>
                  </a:tcPr>
                </a:tc>
              </a:tr>
              <a:tr h="960120">
                <a:tc>
                  <a:txBody>
                    <a:bodyPr/>
                    <a:lstStyle/>
                    <a:p>
                      <a:pPr indent="0" marL="0">
                        <a:buNone/>
                      </a:pPr>
                      <a:r>
                        <a:rPr lang="en-US" sz="1300" b="1" dirty="0">
                          <a:solidFill>
                            <a:schemeClr val="tx1"/>
                          </a:solidFill>
                        </a:rPr>
                        <a:t>2 · Main</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 3 % of distance on a marked 50 m path, return-to-start reported</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Real walk of 33.8 m: end point 13.5 cm from the AprilTag fix (0.4 % of distance). Return-to-start: ESKF 0.95 m, camera 0.90 m (the walk ended 0.9 m from its start).</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300" b="1" dirty="0">
                          <a:solidFill>
                            <a:schemeClr val="bg1"/>
                          </a:solidFill>
                        </a:rPr>
                        <a:t>33.8 m done · 50 m run next</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28C28"/>
                    </a:solidFill>
                  </a:tcPr>
                </a:tc>
              </a:tr>
              <a:tr h="960120">
                <a:tc>
                  <a:txBody>
                    <a:bodyPr/>
                    <a:lstStyle/>
                    <a:p>
                      <a:pPr indent="0" marL="0">
                        <a:buNone/>
                      </a:pPr>
                      <a:r>
                        <a:rPr lang="en-US" sz="1300" b="1" dirty="0">
                          <a:solidFill>
                            <a:schemeClr val="tx1"/>
                          </a:solidFill>
                        </a:rPr>
                        <a:t>3 · Bonus</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Low-cost aid keeps error under 0.3 m (or fixed-point on an MCU)</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AprilTags: median 2.4 cm while tags are in view, 10.5 cm with the camera blanked half the time. UWB: 3.9 cm in Gazebo, 13.8 cm on i-ASL.</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300" b="1" dirty="0">
                          <a:solidFill>
                            <a:schemeClr val="bg1"/>
                          </a:solidFill>
                        </a:rPr>
                        <a:t>Met with tags / UWB · no MCU port</a:t>
                      </a:r>
                      <a:endParaRPr lang="en-US" sz="1300" dirty="0"/>
                    </a:p>
                  </a:txBody>
                  <a:tcPr marL="91440" marR="91440"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998B"/>
                    </a:solidFill>
                  </a:tcPr>
                </a:tc>
              </a:tr>
            </a:tbl>
          </a:graphicData>
        </a:graphic>
      </p:graphicFrame>
      <p:sp>
        <p:nvSpPr>
          <p:cNvPr id="6" name="card-58"/>
          <p:cNvSpPr/>
          <p:nvPr/>
        </p:nvSpPr>
        <p:spPr>
          <a:xfrm>
            <a:off x="548640" y="5257800"/>
            <a:ext cx="11094415" cy="868680"/>
          </a:xfrm>
          <a:prstGeom prst="roundRect">
            <a:avLst>
              <a:gd name="adj" fmla="val 8421"/>
            </a:avLst>
          </a:prstGeom>
          <a:solidFill>
            <a:schemeClr val="bg2"/>
          </a:solidFill>
          <a:ln/>
        </p:spPr>
      </p:sp>
      <p:sp>
        <p:nvSpPr>
          <p:cNvPr id="7" name="text-59"/>
          <p:cNvSpPr txBox="1"/>
          <p:nvPr/>
        </p:nvSpPr>
        <p:spPr>
          <a:xfrm>
            <a:off x="731520" y="5257800"/>
            <a:ext cx="10728655" cy="868680"/>
          </a:xfrm>
          <a:prstGeom prst="rect">
            <a:avLst/>
          </a:prstGeom>
          <a:noFill/>
          <a:ln/>
        </p:spPr>
        <p:txBody>
          <a:bodyPr wrap="square" lIns="0" tIns="0" rIns="0" bIns="0" rtlCol="0" anchor="ctr"/>
          <a:lstStyle/>
          <a:p>
            <a:pPr indent="0" marL="0">
              <a:buNone/>
            </a:pPr>
            <a:r>
              <a:rPr lang="en-US" sz="1300" b="1" dirty="0">
                <a:solidFill>
                  <a:schemeClr val="accent2"/>
                </a:solidFill>
              </a:rPr>
              <a:t>Aids we used, stated exactly  </a:t>
            </a:r>
            <a:pPr indent="0" marL="0">
              <a:buNone/>
            </a:pPr>
            <a:r>
              <a:rPr lang="en-US" sz="1300" dirty="0">
                <a:solidFill>
                  <a:schemeClr val="tx1"/>
                </a:solidFill>
              </a:rPr>
              <a:t>Real walk: AprilTag fiducials + gravity. Gazebo: 8 UWB anchor ranges + gravity. i-ASL: 8 UWB anchors + magnetometer. No ZUPT, no wheel odometry, no map constraints.</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How the five of us got here</a:t>
            </a:r>
            <a:endParaRPr lang="en-US" sz="3000" dirty="0"/>
          </a:p>
        </p:txBody>
      </p:sp>
      <p:sp>
        <p:nvSpPr>
          <p:cNvPr id="4" name="pill-60"/>
          <p:cNvSpPr txBox="1"/>
          <p:nvPr/>
        </p:nvSpPr>
        <p:spPr>
          <a:xfrm>
            <a:off x="548640" y="987552"/>
            <a:ext cx="1116391"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Team MAJoRS</a:t>
            </a:r>
            <a:endParaRPr lang="en-US" sz="1050" dirty="0"/>
          </a:p>
        </p:txBody>
      </p:sp>
      <p:sp>
        <p:nvSpPr>
          <p:cNvPr id="5" name="card-61"/>
          <p:cNvSpPr/>
          <p:nvPr/>
        </p:nvSpPr>
        <p:spPr>
          <a:xfrm>
            <a:off x="548640" y="1463040"/>
            <a:ext cx="2615184" cy="2148840"/>
          </a:xfrm>
          <a:prstGeom prst="roundRect">
            <a:avLst>
              <a:gd name="adj" fmla="val 3404"/>
            </a:avLst>
          </a:prstGeom>
          <a:solidFill>
            <a:schemeClr val="bg2"/>
          </a:solidFill>
          <a:ln/>
        </p:spPr>
      </p:sp>
      <p:sp>
        <p:nvSpPr>
          <p:cNvPr id="6" name="num-62"/>
          <p:cNvSpPr txBox="1"/>
          <p:nvPr/>
        </p:nvSpPr>
        <p:spPr>
          <a:xfrm>
            <a:off x="713232" y="164592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63"/>
          <p:cNvSpPr txBox="1"/>
          <p:nvPr/>
        </p:nvSpPr>
        <p:spPr>
          <a:xfrm>
            <a:off x="1207008" y="164592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Whole team</a:t>
            </a:r>
            <a:endParaRPr lang="en-US" sz="1400" dirty="0"/>
          </a:p>
        </p:txBody>
      </p:sp>
      <p:sp>
        <p:nvSpPr>
          <p:cNvPr id="8" name="text-64"/>
          <p:cNvSpPr txBox="1"/>
          <p:nvPr/>
        </p:nvSpPr>
        <p:spPr>
          <a:xfrm>
            <a:off x="713232" y="2176272"/>
            <a:ext cx="2286000" cy="1280160"/>
          </a:xfrm>
          <a:prstGeom prst="rect">
            <a:avLst/>
          </a:prstGeom>
          <a:noFill/>
          <a:ln/>
        </p:spPr>
        <p:txBody>
          <a:bodyPr wrap="square" lIns="0" tIns="0" rIns="0" bIns="0" rtlCol="0" anchor="t"/>
          <a:lstStyle/>
          <a:p>
            <a:pPr indent="0" marL="0">
              <a:buNone/>
            </a:pPr>
            <a:r>
              <a:rPr lang="en-US" sz="1400" dirty="0">
                <a:solidFill>
                  <a:schemeClr val="tx2"/>
                </a:solidFill>
              </a:rPr>
              <a:t>Surveyed filters, from complementary and Mahony / Madgwick to EKF and ESKF, then split the work</a:t>
            </a:r>
            <a:endParaRPr lang="en-US" sz="1400" dirty="0"/>
          </a:p>
        </p:txBody>
      </p:sp>
      <p:sp>
        <p:nvSpPr>
          <p:cNvPr id="9" name="card-65"/>
          <p:cNvSpPr/>
          <p:nvPr/>
        </p:nvSpPr>
        <p:spPr>
          <a:xfrm>
            <a:off x="3375050" y="1463040"/>
            <a:ext cx="2615184" cy="2148840"/>
          </a:xfrm>
          <a:prstGeom prst="roundRect">
            <a:avLst>
              <a:gd name="adj" fmla="val 3404"/>
            </a:avLst>
          </a:prstGeom>
          <a:solidFill>
            <a:schemeClr val="bg2"/>
          </a:solidFill>
          <a:ln/>
        </p:spPr>
      </p:sp>
      <p:sp>
        <p:nvSpPr>
          <p:cNvPr id="10" name="num-66"/>
          <p:cNvSpPr txBox="1"/>
          <p:nvPr/>
        </p:nvSpPr>
        <p:spPr>
          <a:xfrm>
            <a:off x="3539642" y="16459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67"/>
          <p:cNvSpPr txBox="1"/>
          <p:nvPr/>
        </p:nvSpPr>
        <p:spPr>
          <a:xfrm>
            <a:off x="4033418" y="164592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Aditya Ganta</a:t>
            </a:r>
            <a:endParaRPr lang="en-US" sz="1400" dirty="0"/>
          </a:p>
        </p:txBody>
      </p:sp>
      <p:sp>
        <p:nvSpPr>
          <p:cNvPr id="12" name="text-68"/>
          <p:cNvSpPr txBox="1"/>
          <p:nvPr/>
        </p:nvSpPr>
        <p:spPr>
          <a:xfrm>
            <a:off x="3539642" y="2176272"/>
            <a:ext cx="2286000" cy="1280160"/>
          </a:xfrm>
          <a:prstGeom prst="rect">
            <a:avLst/>
          </a:prstGeom>
          <a:noFill/>
          <a:ln/>
        </p:spPr>
        <p:txBody>
          <a:bodyPr wrap="square" lIns="0" tIns="0" rIns="0" bIns="0" rtlCol="0" anchor="t"/>
          <a:lstStyle/>
          <a:p>
            <a:pPr indent="0" marL="0">
              <a:buNone/>
            </a:pPr>
            <a:r>
              <a:rPr lang="en-US" sz="1400" dirty="0">
                <a:solidFill>
                  <a:schemeClr val="tx2"/>
                </a:solidFill>
              </a:rPr>
              <a:t>Calibration procedure for the IMU and the bias calculations</a:t>
            </a:r>
            <a:endParaRPr lang="en-US" sz="1400" dirty="0"/>
          </a:p>
        </p:txBody>
      </p:sp>
      <p:sp>
        <p:nvSpPr>
          <p:cNvPr id="13" name="card-69"/>
          <p:cNvSpPr/>
          <p:nvPr/>
        </p:nvSpPr>
        <p:spPr>
          <a:xfrm>
            <a:off x="6201461" y="1463040"/>
            <a:ext cx="2615184" cy="2148840"/>
          </a:xfrm>
          <a:prstGeom prst="roundRect">
            <a:avLst>
              <a:gd name="adj" fmla="val 3404"/>
            </a:avLst>
          </a:prstGeom>
          <a:solidFill>
            <a:schemeClr val="bg2"/>
          </a:solidFill>
          <a:ln/>
        </p:spPr>
      </p:sp>
      <p:sp>
        <p:nvSpPr>
          <p:cNvPr id="14" name="num-70"/>
          <p:cNvSpPr txBox="1"/>
          <p:nvPr/>
        </p:nvSpPr>
        <p:spPr>
          <a:xfrm>
            <a:off x="6366053" y="16459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71"/>
          <p:cNvSpPr txBox="1"/>
          <p:nvPr/>
        </p:nvSpPr>
        <p:spPr>
          <a:xfrm>
            <a:off x="6859829" y="164592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Joshua John</a:t>
            </a:r>
            <a:endParaRPr lang="en-US" sz="1400" dirty="0"/>
          </a:p>
        </p:txBody>
      </p:sp>
      <p:sp>
        <p:nvSpPr>
          <p:cNvPr id="16" name="text-72"/>
          <p:cNvSpPr txBox="1"/>
          <p:nvPr/>
        </p:nvSpPr>
        <p:spPr>
          <a:xfrm>
            <a:off x="6366053" y="2176272"/>
            <a:ext cx="2286000" cy="1280160"/>
          </a:xfrm>
          <a:prstGeom prst="rect">
            <a:avLst/>
          </a:prstGeom>
          <a:noFill/>
          <a:ln/>
        </p:spPr>
        <p:txBody>
          <a:bodyPr wrap="square" lIns="0" tIns="0" rIns="0" bIns="0" rtlCol="0" anchor="t"/>
          <a:lstStyle/>
          <a:p>
            <a:pPr indent="0" marL="0">
              <a:buNone/>
            </a:pPr>
            <a:r>
              <a:rPr lang="en-US" sz="1400" dirty="0">
                <a:solidFill>
                  <a:schemeClr val="tx2"/>
                </a:solidFill>
              </a:rPr>
              <a:t>Raw phone IMU on the laptop via Developer options, ADB and the SensorServer app</a:t>
            </a:r>
            <a:endParaRPr lang="en-US" sz="1400" dirty="0"/>
          </a:p>
        </p:txBody>
      </p:sp>
      <p:sp>
        <p:nvSpPr>
          <p:cNvPr id="17" name="card-73"/>
          <p:cNvSpPr/>
          <p:nvPr/>
        </p:nvSpPr>
        <p:spPr>
          <a:xfrm>
            <a:off x="9027871" y="1463040"/>
            <a:ext cx="2615184" cy="2148840"/>
          </a:xfrm>
          <a:prstGeom prst="roundRect">
            <a:avLst>
              <a:gd name="adj" fmla="val 3404"/>
            </a:avLst>
          </a:prstGeom>
          <a:solidFill>
            <a:schemeClr val="bg2"/>
          </a:solidFill>
          <a:ln/>
        </p:spPr>
      </p:sp>
      <p:sp>
        <p:nvSpPr>
          <p:cNvPr id="18" name="num-74"/>
          <p:cNvSpPr txBox="1"/>
          <p:nvPr/>
        </p:nvSpPr>
        <p:spPr>
          <a:xfrm>
            <a:off x="9192463" y="16459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75"/>
          <p:cNvSpPr txBox="1"/>
          <p:nvPr/>
        </p:nvSpPr>
        <p:spPr>
          <a:xfrm>
            <a:off x="9686239" y="164592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Saiprakash</a:t>
            </a:r>
            <a:endParaRPr lang="en-US" sz="1400" dirty="0"/>
          </a:p>
        </p:txBody>
      </p:sp>
      <p:sp>
        <p:nvSpPr>
          <p:cNvPr id="20" name="text-76"/>
          <p:cNvSpPr txBox="1"/>
          <p:nvPr/>
        </p:nvSpPr>
        <p:spPr>
          <a:xfrm>
            <a:off x="9192463" y="2176272"/>
            <a:ext cx="2286000" cy="1280160"/>
          </a:xfrm>
          <a:prstGeom prst="rect">
            <a:avLst/>
          </a:prstGeom>
          <a:noFill/>
          <a:ln/>
        </p:spPr>
        <p:txBody>
          <a:bodyPr wrap="square" lIns="0" tIns="0" rIns="0" bIns="0" rtlCol="0" anchor="t"/>
          <a:lstStyle/>
          <a:p>
            <a:pPr indent="0" marL="0">
              <a:buNone/>
            </a:pPr>
            <a:r>
              <a:rPr lang="en-US" sz="1400" dirty="0">
                <a:solidFill>
                  <a:schemeClr val="tx2"/>
                </a:solidFill>
              </a:rPr>
              <a:t>Live orientation GUI; fixed Android signal issues; static runs on all 6 channels → noise model and drift analysis</a:t>
            </a:r>
            <a:endParaRPr lang="en-US" sz="1400" dirty="0"/>
          </a:p>
        </p:txBody>
      </p:sp>
      <p:sp>
        <p:nvSpPr>
          <p:cNvPr id="21" name="card-77"/>
          <p:cNvSpPr/>
          <p:nvPr/>
        </p:nvSpPr>
        <p:spPr>
          <a:xfrm>
            <a:off x="548640" y="3794760"/>
            <a:ext cx="2615184" cy="2148840"/>
          </a:xfrm>
          <a:prstGeom prst="roundRect">
            <a:avLst>
              <a:gd name="adj" fmla="val 3404"/>
            </a:avLst>
          </a:prstGeom>
          <a:solidFill>
            <a:schemeClr val="bg2"/>
          </a:solidFill>
          <a:ln/>
        </p:spPr>
      </p:sp>
      <p:sp>
        <p:nvSpPr>
          <p:cNvPr id="22" name="num-78"/>
          <p:cNvSpPr txBox="1"/>
          <p:nvPr/>
        </p:nvSpPr>
        <p:spPr>
          <a:xfrm>
            <a:off x="713232" y="39776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79"/>
          <p:cNvSpPr txBox="1"/>
          <p:nvPr/>
        </p:nvSpPr>
        <p:spPr>
          <a:xfrm>
            <a:off x="1207008" y="397764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Rahul → Michelle</a:t>
            </a:r>
            <a:endParaRPr lang="en-US" sz="1400" dirty="0"/>
          </a:p>
        </p:txBody>
      </p:sp>
      <p:sp>
        <p:nvSpPr>
          <p:cNvPr id="24" name="text-80"/>
          <p:cNvSpPr txBox="1"/>
          <p:nvPr/>
        </p:nvSpPr>
        <p:spPr>
          <a:xfrm>
            <a:off x="713232" y="4507992"/>
            <a:ext cx="2286000" cy="1280160"/>
          </a:xfrm>
          <a:prstGeom prst="rect">
            <a:avLst/>
          </a:prstGeom>
          <a:noFill/>
          <a:ln/>
        </p:spPr>
        <p:txBody>
          <a:bodyPr wrap="square" lIns="0" tIns="0" rIns="0" bIns="0" rtlCol="0" anchor="t"/>
          <a:lstStyle/>
          <a:p>
            <a:pPr indent="0" marL="0">
              <a:buNone/>
            </a:pPr>
            <a:r>
              <a:rPr lang="en-US" sz="1400" dirty="0">
                <a:solidFill>
                  <a:schemeClr val="tx2"/>
                </a:solidFill>
              </a:rPr>
              <a:t>Kalman filter on synthetic Gaussian signals, then re-run with the measured Allan noise model</a:t>
            </a:r>
            <a:endParaRPr lang="en-US" sz="1400" dirty="0"/>
          </a:p>
        </p:txBody>
      </p:sp>
      <p:sp>
        <p:nvSpPr>
          <p:cNvPr id="25" name="card-81"/>
          <p:cNvSpPr/>
          <p:nvPr/>
        </p:nvSpPr>
        <p:spPr>
          <a:xfrm>
            <a:off x="3375050" y="3794760"/>
            <a:ext cx="2615184" cy="2148840"/>
          </a:xfrm>
          <a:prstGeom prst="roundRect">
            <a:avLst>
              <a:gd name="adj" fmla="val 3404"/>
            </a:avLst>
          </a:prstGeom>
          <a:solidFill>
            <a:schemeClr val="bg2"/>
          </a:solidFill>
          <a:ln/>
        </p:spPr>
      </p:sp>
      <p:sp>
        <p:nvSpPr>
          <p:cNvPr id="26" name="num-82"/>
          <p:cNvSpPr txBox="1"/>
          <p:nvPr/>
        </p:nvSpPr>
        <p:spPr>
          <a:xfrm>
            <a:off x="3539642" y="39776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83"/>
          <p:cNvSpPr txBox="1"/>
          <p:nvPr/>
        </p:nvSpPr>
        <p:spPr>
          <a:xfrm>
            <a:off x="4033418" y="397764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Michelle &amp; Rahul</a:t>
            </a:r>
            <a:endParaRPr lang="en-US" sz="1400" dirty="0"/>
          </a:p>
        </p:txBody>
      </p:sp>
      <p:sp>
        <p:nvSpPr>
          <p:cNvPr id="28" name="text-84"/>
          <p:cNvSpPr txBox="1"/>
          <p:nvPr/>
        </p:nvSpPr>
        <p:spPr>
          <a:xfrm>
            <a:off x="3539642" y="4507992"/>
            <a:ext cx="2286000" cy="1280160"/>
          </a:xfrm>
          <a:prstGeom prst="rect">
            <a:avLst/>
          </a:prstGeom>
          <a:noFill/>
          <a:ln/>
        </p:spPr>
        <p:txBody>
          <a:bodyPr wrap="square" lIns="0" tIns="0" rIns="0" bIns="0" rtlCol="0" anchor="t"/>
          <a:lstStyle/>
          <a:p>
            <a:pPr indent="0" marL="0">
              <a:buNone/>
            </a:pPr>
            <a:r>
              <a:rPr lang="en-US" sz="1400" dirty="0">
                <a:solidFill>
                  <a:schemeClr val="tx2"/>
                </a:solidFill>
              </a:rPr>
              <a:t>UWB as the correction sensor: ESKF positioning on the i-ASL dataset Michelle found</a:t>
            </a:r>
            <a:endParaRPr lang="en-US" sz="1400" dirty="0"/>
          </a:p>
        </p:txBody>
      </p:sp>
      <p:sp>
        <p:nvSpPr>
          <p:cNvPr id="29" name="card-85"/>
          <p:cNvSpPr/>
          <p:nvPr/>
        </p:nvSpPr>
        <p:spPr>
          <a:xfrm>
            <a:off x="6201461" y="3794760"/>
            <a:ext cx="2615184" cy="2148840"/>
          </a:xfrm>
          <a:prstGeom prst="roundRect">
            <a:avLst>
              <a:gd name="adj" fmla="val 3404"/>
            </a:avLst>
          </a:prstGeom>
          <a:solidFill>
            <a:schemeClr val="bg2"/>
          </a:solidFill>
          <a:ln/>
        </p:spPr>
      </p:sp>
      <p:sp>
        <p:nvSpPr>
          <p:cNvPr id="30" name="num-86"/>
          <p:cNvSpPr txBox="1"/>
          <p:nvPr/>
        </p:nvSpPr>
        <p:spPr>
          <a:xfrm>
            <a:off x="6366053" y="397764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text-87"/>
          <p:cNvSpPr txBox="1"/>
          <p:nvPr/>
        </p:nvSpPr>
        <p:spPr>
          <a:xfrm>
            <a:off x="6859829" y="397764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Joshua → Rahul</a:t>
            </a:r>
            <a:endParaRPr lang="en-US" sz="1400" dirty="0"/>
          </a:p>
        </p:txBody>
      </p:sp>
      <p:sp>
        <p:nvSpPr>
          <p:cNvPr id="32" name="text-88"/>
          <p:cNvSpPr txBox="1"/>
          <p:nvPr/>
        </p:nvSpPr>
        <p:spPr>
          <a:xfrm>
            <a:off x="6366053" y="4507992"/>
            <a:ext cx="2286000" cy="1280160"/>
          </a:xfrm>
          <a:prstGeom prst="rect">
            <a:avLst/>
          </a:prstGeom>
          <a:noFill/>
          <a:ln/>
        </p:spPr>
        <p:txBody>
          <a:bodyPr wrap="square" lIns="0" tIns="0" rIns="0" bIns="0" rtlCol="0" anchor="t"/>
          <a:lstStyle/>
          <a:p>
            <a:pPr indent="0" marL="0">
              <a:buNone/>
            </a:pPr>
            <a:r>
              <a:rPr lang="en-US" sz="1400" dirty="0">
                <a:solidFill>
                  <a:schemeClr val="tx2"/>
                </a:solidFill>
              </a:rPr>
              <a:t>Gazebo drone carrying UWB; Rahul's live ground truth vs IMU + UWB ESKF</a:t>
            </a:r>
            <a:endParaRPr lang="en-US" sz="1400" dirty="0"/>
          </a:p>
        </p:txBody>
      </p:sp>
      <p:sp>
        <p:nvSpPr>
          <p:cNvPr id="33" name="card-89"/>
          <p:cNvSpPr/>
          <p:nvPr/>
        </p:nvSpPr>
        <p:spPr>
          <a:xfrm>
            <a:off x="9027871" y="3794760"/>
            <a:ext cx="2615184" cy="2148840"/>
          </a:xfrm>
          <a:prstGeom prst="roundRect">
            <a:avLst>
              <a:gd name="adj" fmla="val 3404"/>
            </a:avLst>
          </a:prstGeom>
          <a:solidFill>
            <a:schemeClr val="bg2"/>
          </a:solidFill>
          <a:ln/>
        </p:spPr>
      </p:sp>
      <p:sp>
        <p:nvSpPr>
          <p:cNvPr id="34" name="num-90"/>
          <p:cNvSpPr txBox="1"/>
          <p:nvPr/>
        </p:nvSpPr>
        <p:spPr>
          <a:xfrm>
            <a:off x="9192463" y="397764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text-91"/>
          <p:cNvSpPr txBox="1"/>
          <p:nvPr/>
        </p:nvSpPr>
        <p:spPr>
          <a:xfrm>
            <a:off x="9686239" y="3977640"/>
            <a:ext cx="1837944" cy="384048"/>
          </a:xfrm>
          <a:prstGeom prst="rect">
            <a:avLst/>
          </a:prstGeom>
          <a:noFill/>
          <a:ln/>
        </p:spPr>
        <p:txBody>
          <a:bodyPr wrap="square" lIns="0" tIns="0" rIns="0" bIns="0" rtlCol="0" anchor="ctr"/>
          <a:lstStyle/>
          <a:p>
            <a:pPr indent="0" marL="0">
              <a:buNone/>
            </a:pPr>
            <a:r>
              <a:rPr lang="en-US" sz="1400" b="1" dirty="0">
                <a:solidFill>
                  <a:schemeClr val="tx1"/>
                </a:solidFill>
              </a:rPr>
              <a:t>Whole team</a:t>
            </a:r>
            <a:endParaRPr lang="en-US" sz="1400" dirty="0"/>
          </a:p>
        </p:txBody>
      </p:sp>
      <p:sp>
        <p:nvSpPr>
          <p:cNvPr id="36" name="text-92"/>
          <p:cNvSpPr txBox="1"/>
          <p:nvPr/>
        </p:nvSpPr>
        <p:spPr>
          <a:xfrm>
            <a:off x="9192463" y="4507992"/>
            <a:ext cx="2286000" cy="1280160"/>
          </a:xfrm>
          <a:prstGeom prst="rect">
            <a:avLst/>
          </a:prstGeom>
          <a:noFill/>
          <a:ln/>
        </p:spPr>
        <p:txBody>
          <a:bodyPr wrap="square" lIns="0" tIns="0" rIns="0" bIns="0" rtlCol="0" anchor="t"/>
          <a:lstStyle/>
          <a:p>
            <a:pPr indent="0" marL="0">
              <a:buNone/>
            </a:pPr>
            <a:r>
              <a:rPr lang="en-US" sz="1400" dirty="0">
                <a:solidFill>
                  <a:schemeClr val="tx2"/>
                </a:solidFill>
              </a:rPr>
              <a:t>No UWB hardware, so the same filter went onto a real phone with AprilTags as the aid</a:t>
            </a:r>
            <a:endParaRPr lang="en-US" sz="1400" dirty="0"/>
          </a:p>
        </p:txBody>
      </p:sp>
      <p:sp>
        <p:nvSpPr>
          <p:cNvPr id="37" name="text-93"/>
          <p:cNvSpPr txBox="1"/>
          <p:nvPr/>
        </p:nvSpPr>
        <p:spPr>
          <a:xfrm>
            <a:off x="548640" y="6053328"/>
            <a:ext cx="7315200" cy="228600"/>
          </a:xfrm>
          <a:prstGeom prst="rect">
            <a:avLst/>
          </a:prstGeom>
          <a:noFill/>
          <a:ln/>
        </p:spPr>
        <p:txBody>
          <a:bodyPr wrap="square" lIns="0" tIns="0" rIns="0" bIns="0" rtlCol="0" anchor="t"/>
          <a:lstStyle/>
          <a:p>
            <a:pPr indent="0" marL="0">
              <a:buNone/>
            </a:pPr>
            <a:r>
              <a:rPr lang="en-US" sz="1050" dirty="0">
                <a:solidFill>
                  <a:schemeClr val="accent4"/>
                </a:solidFill>
              </a:rPr>
              <a:t>Orange: real phone and hardware · teal: filter and dataset · blue: simulation</a:t>
            </a:r>
            <a:endParaRPr lang="en-US" sz="10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Step 1: get every IMU sample out of the phone</a:t>
            </a:r>
            <a:endParaRPr lang="en-US" sz="3000" dirty="0"/>
          </a:p>
        </p:txBody>
      </p:sp>
      <p:sp>
        <p:nvSpPr>
          <p:cNvPr id="4" name="pill-94"/>
          <p:cNvSpPr txBox="1"/>
          <p:nvPr/>
        </p:nvSpPr>
        <p:spPr>
          <a:xfrm>
            <a:off x="548640" y="987552"/>
            <a:ext cx="1415948"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phone data</a:t>
            </a:r>
            <a:endParaRPr lang="en-US" sz="1050" dirty="0"/>
          </a:p>
        </p:txBody>
      </p:sp>
      <p:sp>
        <p:nvSpPr>
          <p:cNvPr id="5" name="pill-95"/>
          <p:cNvSpPr txBox="1"/>
          <p:nvPr/>
        </p:nvSpPr>
        <p:spPr>
          <a:xfrm>
            <a:off x="2074316" y="987552"/>
            <a:ext cx="2089953"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Joshua John · Saiprakash</a:t>
            </a:r>
            <a:endParaRPr lang="en-US" sz="1050" dirty="0"/>
          </a:p>
        </p:txBody>
      </p:sp>
      <p:sp>
        <p:nvSpPr>
          <p:cNvPr id="6" name="card-96"/>
          <p:cNvSpPr/>
          <p:nvPr/>
        </p:nvSpPr>
        <p:spPr>
          <a:xfrm>
            <a:off x="548640" y="1463040"/>
            <a:ext cx="5989320" cy="950976"/>
          </a:xfrm>
          <a:prstGeom prst="roundRect">
            <a:avLst>
              <a:gd name="adj" fmla="val 7692"/>
            </a:avLst>
          </a:prstGeom>
          <a:solidFill>
            <a:schemeClr val="bg2"/>
          </a:solidFill>
          <a:ln/>
        </p:spPr>
      </p:sp>
      <p:sp>
        <p:nvSpPr>
          <p:cNvPr id="7" name="text-97"/>
          <p:cNvSpPr txBox="1"/>
          <p:nvPr/>
        </p:nvSpPr>
        <p:spPr>
          <a:xfrm>
            <a:off x="731520" y="1554480"/>
            <a:ext cx="5623560" cy="365760"/>
          </a:xfrm>
          <a:prstGeom prst="rect">
            <a:avLst/>
          </a:prstGeom>
          <a:noFill/>
          <a:ln/>
        </p:spPr>
        <p:txBody>
          <a:bodyPr wrap="square" lIns="0" tIns="0" rIns="0" bIns="0" rtlCol="0" anchor="ctr"/>
          <a:lstStyle/>
          <a:p>
            <a:pPr indent="0" marL="0">
              <a:buNone/>
            </a:pPr>
            <a:r>
              <a:rPr lang="en-US" sz="1350" b="1" dirty="0">
                <a:solidFill>
                  <a:schemeClr val="tx1"/>
                </a:solidFill>
              </a:rPr>
              <a:t>Polling the latest value lost about half the samples</a:t>
            </a:r>
            <a:endParaRPr lang="en-US" sz="1350" dirty="0"/>
          </a:p>
        </p:txBody>
      </p:sp>
      <p:sp>
        <p:nvSpPr>
          <p:cNvPr id="8" name="text-98"/>
          <p:cNvSpPr txBox="1"/>
          <p:nvPr/>
        </p:nvSpPr>
        <p:spPr>
          <a:xfrm>
            <a:off x="731520" y="1938528"/>
            <a:ext cx="5623560" cy="384048"/>
          </a:xfrm>
          <a:prstGeom prst="rect">
            <a:avLst/>
          </a:prstGeom>
          <a:noFill/>
          <a:ln/>
        </p:spPr>
        <p:txBody>
          <a:bodyPr wrap="square" lIns="0" tIns="0" rIns="0" bIns="0" rtlCol="0" anchor="ctr"/>
          <a:lstStyle/>
          <a:p>
            <a:pPr indent="0" marL="0">
              <a:buNone/>
            </a:pPr>
            <a:r>
              <a:rPr lang="en-US" sz="1300" b="1" dirty="0">
                <a:solidFill>
                  <a:schemeClr val="accent1"/>
                </a:solidFill>
              </a:rPr>
              <a:t>Fix  </a:t>
            </a:r>
            <a:pPr indent="0" marL="0">
              <a:buNone/>
            </a:pPr>
            <a:r>
              <a:rPr lang="en-US" sz="1300" dirty="0">
                <a:solidFill>
                  <a:schemeClr val="tx2"/>
                </a:solidFill>
              </a:rPr>
              <a:t>Keep every SensorEvent with its hardware timestamp</a:t>
            </a:r>
            <a:endParaRPr lang="en-US" sz="1300" dirty="0"/>
          </a:p>
        </p:txBody>
      </p:sp>
      <p:sp>
        <p:nvSpPr>
          <p:cNvPr id="9" name="card-99"/>
          <p:cNvSpPr/>
          <p:nvPr/>
        </p:nvSpPr>
        <p:spPr>
          <a:xfrm>
            <a:off x="548640" y="2542032"/>
            <a:ext cx="5989320" cy="950976"/>
          </a:xfrm>
          <a:prstGeom prst="roundRect">
            <a:avLst>
              <a:gd name="adj" fmla="val 7692"/>
            </a:avLst>
          </a:prstGeom>
          <a:solidFill>
            <a:schemeClr val="bg2"/>
          </a:solidFill>
          <a:ln/>
        </p:spPr>
      </p:sp>
      <p:sp>
        <p:nvSpPr>
          <p:cNvPr id="10" name="text-100"/>
          <p:cNvSpPr txBox="1"/>
          <p:nvPr/>
        </p:nvSpPr>
        <p:spPr>
          <a:xfrm>
            <a:off x="731520" y="2633472"/>
            <a:ext cx="5623560" cy="365760"/>
          </a:xfrm>
          <a:prstGeom prst="rect">
            <a:avLst/>
          </a:prstGeom>
          <a:noFill/>
          <a:ln/>
        </p:spPr>
        <p:txBody>
          <a:bodyPr wrap="square" lIns="0" tIns="0" rIns="0" bIns="0" rtlCol="0" anchor="ctr"/>
          <a:lstStyle/>
          <a:p>
            <a:pPr indent="0" marL="0">
              <a:buNone/>
            </a:pPr>
            <a:r>
              <a:rPr lang="en-US" sz="1350" b="1" dirty="0">
                <a:solidFill>
                  <a:schemeClr val="tx1"/>
                </a:solidFill>
              </a:rPr>
              <a:t>Android's calibrated streams hide the bias we want to measure</a:t>
            </a:r>
            <a:endParaRPr lang="en-US" sz="1350" dirty="0"/>
          </a:p>
        </p:txBody>
      </p:sp>
      <p:sp>
        <p:nvSpPr>
          <p:cNvPr id="11" name="text-101"/>
          <p:cNvSpPr txBox="1"/>
          <p:nvPr/>
        </p:nvSpPr>
        <p:spPr>
          <a:xfrm>
            <a:off x="731520" y="3017520"/>
            <a:ext cx="5623560" cy="384048"/>
          </a:xfrm>
          <a:prstGeom prst="rect">
            <a:avLst/>
          </a:prstGeom>
          <a:noFill/>
          <a:ln/>
        </p:spPr>
        <p:txBody>
          <a:bodyPr wrap="square" lIns="0" tIns="0" rIns="0" bIns="0" rtlCol="0" anchor="ctr"/>
          <a:lstStyle/>
          <a:p>
            <a:pPr indent="0" marL="0">
              <a:buNone/>
            </a:pPr>
            <a:r>
              <a:rPr lang="en-US" sz="1300" b="1" dirty="0">
                <a:solidFill>
                  <a:schemeClr val="accent1"/>
                </a:solidFill>
              </a:rPr>
              <a:t>Fix  </a:t>
            </a:r>
            <a:pPr indent="0" marL="0">
              <a:buNone/>
            </a:pPr>
            <a:r>
              <a:rPr lang="en-US" sz="1300" dirty="0">
                <a:solidFill>
                  <a:schemeClr val="tx2"/>
                </a:solidFill>
              </a:rPr>
              <a:t>Record the uncalibrated accelerometer and gyroscope</a:t>
            </a:r>
            <a:endParaRPr lang="en-US" sz="1300" dirty="0"/>
          </a:p>
        </p:txBody>
      </p:sp>
      <p:sp>
        <p:nvSpPr>
          <p:cNvPr id="12" name="card-102"/>
          <p:cNvSpPr/>
          <p:nvPr/>
        </p:nvSpPr>
        <p:spPr>
          <a:xfrm>
            <a:off x="548640" y="3621024"/>
            <a:ext cx="5989320" cy="950976"/>
          </a:xfrm>
          <a:prstGeom prst="roundRect">
            <a:avLst>
              <a:gd name="adj" fmla="val 7692"/>
            </a:avLst>
          </a:prstGeom>
          <a:solidFill>
            <a:schemeClr val="bg2"/>
          </a:solidFill>
          <a:ln/>
        </p:spPr>
      </p:sp>
      <p:sp>
        <p:nvSpPr>
          <p:cNvPr id="13" name="text-103"/>
          <p:cNvSpPr txBox="1"/>
          <p:nvPr/>
        </p:nvSpPr>
        <p:spPr>
          <a:xfrm>
            <a:off x="731520" y="3712464"/>
            <a:ext cx="5623560" cy="365760"/>
          </a:xfrm>
          <a:prstGeom prst="rect">
            <a:avLst/>
          </a:prstGeom>
          <a:noFill/>
          <a:ln/>
        </p:spPr>
        <p:txBody>
          <a:bodyPr wrap="square" lIns="0" tIns="0" rIns="0" bIns="0" rtlCol="0" anchor="ctr"/>
          <a:lstStyle/>
          <a:p>
            <a:pPr indent="0" marL="0">
              <a:buNone/>
            </a:pPr>
            <a:r>
              <a:rPr lang="en-US" sz="1350" b="1" dirty="0">
                <a:solidFill>
                  <a:schemeClr val="tx1"/>
                </a:solidFill>
              </a:rPr>
              <a:t>Sensors throttle in the background or with the screen off</a:t>
            </a:r>
            <a:endParaRPr lang="en-US" sz="1350" dirty="0"/>
          </a:p>
        </p:txBody>
      </p:sp>
      <p:sp>
        <p:nvSpPr>
          <p:cNvPr id="14" name="text-104"/>
          <p:cNvSpPr txBox="1"/>
          <p:nvPr/>
        </p:nvSpPr>
        <p:spPr>
          <a:xfrm>
            <a:off x="731520" y="4096512"/>
            <a:ext cx="5623560" cy="384048"/>
          </a:xfrm>
          <a:prstGeom prst="rect">
            <a:avLst/>
          </a:prstGeom>
          <a:noFill/>
          <a:ln/>
        </p:spPr>
        <p:txBody>
          <a:bodyPr wrap="square" lIns="0" tIns="0" rIns="0" bIns="0" rtlCol="0" anchor="ctr"/>
          <a:lstStyle/>
          <a:p>
            <a:pPr indent="0" marL="0">
              <a:buNone/>
            </a:pPr>
            <a:r>
              <a:rPr lang="en-US" sz="1300" b="1" dirty="0">
                <a:solidFill>
                  <a:schemeClr val="accent1"/>
                </a:solidFill>
              </a:rPr>
              <a:t>Fix  </a:t>
            </a:r>
            <a:pPr indent="0" marL="0">
              <a:buNone/>
            </a:pPr>
            <a:r>
              <a:rPr lang="en-US" sz="1300" dirty="0">
                <a:solidFill>
                  <a:schemeClr val="tx2"/>
                </a:solidFill>
              </a:rPr>
              <a:t>The console checks USB, Stay awake and SensorServer in front before every run</a:t>
            </a:r>
            <a:endParaRPr lang="en-US" sz="1300" dirty="0"/>
          </a:p>
        </p:txBody>
      </p:sp>
      <p:sp>
        <p:nvSpPr>
          <p:cNvPr id="15" name="card-105"/>
          <p:cNvSpPr/>
          <p:nvPr/>
        </p:nvSpPr>
        <p:spPr>
          <a:xfrm>
            <a:off x="548640" y="4700016"/>
            <a:ext cx="5989320" cy="950976"/>
          </a:xfrm>
          <a:prstGeom prst="roundRect">
            <a:avLst>
              <a:gd name="adj" fmla="val 7692"/>
            </a:avLst>
          </a:prstGeom>
          <a:solidFill>
            <a:schemeClr val="bg2"/>
          </a:solidFill>
          <a:ln/>
        </p:spPr>
      </p:sp>
      <p:sp>
        <p:nvSpPr>
          <p:cNvPr id="16" name="text-106"/>
          <p:cNvSpPr txBox="1"/>
          <p:nvPr/>
        </p:nvSpPr>
        <p:spPr>
          <a:xfrm>
            <a:off x="731520" y="4791456"/>
            <a:ext cx="5623560" cy="365760"/>
          </a:xfrm>
          <a:prstGeom prst="rect">
            <a:avLst/>
          </a:prstGeom>
          <a:noFill/>
          <a:ln/>
        </p:spPr>
        <p:txBody>
          <a:bodyPr wrap="square" lIns="0" tIns="0" rIns="0" bIns="0" rtlCol="0" anchor="ctr"/>
          <a:lstStyle/>
          <a:p>
            <a:pPr indent="0" marL="0">
              <a:buNone/>
            </a:pPr>
            <a:r>
              <a:rPr lang="en-US" sz="1350" b="1" dirty="0">
                <a:solidFill>
                  <a:schemeClr val="tx1"/>
                </a:solidFill>
              </a:rPr>
              <a:t>The phone does not expose the IMU temperature</a:t>
            </a:r>
            <a:endParaRPr lang="en-US" sz="1350" dirty="0"/>
          </a:p>
        </p:txBody>
      </p:sp>
      <p:sp>
        <p:nvSpPr>
          <p:cNvPr id="17" name="text-107"/>
          <p:cNvSpPr txBox="1"/>
          <p:nvPr/>
        </p:nvSpPr>
        <p:spPr>
          <a:xfrm>
            <a:off x="731520" y="5175504"/>
            <a:ext cx="5623560" cy="384048"/>
          </a:xfrm>
          <a:prstGeom prst="rect">
            <a:avLst/>
          </a:prstGeom>
          <a:noFill/>
          <a:ln/>
        </p:spPr>
        <p:txBody>
          <a:bodyPr wrap="square" lIns="0" tIns="0" rIns="0" bIns="0" rtlCol="0" anchor="ctr"/>
          <a:lstStyle/>
          <a:p>
            <a:pPr indent="0" marL="0">
              <a:buNone/>
            </a:pPr>
            <a:r>
              <a:rPr lang="en-US" sz="1300" b="1" dirty="0">
                <a:solidFill>
                  <a:schemeClr val="accent1"/>
                </a:solidFill>
              </a:rPr>
              <a:t>Fix  </a:t>
            </a:r>
            <a:pPr indent="0" marL="0">
              <a:buNone/>
            </a:pPr>
            <a:r>
              <a:rPr lang="en-US" sz="1300" dirty="0">
                <a:solidFill>
                  <a:schemeClr val="tx2"/>
                </a:solidFill>
              </a:rPr>
              <a:t>Log battery temperature over ADB every 10 s as a proxy</a:t>
            </a:r>
            <a:endParaRPr lang="en-US" sz="1300" dirty="0"/>
          </a:p>
        </p:txBody>
      </p:sp>
      <p:sp>
        <p:nvSpPr>
          <p:cNvPr id="18" name="card-108"/>
          <p:cNvSpPr/>
          <p:nvPr/>
        </p:nvSpPr>
        <p:spPr>
          <a:xfrm>
            <a:off x="6812280" y="1463040"/>
            <a:ext cx="1518818" cy="1005840"/>
          </a:xfrm>
          <a:prstGeom prst="roundRect">
            <a:avLst>
              <a:gd name="adj" fmla="val 7273"/>
            </a:avLst>
          </a:prstGeom>
          <a:solidFill>
            <a:schemeClr val="bg2"/>
          </a:solidFill>
          <a:ln/>
        </p:spPr>
      </p:sp>
      <p:sp>
        <p:nvSpPr>
          <p:cNvPr id="19" name="text-109"/>
          <p:cNvSpPr txBox="1"/>
          <p:nvPr/>
        </p:nvSpPr>
        <p:spPr>
          <a:xfrm>
            <a:off x="6949440" y="1554480"/>
            <a:ext cx="1244498" cy="438912"/>
          </a:xfrm>
          <a:prstGeom prst="rect">
            <a:avLst/>
          </a:prstGeom>
          <a:noFill/>
          <a:ln/>
        </p:spPr>
        <p:txBody>
          <a:bodyPr wrap="square" lIns="0" tIns="0" rIns="0" bIns="0" rtlCol="0" anchor="ctr"/>
          <a:lstStyle/>
          <a:p>
            <a:pPr indent="0" marL="0">
              <a:buNone/>
            </a:pPr>
            <a:r>
              <a:rPr lang="en-US" sz="2200" b="1" dirty="0">
                <a:solidFill>
                  <a:schemeClr val="accent1"/>
                </a:solidFill>
              </a:rPr>
              <a:t>395.0 Hz</a:t>
            </a:r>
            <a:endParaRPr lang="en-US" sz="2200" dirty="0"/>
          </a:p>
        </p:txBody>
      </p:sp>
      <p:sp>
        <p:nvSpPr>
          <p:cNvPr id="20" name="text-110"/>
          <p:cNvSpPr txBox="1"/>
          <p:nvPr/>
        </p:nvSpPr>
        <p:spPr>
          <a:xfrm>
            <a:off x="6949440" y="1993392"/>
            <a:ext cx="1244498" cy="384048"/>
          </a:xfrm>
          <a:prstGeom prst="rect">
            <a:avLst/>
          </a:prstGeom>
          <a:noFill/>
          <a:ln/>
        </p:spPr>
        <p:txBody>
          <a:bodyPr wrap="square" lIns="0" tIns="0" rIns="0" bIns="0" rtlCol="0" anchor="t"/>
          <a:lstStyle/>
          <a:p>
            <a:pPr indent="0" marL="0">
              <a:buNone/>
            </a:pPr>
            <a:r>
              <a:rPr lang="en-US" sz="1050" dirty="0">
                <a:solidFill>
                  <a:schemeClr val="tx2"/>
                </a:solidFill>
              </a:rPr>
              <a:t>accel and gyro, same clock</a:t>
            </a:r>
            <a:endParaRPr lang="en-US" sz="1050" dirty="0"/>
          </a:p>
        </p:txBody>
      </p:sp>
      <p:sp>
        <p:nvSpPr>
          <p:cNvPr id="21" name="card-111"/>
          <p:cNvSpPr/>
          <p:nvPr/>
        </p:nvSpPr>
        <p:spPr>
          <a:xfrm>
            <a:off x="8468258" y="1463040"/>
            <a:ext cx="1518818" cy="1005840"/>
          </a:xfrm>
          <a:prstGeom prst="roundRect">
            <a:avLst>
              <a:gd name="adj" fmla="val 7273"/>
            </a:avLst>
          </a:prstGeom>
          <a:solidFill>
            <a:schemeClr val="bg2"/>
          </a:solidFill>
          <a:ln/>
        </p:spPr>
      </p:sp>
      <p:sp>
        <p:nvSpPr>
          <p:cNvPr id="22" name="text-112"/>
          <p:cNvSpPr txBox="1"/>
          <p:nvPr/>
        </p:nvSpPr>
        <p:spPr>
          <a:xfrm>
            <a:off x="8605418" y="1554480"/>
            <a:ext cx="1244498" cy="438912"/>
          </a:xfrm>
          <a:prstGeom prst="rect">
            <a:avLst/>
          </a:prstGeom>
          <a:noFill/>
          <a:ln/>
        </p:spPr>
        <p:txBody>
          <a:bodyPr wrap="square" lIns="0" tIns="0" rIns="0" bIns="0" rtlCol="0" anchor="ctr"/>
          <a:lstStyle/>
          <a:p>
            <a:pPr indent="0" marL="0">
              <a:buNone/>
            </a:pPr>
            <a:r>
              <a:rPr lang="en-US" sz="2200" b="1" dirty="0">
                <a:solidFill>
                  <a:schemeClr val="accent1"/>
                </a:solidFill>
              </a:rPr>
              <a:t>3.0 µs</a:t>
            </a:r>
            <a:endParaRPr lang="en-US" sz="2200" dirty="0"/>
          </a:p>
        </p:txBody>
      </p:sp>
      <p:sp>
        <p:nvSpPr>
          <p:cNvPr id="23" name="text-113"/>
          <p:cNvSpPr txBox="1"/>
          <p:nvPr/>
        </p:nvSpPr>
        <p:spPr>
          <a:xfrm>
            <a:off x="8605418" y="1993392"/>
            <a:ext cx="1244498" cy="384048"/>
          </a:xfrm>
          <a:prstGeom prst="rect">
            <a:avLst/>
          </a:prstGeom>
          <a:noFill/>
          <a:ln/>
        </p:spPr>
        <p:txBody>
          <a:bodyPr wrap="square" lIns="0" tIns="0" rIns="0" bIns="0" rtlCol="0" anchor="t"/>
          <a:lstStyle/>
          <a:p>
            <a:pPr indent="0" marL="0">
              <a:buNone/>
            </a:pPr>
            <a:r>
              <a:rPr lang="en-US" sz="1050" dirty="0">
                <a:solidFill>
                  <a:schemeClr val="tx2"/>
                </a:solidFill>
              </a:rPr>
              <a:t>timing jitter (std)</a:t>
            </a:r>
            <a:endParaRPr lang="en-US" sz="1050" dirty="0"/>
          </a:p>
        </p:txBody>
      </p:sp>
      <p:sp>
        <p:nvSpPr>
          <p:cNvPr id="24" name="card-114"/>
          <p:cNvSpPr/>
          <p:nvPr/>
        </p:nvSpPr>
        <p:spPr>
          <a:xfrm>
            <a:off x="10124237" y="1463040"/>
            <a:ext cx="1518818" cy="1005840"/>
          </a:xfrm>
          <a:prstGeom prst="roundRect">
            <a:avLst>
              <a:gd name="adj" fmla="val 7273"/>
            </a:avLst>
          </a:prstGeom>
          <a:solidFill>
            <a:schemeClr val="bg2"/>
          </a:solidFill>
          <a:ln/>
        </p:spPr>
      </p:sp>
      <p:sp>
        <p:nvSpPr>
          <p:cNvPr id="25" name="text-115"/>
          <p:cNvSpPr txBox="1"/>
          <p:nvPr/>
        </p:nvSpPr>
        <p:spPr>
          <a:xfrm>
            <a:off x="10261397" y="1554480"/>
            <a:ext cx="1244498" cy="438912"/>
          </a:xfrm>
          <a:prstGeom prst="rect">
            <a:avLst/>
          </a:prstGeom>
          <a:noFill/>
          <a:ln/>
        </p:spPr>
        <p:txBody>
          <a:bodyPr wrap="square" lIns="0" tIns="0" rIns="0" bIns="0" rtlCol="0" anchor="ctr"/>
          <a:lstStyle/>
          <a:p>
            <a:pPr indent="0" marL="0">
              <a:buNone/>
            </a:pPr>
            <a:r>
              <a:rPr lang="en-US" sz="2200" b="1" dirty="0">
                <a:solidFill>
                  <a:schemeClr val="accent1"/>
                </a:solidFill>
              </a:rPr>
              <a:t>0 lost</a:t>
            </a:r>
            <a:endParaRPr lang="en-US" sz="2200" dirty="0"/>
          </a:p>
        </p:txBody>
      </p:sp>
      <p:sp>
        <p:nvSpPr>
          <p:cNvPr id="26" name="text-116"/>
          <p:cNvSpPr txBox="1"/>
          <p:nvPr/>
        </p:nvSpPr>
        <p:spPr>
          <a:xfrm>
            <a:off x="10261397" y="1993392"/>
            <a:ext cx="1244498" cy="384048"/>
          </a:xfrm>
          <a:prstGeom prst="rect">
            <a:avLst/>
          </a:prstGeom>
          <a:noFill/>
          <a:ln/>
        </p:spPr>
        <p:txBody>
          <a:bodyPr wrap="square" lIns="0" tIns="0" rIns="0" bIns="0" rtlCol="0" anchor="t"/>
          <a:lstStyle/>
          <a:p>
            <a:pPr indent="0" marL="0">
              <a:buNone/>
            </a:pPr>
            <a:r>
              <a:rPr lang="en-US" sz="1050" dirty="0">
                <a:solidFill>
                  <a:schemeClr val="tx2"/>
                </a:solidFill>
              </a:rPr>
              <a:t>of 1,422,283 samples in 1 h</a:t>
            </a:r>
            <a:endParaRPr lang="en-US" sz="1050" dirty="0"/>
          </a:p>
        </p:txBody>
      </p:sp>
      <p:pic>
        <p:nvPicPr>
          <p:cNvPr id="27" name="image-117" descr="Histogram of sample intervals from hardware timestamps: median 2.531 ms, std 3.1 microseconds">    </p:cNvPr>
          <p:cNvPicPr>
            <a:picLocks noChangeAspect="1"/>
          </p:cNvPicPr>
          <p:nvPr/>
        </p:nvPicPr>
        <p:blipFill>
          <a:blip r:embed="rId1"/>
          <a:stretch>
            <a:fillRect/>
          </a:stretch>
        </p:blipFill>
        <p:spPr>
          <a:xfrm>
            <a:off x="6812280" y="2688859"/>
            <a:ext cx="4830775" cy="2760443"/>
          </a:xfrm>
          <a:prstGeom prst="rect">
            <a:avLst/>
          </a:prstGeom>
        </p:spPr>
      </p:pic>
      <p:sp>
        <p:nvSpPr>
          <p:cNvPr id="28" name="text-118"/>
          <p:cNvSpPr txBox="1"/>
          <p:nvPr/>
        </p:nvSpPr>
        <p:spPr>
          <a:xfrm>
            <a:off x="6812280" y="5495021"/>
            <a:ext cx="4830775" cy="274320"/>
          </a:xfrm>
          <a:prstGeom prst="rect">
            <a:avLst/>
          </a:prstGeom>
          <a:noFill/>
          <a:ln/>
        </p:spPr>
        <p:txBody>
          <a:bodyPr wrap="square" lIns="0" tIns="0" rIns="0" bIns="0" rtlCol="0" anchor="t"/>
          <a:lstStyle/>
          <a:p>
            <a:pPr indent="0" marL="0">
              <a:buNone/>
            </a:pPr>
            <a:r>
              <a:rPr lang="en-US" sz="1100" dirty="0">
                <a:solidFill>
                  <a:schemeClr val="accent4"/>
                </a:solidFill>
              </a:rPr>
              <a:t>Sample intervals over the 1 h static run, from hardware timestamps</a:t>
            </a:r>
            <a:endParaRPr lang="en-US" sz="1100" dirty="0"/>
          </a:p>
        </p:txBody>
      </p:sp>
      <p:sp>
        <p:nvSpPr>
          <p:cNvPr id="29" name="text-119"/>
          <p:cNvSpPr txBox="1"/>
          <p:nvPr/>
        </p:nvSpPr>
        <p:spPr>
          <a:xfrm>
            <a:off x="6812280" y="5806440"/>
            <a:ext cx="4830775" cy="457200"/>
          </a:xfrm>
          <a:prstGeom prst="rect">
            <a:avLst/>
          </a:prstGeom>
          <a:noFill/>
          <a:ln/>
        </p:spPr>
        <p:txBody>
          <a:bodyPr wrap="square" lIns="0" tIns="0" rIns="0" bIns="0" rtlCol="0" anchor="t"/>
          <a:lstStyle/>
          <a:p>
            <a:pPr indent="0" marL="0">
              <a:buNone/>
            </a:pPr>
            <a:r>
              <a:rPr lang="en-US" sz="1200" dirty="0">
                <a:solidFill>
                  <a:schemeClr val="tx2"/>
                </a:solidFill>
              </a:rPr>
              <a:t>A fixed-interval assumption would add only 0.16° of heading error in that hour, so timing is not where drift comes from.</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Step 2: calibrate the bias first</a:t>
            </a:r>
            <a:endParaRPr lang="en-US" sz="3000" dirty="0"/>
          </a:p>
        </p:txBody>
      </p:sp>
      <p:sp>
        <p:nvSpPr>
          <p:cNvPr id="4" name="pill-120"/>
          <p:cNvSpPr txBox="1"/>
          <p:nvPr/>
        </p:nvSpPr>
        <p:spPr>
          <a:xfrm>
            <a:off x="548640" y="987552"/>
            <a:ext cx="1415948"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phone data</a:t>
            </a:r>
            <a:endParaRPr lang="en-US" sz="1050" dirty="0"/>
          </a:p>
        </p:txBody>
      </p:sp>
      <p:sp>
        <p:nvSpPr>
          <p:cNvPr id="5" name="pill-121"/>
          <p:cNvSpPr txBox="1"/>
          <p:nvPr/>
        </p:nvSpPr>
        <p:spPr>
          <a:xfrm>
            <a:off x="2074316" y="987552"/>
            <a:ext cx="11912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Aditya Ganta</a:t>
            </a:r>
            <a:endParaRPr lang="en-US" sz="1050" dirty="0"/>
          </a:p>
        </p:txBody>
      </p:sp>
      <p:sp>
        <p:nvSpPr>
          <p:cNvPr id="6" name="card-122"/>
          <p:cNvSpPr/>
          <p:nvPr/>
        </p:nvSpPr>
        <p:spPr>
          <a:xfrm>
            <a:off x="548640" y="1463040"/>
            <a:ext cx="5760720" cy="1371600"/>
          </a:xfrm>
          <a:prstGeom prst="roundRect">
            <a:avLst>
              <a:gd name="adj" fmla="val 5333"/>
            </a:avLst>
          </a:prstGeom>
          <a:solidFill>
            <a:schemeClr val="bg2"/>
          </a:solidFill>
          <a:ln/>
        </p:spPr>
      </p:sp>
      <p:sp>
        <p:nvSpPr>
          <p:cNvPr id="7" name="text-123"/>
          <p:cNvSpPr txBox="1"/>
          <p:nvPr/>
        </p:nvSpPr>
        <p:spPr>
          <a:xfrm>
            <a:off x="731520" y="1554480"/>
            <a:ext cx="5394960" cy="292608"/>
          </a:xfrm>
          <a:prstGeom prst="rect">
            <a:avLst/>
          </a:prstGeom>
          <a:noFill/>
          <a:ln/>
        </p:spPr>
        <p:txBody>
          <a:bodyPr wrap="square" lIns="0" tIns="0" rIns="0" bIns="0" rtlCol="0" anchor="t"/>
          <a:lstStyle/>
          <a:p>
            <a:pPr indent="0" marL="0">
              <a:buNone/>
            </a:pPr>
            <a:r>
              <a:rPr lang="en-US" sz="1200" b="1" dirty="0">
                <a:solidFill>
                  <a:schemeClr val="accent4"/>
                </a:solidFill>
              </a:rPr>
              <a:t>Error model (Tedaldi, Pretto, Menegatti, ICRA 2014)</a:t>
            </a:r>
            <a:endParaRPr lang="en-US" sz="1200" dirty="0"/>
          </a:p>
        </p:txBody>
      </p:sp>
      <p:sp>
        <p:nvSpPr>
          <p:cNvPr id="8" name="text-124"/>
          <p:cNvSpPr txBox="1"/>
          <p:nvPr/>
        </p:nvSpPr>
        <p:spPr>
          <a:xfrm>
            <a:off x="731520" y="1874520"/>
            <a:ext cx="2743200" cy="868680"/>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a</a:t>
            </a:r>
            <a:pPr indent="0" marL="0">
              <a:spcAft>
                <a:spcPts val="400"/>
              </a:spcAft>
              <a:buNone/>
            </a:pPr>
            <a:r>
              <a:rPr lang="en-US" sz="1800" dirty="0">
                <a:solidFill>
                  <a:schemeClr val="tx1"/>
                </a:solidFill>
              </a:rPr>
              <a:t> = T</a:t>
            </a:r>
            <a:pPr indent="0" marL="0">
              <a:spcAft>
                <a:spcPts val="400"/>
              </a:spcAft>
              <a:buNone/>
            </a:pPr>
            <a:r>
              <a:rPr lang="en-US" sz="1800" baseline="-40000" dirty="0">
                <a:solidFill>
                  <a:schemeClr val="tx1"/>
                </a:solidFill>
              </a:rPr>
              <a:t>a</a:t>
            </a:r>
            <a:pPr indent="0" marL="0">
              <a:spcAft>
                <a:spcPts val="400"/>
              </a:spcAft>
              <a:buNone/>
            </a:pPr>
            <a:r>
              <a:rPr lang="en-US" sz="1800" dirty="0">
                <a:solidFill>
                  <a:schemeClr val="tx1"/>
                </a:solidFill>
              </a:rPr>
              <a:t> K</a:t>
            </a:r>
            <a:pPr indent="0" marL="0">
              <a:spcAft>
                <a:spcPts val="400"/>
              </a:spcAft>
              <a:buNone/>
            </a:pPr>
            <a:r>
              <a:rPr lang="en-US" sz="1800" baseline="-40000" dirty="0">
                <a:solidFill>
                  <a:schemeClr val="tx1"/>
                </a:solidFill>
              </a:rPr>
              <a:t>a</a:t>
            </a:r>
            <a:pPr indent="0" marL="0">
              <a:spcAft>
                <a:spcPts val="400"/>
              </a:spcAft>
              <a:buNone/>
            </a:pPr>
            <a:r>
              <a:rPr lang="en-US" sz="1800" dirty="0">
                <a:solidFill>
                  <a:schemeClr val="tx1"/>
                </a:solidFill>
              </a:rPr>
              <a:t> (a</a:t>
            </a:r>
            <a:pPr indent="0" marL="0">
              <a:spcAft>
                <a:spcPts val="400"/>
              </a:spcAft>
              <a:buNone/>
            </a:pPr>
            <a:r>
              <a:rPr lang="en-US" sz="1800" baseline="-40000" dirty="0">
                <a:solidFill>
                  <a:schemeClr val="tx1"/>
                </a:solidFill>
              </a:rPr>
              <a:t>S</a:t>
            </a:r>
            <a:pPr indent="0" marL="0">
              <a:spcAft>
                <a:spcPts val="400"/>
              </a:spcAft>
              <a:buNone/>
            </a:pPr>
            <a:r>
              <a:rPr lang="en-US" sz="1800" dirty="0">
                <a:solidFill>
                  <a:schemeClr val="tx1"/>
                </a:solidFill>
              </a:rPr>
              <a:t> + b</a:t>
            </a:r>
            <a:pPr indent="0" marL="0">
              <a:spcAft>
                <a:spcPts val="400"/>
              </a:spcAft>
              <a:buNone/>
            </a:pPr>
            <a:r>
              <a:rPr lang="en-US" sz="1800" baseline="-40000" dirty="0">
                <a:solidFill>
                  <a:schemeClr val="tx1"/>
                </a:solidFill>
              </a:rPr>
              <a:t>a</a:t>
            </a:r>
            <a:pPr indent="0" marL="0">
              <a:spcAft>
                <a:spcPts val="400"/>
              </a:spcAft>
              <a:buNone/>
            </a:pPr>
            <a:r>
              <a:rPr lang="en-US" sz="1800" dirty="0">
                <a:solidFill>
                  <a:schemeClr val="tx1"/>
                </a:solidFill>
              </a:rPr>
              <a:t>)</a:t>
            </a:r>
            <a:endParaRPr lang="en-US" sz="1800" dirty="0"/>
          </a:p>
          <a:p>
            <a:pPr indent="0" marL="0">
              <a:spcAft>
                <a:spcPts val="400"/>
              </a:spcAft>
              <a:buNone/>
            </a:pPr>
            <a:r>
              <a:rPr lang="en-US" sz="1800" b="1" dirty="0">
                <a:solidFill>
                  <a:schemeClr val="tx1"/>
                </a:solidFill>
              </a:rPr>
              <a:t>ω</a:t>
            </a:r>
            <a:pPr indent="0" marL="0">
              <a:spcAft>
                <a:spcPts val="400"/>
              </a:spcAft>
              <a:buNone/>
            </a:pPr>
            <a:r>
              <a:rPr lang="en-US" sz="1800" dirty="0">
                <a:solidFill>
                  <a:schemeClr val="tx1"/>
                </a:solidFill>
              </a:rPr>
              <a:t> = T</a:t>
            </a:r>
            <a:pPr indent="0" marL="0">
              <a:spcAft>
                <a:spcPts val="400"/>
              </a:spcAft>
              <a:buNone/>
            </a:pPr>
            <a:r>
              <a:rPr lang="en-US" sz="1800" baseline="-40000" dirty="0">
                <a:solidFill>
                  <a:schemeClr val="tx1"/>
                </a:solidFill>
              </a:rPr>
              <a:t>g</a:t>
            </a:r>
            <a:pPr indent="0" marL="0">
              <a:spcAft>
                <a:spcPts val="400"/>
              </a:spcAft>
              <a:buNone/>
            </a:pPr>
            <a:r>
              <a:rPr lang="en-US" sz="1800" dirty="0">
                <a:solidFill>
                  <a:schemeClr val="tx1"/>
                </a:solidFill>
              </a:rPr>
              <a:t> K</a:t>
            </a:r>
            <a:pPr indent="0" marL="0">
              <a:spcAft>
                <a:spcPts val="400"/>
              </a:spcAft>
              <a:buNone/>
            </a:pPr>
            <a:r>
              <a:rPr lang="en-US" sz="1800" baseline="-40000" dirty="0">
                <a:solidFill>
                  <a:schemeClr val="tx1"/>
                </a:solidFill>
              </a:rPr>
              <a:t>g</a:t>
            </a:r>
            <a:pPr indent="0" marL="0">
              <a:spcAft>
                <a:spcPts val="400"/>
              </a:spcAft>
              <a:buNone/>
            </a:pPr>
            <a:r>
              <a:rPr lang="en-US" sz="1800" dirty="0">
                <a:solidFill>
                  <a:schemeClr val="tx1"/>
                </a:solidFill>
              </a:rPr>
              <a:t> (ω</a:t>
            </a:r>
            <a:pPr indent="0" marL="0">
              <a:spcAft>
                <a:spcPts val="400"/>
              </a:spcAft>
              <a:buNone/>
            </a:pPr>
            <a:r>
              <a:rPr lang="en-US" sz="1800" baseline="-40000" dirty="0">
                <a:solidFill>
                  <a:schemeClr val="tx1"/>
                </a:solidFill>
              </a:rPr>
              <a:t>S</a:t>
            </a:r>
            <a:pPr indent="0" marL="0">
              <a:spcAft>
                <a:spcPts val="400"/>
              </a:spcAft>
              <a:buNone/>
            </a:pPr>
            <a:r>
              <a:rPr lang="en-US" sz="1800" dirty="0">
                <a:solidFill>
                  <a:schemeClr val="tx1"/>
                </a:solidFill>
              </a:rPr>
              <a:t> + b</a:t>
            </a:r>
            <a:pPr indent="0" marL="0">
              <a:spcAft>
                <a:spcPts val="400"/>
              </a:spcAft>
              <a:buNone/>
            </a:pPr>
            <a:r>
              <a:rPr lang="en-US" sz="1800" baseline="-40000" dirty="0">
                <a:solidFill>
                  <a:schemeClr val="tx1"/>
                </a:solidFill>
              </a:rPr>
              <a:t>g</a:t>
            </a:r>
            <a:pPr indent="0" marL="0">
              <a:spcAft>
                <a:spcPts val="400"/>
              </a:spcAft>
              <a:buNone/>
            </a:pPr>
            <a:r>
              <a:rPr lang="en-US" sz="1800" dirty="0">
                <a:solidFill>
                  <a:schemeClr val="tx1"/>
                </a:solidFill>
              </a:rPr>
              <a:t>)</a:t>
            </a:r>
            <a:endParaRPr lang="en-US" sz="1800" dirty="0"/>
          </a:p>
        </p:txBody>
      </p:sp>
      <p:sp>
        <p:nvSpPr>
          <p:cNvPr id="9" name="text-125"/>
          <p:cNvSpPr txBox="1"/>
          <p:nvPr/>
        </p:nvSpPr>
        <p:spPr>
          <a:xfrm>
            <a:off x="3566160" y="1874520"/>
            <a:ext cx="2560320" cy="868680"/>
          </a:xfrm>
          <a:prstGeom prst="rect">
            <a:avLst/>
          </a:prstGeom>
          <a:noFill/>
          <a:ln/>
        </p:spPr>
        <p:txBody>
          <a:bodyPr wrap="square" lIns="0" tIns="0" rIns="0" bIns="0" rtlCol="0" anchor="ctr"/>
          <a:lstStyle/>
          <a:p>
            <a:pPr indent="0" marL="0">
              <a:buNone/>
            </a:pPr>
            <a:r>
              <a:rPr lang="en-US" sz="1200" dirty="0">
                <a:solidFill>
                  <a:schemeClr val="tx2"/>
                </a:solidFill>
              </a:rPr>
              <a:t>T misalignment · K scale · b bias · S raw sensor reading</a:t>
            </a:r>
            <a:endParaRPr lang="en-US" sz="1200" dirty="0"/>
          </a:p>
        </p:txBody>
      </p:sp>
      <p:sp>
        <p:nvSpPr>
          <p:cNvPr id="10" name="num-126"/>
          <p:cNvSpPr txBox="1"/>
          <p:nvPr/>
        </p:nvSpPr>
        <p:spPr>
          <a:xfrm>
            <a:off x="548640" y="3063240"/>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127"/>
          <p:cNvSpPr txBox="1"/>
          <p:nvPr/>
        </p:nvSpPr>
        <p:spPr>
          <a:xfrm>
            <a:off x="1051560" y="3017520"/>
            <a:ext cx="5257800" cy="274320"/>
          </a:xfrm>
          <a:prstGeom prst="rect">
            <a:avLst/>
          </a:prstGeom>
          <a:noFill/>
          <a:ln/>
        </p:spPr>
        <p:txBody>
          <a:bodyPr wrap="square" lIns="0" tIns="0" rIns="0" bIns="0" rtlCol="0" anchor="t"/>
          <a:lstStyle/>
          <a:p>
            <a:pPr indent="0" marL="0">
              <a:buNone/>
            </a:pPr>
            <a:r>
              <a:rPr lang="en-US" sz="1400" b="1" dirty="0">
                <a:solidFill>
                  <a:schemeClr val="tx1"/>
                </a:solidFill>
              </a:rPr>
              <a:t>Hold still, average</a:t>
            </a:r>
            <a:endParaRPr lang="en-US" sz="1400" dirty="0"/>
          </a:p>
        </p:txBody>
      </p:sp>
      <p:sp>
        <p:nvSpPr>
          <p:cNvPr id="12" name="text-128"/>
          <p:cNvSpPr txBox="1"/>
          <p:nvPr/>
        </p:nvSpPr>
        <p:spPr>
          <a:xfrm>
            <a:off x="1051560" y="3291840"/>
            <a:ext cx="5257800" cy="566928"/>
          </a:xfrm>
          <a:prstGeom prst="rect">
            <a:avLst/>
          </a:prstGeom>
          <a:noFill/>
          <a:ln/>
        </p:spPr>
        <p:txBody>
          <a:bodyPr wrap="square" lIns="0" tIns="0" rIns="0" bIns="0" rtlCol="0" anchor="t"/>
          <a:lstStyle/>
          <a:p>
            <a:pPr indent="0" marL="0">
              <a:buNone/>
            </a:pPr>
            <a:r>
              <a:rPr lang="en-US" sz="1250" dirty="0">
                <a:solidFill>
                  <a:schemeClr val="tx2"/>
                </a:solidFill>
              </a:rPr>
              <a:t>Mean gyro over a still period gives the turn-on bias; the gravity direction gives initial roll and pitch.</a:t>
            </a:r>
            <a:endParaRPr lang="en-US" sz="1250" dirty="0"/>
          </a:p>
        </p:txBody>
      </p:sp>
      <p:sp>
        <p:nvSpPr>
          <p:cNvPr id="13" name="num-129"/>
          <p:cNvSpPr txBox="1"/>
          <p:nvPr/>
        </p:nvSpPr>
        <p:spPr>
          <a:xfrm>
            <a:off x="548640" y="3959352"/>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130"/>
          <p:cNvSpPr txBox="1"/>
          <p:nvPr/>
        </p:nvSpPr>
        <p:spPr>
          <a:xfrm>
            <a:off x="1051560" y="3913632"/>
            <a:ext cx="5257800" cy="274320"/>
          </a:xfrm>
          <a:prstGeom prst="rect">
            <a:avLst/>
          </a:prstGeom>
          <a:noFill/>
          <a:ln/>
        </p:spPr>
        <p:txBody>
          <a:bodyPr wrap="square" lIns="0" tIns="0" rIns="0" bIns="0" rtlCol="0" anchor="t"/>
          <a:lstStyle/>
          <a:p>
            <a:pPr indent="0" marL="0">
              <a:buNone/>
            </a:pPr>
            <a:r>
              <a:rPr lang="en-US" sz="1400" b="1" dirty="0">
                <a:solidFill>
                  <a:schemeClr val="tx1"/>
                </a:solidFill>
              </a:rPr>
              <a:t>Multi-position fit</a:t>
            </a:r>
            <a:endParaRPr lang="en-US" sz="1400" dirty="0"/>
          </a:p>
        </p:txBody>
      </p:sp>
      <p:sp>
        <p:nvSpPr>
          <p:cNvPr id="15" name="text-131"/>
          <p:cNvSpPr txBox="1"/>
          <p:nvPr/>
        </p:nvSpPr>
        <p:spPr>
          <a:xfrm>
            <a:off x="1051560" y="4187952"/>
            <a:ext cx="5257800" cy="566928"/>
          </a:xfrm>
          <a:prstGeom prst="rect">
            <a:avLst/>
          </a:prstGeom>
          <a:noFill/>
          <a:ln/>
        </p:spPr>
        <p:txBody>
          <a:bodyPr wrap="square" lIns="0" tIns="0" rIns="0" bIns="0" rtlCol="0" anchor="t"/>
          <a:lstStyle/>
          <a:p>
            <a:pPr indent="0" marL="0">
              <a:buNone/>
            </a:pPr>
            <a:r>
              <a:rPr lang="en-US" sz="1250" dirty="0">
                <a:solidFill>
                  <a:schemeClr val="tx2"/>
                </a:solidFill>
              </a:rPr>
              <a:t>Detect static intervals, then least squares for T, K and b; the six-position method is the baseline.</a:t>
            </a:r>
            <a:endParaRPr lang="en-US" sz="1250" dirty="0"/>
          </a:p>
        </p:txBody>
      </p:sp>
      <p:sp>
        <p:nvSpPr>
          <p:cNvPr id="16" name="num-132"/>
          <p:cNvSpPr txBox="1"/>
          <p:nvPr/>
        </p:nvSpPr>
        <p:spPr>
          <a:xfrm>
            <a:off x="548640" y="4855464"/>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133"/>
          <p:cNvSpPr txBox="1"/>
          <p:nvPr/>
        </p:nvSpPr>
        <p:spPr>
          <a:xfrm>
            <a:off x="1051560" y="4809744"/>
            <a:ext cx="5257800" cy="274320"/>
          </a:xfrm>
          <a:prstGeom prst="rect">
            <a:avLst/>
          </a:prstGeom>
          <a:noFill/>
          <a:ln/>
        </p:spPr>
        <p:txBody>
          <a:bodyPr wrap="square" lIns="0" tIns="0" rIns="0" bIns="0" rtlCol="0" anchor="t"/>
          <a:lstStyle/>
          <a:p>
            <a:pPr indent="0" marL="0">
              <a:buNone/>
            </a:pPr>
            <a:r>
              <a:rPr lang="en-US" sz="1400" b="1" dirty="0">
                <a:solidFill>
                  <a:schemeClr val="tx1"/>
                </a:solidFill>
              </a:rPr>
              <a:t>Align longer</a:t>
            </a:r>
            <a:endParaRPr lang="en-US" sz="1400" dirty="0"/>
          </a:p>
        </p:txBody>
      </p:sp>
      <p:sp>
        <p:nvSpPr>
          <p:cNvPr id="18" name="text-134"/>
          <p:cNvSpPr txBox="1"/>
          <p:nvPr/>
        </p:nvSpPr>
        <p:spPr>
          <a:xfrm>
            <a:off x="1051560" y="5084064"/>
            <a:ext cx="5257800" cy="566928"/>
          </a:xfrm>
          <a:prstGeom prst="rect">
            <a:avLst/>
          </a:prstGeom>
          <a:noFill/>
          <a:ln/>
        </p:spPr>
        <p:txBody>
          <a:bodyPr wrap="square" lIns="0" tIns="0" rIns="0" bIns="0" rtlCol="0" anchor="t"/>
          <a:lstStyle/>
          <a:p>
            <a:pPr indent="0" marL="0">
              <a:buNone/>
            </a:pPr>
            <a:r>
              <a:rPr lang="en-US" sz="1250" dirty="0">
                <a:solidFill>
                  <a:schemeClr val="tx2"/>
                </a:solidFill>
              </a:rPr>
              <a:t>What averaging leaves behind is N / √t_align, the largest static drift term, so a longer still start cuts drift.</a:t>
            </a:r>
            <a:endParaRPr lang="en-US" sz="1250" dirty="0"/>
          </a:p>
        </p:txBody>
      </p:sp>
      <p:sp>
        <p:nvSpPr>
          <p:cNvPr id="19" name="text-135"/>
          <p:cNvSpPr txBox="1"/>
          <p:nvPr/>
        </p:nvSpPr>
        <p:spPr>
          <a:xfrm>
            <a:off x="548640" y="5760720"/>
            <a:ext cx="5760720" cy="457200"/>
          </a:xfrm>
          <a:prstGeom prst="rect">
            <a:avLst/>
          </a:prstGeom>
          <a:noFill/>
          <a:ln/>
        </p:spPr>
        <p:txBody>
          <a:bodyPr wrap="square" lIns="0" tIns="0" rIns="0" bIns="0" rtlCol="0" anchor="t"/>
          <a:lstStyle/>
          <a:p>
            <a:pPr indent="0" marL="0">
              <a:buNone/>
            </a:pPr>
            <a:r>
              <a:rPr lang="en-US" sz="1100" i="1" dirty="0">
                <a:solidFill>
                  <a:schemeClr val="accent4"/>
                </a:solidFill>
              </a:rPr>
              <a:t>The multi-position fit is coded (nav/calib.py) and checked on synthetic data with known errors; a multi-pose run on the phone is next.</a:t>
            </a:r>
            <a:endParaRPr lang="en-US" sz="1100" dirty="0"/>
          </a:p>
        </p:txBody>
      </p:sp>
      <p:sp>
        <p:nvSpPr>
          <p:cNvPr id="20" name="card-136"/>
          <p:cNvSpPr/>
          <p:nvPr/>
        </p:nvSpPr>
        <p:spPr>
          <a:xfrm>
            <a:off x="6629400" y="1463040"/>
            <a:ext cx="2438248" cy="1051560"/>
          </a:xfrm>
          <a:prstGeom prst="roundRect">
            <a:avLst>
              <a:gd name="adj" fmla="val 6957"/>
            </a:avLst>
          </a:prstGeom>
          <a:solidFill>
            <a:schemeClr val="bg2"/>
          </a:solidFill>
          <a:ln/>
        </p:spPr>
      </p:sp>
      <p:sp>
        <p:nvSpPr>
          <p:cNvPr id="21" name="text-137"/>
          <p:cNvSpPr txBox="1"/>
          <p:nvPr/>
        </p:nvSpPr>
        <p:spPr>
          <a:xfrm>
            <a:off x="6766560" y="1554480"/>
            <a:ext cx="2163928" cy="457200"/>
          </a:xfrm>
          <a:prstGeom prst="rect">
            <a:avLst/>
          </a:prstGeom>
          <a:noFill/>
          <a:ln/>
        </p:spPr>
        <p:txBody>
          <a:bodyPr wrap="square" lIns="0" tIns="0" rIns="0" bIns="0" rtlCol="0" anchor="ctr"/>
          <a:lstStyle/>
          <a:p>
            <a:pPr indent="0" marL="0">
              <a:buNone/>
            </a:pPr>
            <a:r>
              <a:rPr lang="en-US" sz="1800" b="1" dirty="0">
                <a:solidFill>
                  <a:schemeClr val="accent2"/>
                </a:solidFill>
              </a:rPr>
              <a:t>0.21 · −0.34 · 0.11</a:t>
            </a:r>
            <a:endParaRPr lang="en-US" sz="1800" dirty="0"/>
          </a:p>
        </p:txBody>
      </p:sp>
      <p:sp>
        <p:nvSpPr>
          <p:cNvPr id="22" name="text-138"/>
          <p:cNvSpPr txBox="1"/>
          <p:nvPr/>
        </p:nvSpPr>
        <p:spPr>
          <a:xfrm>
            <a:off x="6766560" y="2011680"/>
            <a:ext cx="2163928" cy="411480"/>
          </a:xfrm>
          <a:prstGeom prst="rect">
            <a:avLst/>
          </a:prstGeom>
          <a:noFill/>
          <a:ln/>
        </p:spPr>
        <p:txBody>
          <a:bodyPr wrap="square" lIns="0" tIns="0" rIns="0" bIns="0" rtlCol="0" anchor="t"/>
          <a:lstStyle/>
          <a:p>
            <a:pPr indent="0" marL="0">
              <a:buNone/>
            </a:pPr>
            <a:r>
              <a:rPr lang="en-US" sz="1150" dirty="0">
                <a:solidFill>
                  <a:schemeClr val="tx2"/>
                </a:solidFill>
              </a:rPr>
              <a:t>°/s gyro turn-on bias, x · y · z</a:t>
            </a:r>
            <a:endParaRPr lang="en-US" sz="1150" dirty="0"/>
          </a:p>
        </p:txBody>
      </p:sp>
      <p:sp>
        <p:nvSpPr>
          <p:cNvPr id="23" name="card-139"/>
          <p:cNvSpPr/>
          <p:nvPr/>
        </p:nvSpPr>
        <p:spPr>
          <a:xfrm>
            <a:off x="9204808" y="1463040"/>
            <a:ext cx="2438248" cy="1051560"/>
          </a:xfrm>
          <a:prstGeom prst="roundRect">
            <a:avLst>
              <a:gd name="adj" fmla="val 6957"/>
            </a:avLst>
          </a:prstGeom>
          <a:solidFill>
            <a:schemeClr val="bg2"/>
          </a:solidFill>
          <a:ln/>
        </p:spPr>
      </p:sp>
      <p:sp>
        <p:nvSpPr>
          <p:cNvPr id="24" name="text-140"/>
          <p:cNvSpPr txBox="1"/>
          <p:nvPr/>
        </p:nvSpPr>
        <p:spPr>
          <a:xfrm>
            <a:off x="9341968" y="1554480"/>
            <a:ext cx="2163928" cy="457200"/>
          </a:xfrm>
          <a:prstGeom prst="rect">
            <a:avLst/>
          </a:prstGeom>
          <a:noFill/>
          <a:ln/>
        </p:spPr>
        <p:txBody>
          <a:bodyPr wrap="square" lIns="0" tIns="0" rIns="0" bIns="0" rtlCol="0" anchor="ctr"/>
          <a:lstStyle/>
          <a:p>
            <a:pPr indent="0" marL="0">
              <a:buNone/>
            </a:pPr>
            <a:r>
              <a:rPr lang="en-US" sz="1800" b="1" dirty="0">
                <a:solidFill>
                  <a:schemeClr val="accent2"/>
                </a:solidFill>
              </a:rPr>
              <a:t>9.839 vs 9.78 m/s²</a:t>
            </a:r>
            <a:endParaRPr lang="en-US" sz="1800" dirty="0"/>
          </a:p>
        </p:txBody>
      </p:sp>
      <p:sp>
        <p:nvSpPr>
          <p:cNvPr id="25" name="text-141"/>
          <p:cNvSpPr txBox="1"/>
          <p:nvPr/>
        </p:nvSpPr>
        <p:spPr>
          <a:xfrm>
            <a:off x="9341968" y="2011680"/>
            <a:ext cx="2163928" cy="411480"/>
          </a:xfrm>
          <a:prstGeom prst="rect">
            <a:avLst/>
          </a:prstGeom>
          <a:noFill/>
          <a:ln/>
        </p:spPr>
        <p:txBody>
          <a:bodyPr wrap="square" lIns="0" tIns="0" rIns="0" bIns="0" rtlCol="0" anchor="t"/>
          <a:lstStyle/>
          <a:p>
            <a:pPr indent="0" marL="0">
              <a:buNone/>
            </a:pPr>
            <a:r>
              <a:rPr lang="en-US" sz="1150" dirty="0">
                <a:solidFill>
                  <a:schemeClr val="tx2"/>
                </a:solidFill>
              </a:rPr>
              <a:t>|a| at rest vs local g: 0.06 m/s² of scale/bias</a:t>
            </a:r>
            <a:endParaRPr lang="en-US" sz="1150" dirty="0"/>
          </a:p>
        </p:txBody>
      </p:sp>
      <p:pic>
        <p:nvPicPr>
          <p:cNvPr id="26" name="image-142" descr="Gyro and accelerometer 60 s mean bias over 20 minutes with battery temperature">    </p:cNvPr>
          <p:cNvPicPr>
            <a:picLocks noChangeAspect="1"/>
          </p:cNvPicPr>
          <p:nvPr/>
        </p:nvPicPr>
        <p:blipFill>
          <a:blip r:embed="rId1"/>
          <a:stretch>
            <a:fillRect/>
          </a:stretch>
        </p:blipFill>
        <p:spPr>
          <a:xfrm>
            <a:off x="6629400" y="2952826"/>
            <a:ext cx="5013655" cy="2506828"/>
          </a:xfrm>
          <a:prstGeom prst="rect">
            <a:avLst/>
          </a:prstGeom>
        </p:spPr>
      </p:pic>
      <p:sp>
        <p:nvSpPr>
          <p:cNvPr id="27" name="text-143"/>
          <p:cNvSpPr txBox="1"/>
          <p:nvPr/>
        </p:nvSpPr>
        <p:spPr>
          <a:xfrm>
            <a:off x="6629400" y="5505374"/>
            <a:ext cx="5013655" cy="457200"/>
          </a:xfrm>
          <a:prstGeom prst="rect">
            <a:avLst/>
          </a:prstGeom>
          <a:noFill/>
          <a:ln/>
        </p:spPr>
        <p:txBody>
          <a:bodyPr wrap="square" lIns="0" tIns="0" rIns="0" bIns="0" rtlCol="0" anchor="t"/>
          <a:lstStyle/>
          <a:p>
            <a:pPr indent="0" marL="0">
              <a:buNone/>
            </a:pPr>
            <a:r>
              <a:rPr lang="en-US" sz="1100" dirty="0">
                <a:solidFill>
                  <a:schemeClr val="accent4"/>
                </a:solidFill>
              </a:rPr>
              <a:t>60 s mean bias over 20 min: gyro wanders ±10 m°/s and tracks the battery temperature (dashed)</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One hour on a table: the phone's noise fingerprint</a:t>
            </a:r>
            <a:endParaRPr lang="en-US" sz="3000" dirty="0"/>
          </a:p>
        </p:txBody>
      </p:sp>
      <p:sp>
        <p:nvSpPr>
          <p:cNvPr id="4" name="pill-144"/>
          <p:cNvSpPr txBox="1"/>
          <p:nvPr/>
        </p:nvSpPr>
        <p:spPr>
          <a:xfrm>
            <a:off x="548640" y="987552"/>
            <a:ext cx="238951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phone data · 1 h static</a:t>
            </a:r>
            <a:endParaRPr lang="en-US" sz="1050" dirty="0"/>
          </a:p>
        </p:txBody>
      </p:sp>
      <p:sp>
        <p:nvSpPr>
          <p:cNvPr id="5" name="pill-145"/>
          <p:cNvSpPr txBox="1"/>
          <p:nvPr/>
        </p:nvSpPr>
        <p:spPr>
          <a:xfrm>
            <a:off x="3047878" y="987552"/>
            <a:ext cx="1041502"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Saiprakash</a:t>
            </a:r>
            <a:endParaRPr lang="en-US" sz="1050" dirty="0"/>
          </a:p>
        </p:txBody>
      </p:sp>
      <p:pic>
        <p:nvPicPr>
          <p:cNvPr id="6" name="image-146" descr="Allan deviation of the phone gyroscope and accelerometer, three axes each">    </p:cNvPr>
          <p:cNvPicPr>
            <a:picLocks noChangeAspect="1"/>
          </p:cNvPicPr>
          <p:nvPr/>
        </p:nvPicPr>
        <p:blipFill>
          <a:blip r:embed="rId1"/>
          <a:stretch>
            <a:fillRect/>
          </a:stretch>
        </p:blipFill>
        <p:spPr>
          <a:xfrm>
            <a:off x="548640" y="1529862"/>
            <a:ext cx="7315200" cy="2700997"/>
          </a:xfrm>
          <a:prstGeom prst="rect">
            <a:avLst/>
          </a:prstGeom>
        </p:spPr>
      </p:pic>
      <p:sp>
        <p:nvSpPr>
          <p:cNvPr id="7" name="text-147"/>
          <p:cNvSpPr txBox="1"/>
          <p:nvPr/>
        </p:nvSpPr>
        <p:spPr>
          <a:xfrm>
            <a:off x="640080" y="4459458"/>
            <a:ext cx="7132320" cy="411480"/>
          </a:xfrm>
          <a:prstGeom prst="rect">
            <a:avLst/>
          </a:prstGeom>
          <a:noFill/>
          <a:ln/>
        </p:spPr>
        <p:txBody>
          <a:bodyPr wrap="square" lIns="0" tIns="0" rIns="0" bIns="0" rtlCol="0" anchor="ctr"/>
          <a:lstStyle/>
          <a:p>
            <a:pPr indent="0" marL="0">
              <a:buNone/>
            </a:pPr>
            <a:r>
              <a:rPr lang="en-US" sz="1400" b="1" dirty="0">
                <a:solidFill>
                  <a:schemeClr val="accent1"/>
                </a:solidFill>
              </a:rPr>
              <a:t>−½ slope  </a:t>
            </a:r>
            <a:pPr indent="0" marL="0">
              <a:buNone/>
            </a:pPr>
            <a:r>
              <a:rPr lang="en-US" sz="1400" dirty="0">
                <a:solidFill>
                  <a:schemeClr val="tx1"/>
                </a:solidFill>
              </a:rPr>
              <a:t>white noise: averaging helps until about 100 s</a:t>
            </a:r>
            <a:endParaRPr lang="en-US" sz="1400" dirty="0"/>
          </a:p>
        </p:txBody>
      </p:sp>
      <p:sp>
        <p:nvSpPr>
          <p:cNvPr id="8" name="text-148"/>
          <p:cNvSpPr txBox="1"/>
          <p:nvPr/>
        </p:nvSpPr>
        <p:spPr>
          <a:xfrm>
            <a:off x="640080" y="4962378"/>
            <a:ext cx="7132320" cy="411480"/>
          </a:xfrm>
          <a:prstGeom prst="rect">
            <a:avLst/>
          </a:prstGeom>
          <a:noFill/>
          <a:ln/>
        </p:spPr>
        <p:txBody>
          <a:bodyPr wrap="square" lIns="0" tIns="0" rIns="0" bIns="0" rtlCol="0" anchor="ctr"/>
          <a:lstStyle/>
          <a:p>
            <a:pPr indent="0" marL="0">
              <a:buNone/>
            </a:pPr>
            <a:r>
              <a:rPr lang="en-US" sz="1400" b="1" dirty="0">
                <a:solidFill>
                  <a:schemeClr val="accent1"/>
                </a:solidFill>
              </a:rPr>
              <a:t>Flat bottom  </a:t>
            </a:r>
            <a:pPr indent="0" marL="0">
              <a:buNone/>
            </a:pPr>
            <a:r>
              <a:rPr lang="en-US" sz="1400" dirty="0">
                <a:solidFill>
                  <a:schemeClr val="tx1"/>
                </a:solidFill>
              </a:rPr>
              <a:t>bias instability, the floor on how well a bias can be known</a:t>
            </a:r>
            <a:endParaRPr lang="en-US" sz="1400" dirty="0"/>
          </a:p>
        </p:txBody>
      </p:sp>
      <p:sp>
        <p:nvSpPr>
          <p:cNvPr id="9" name="text-149"/>
          <p:cNvSpPr txBox="1"/>
          <p:nvPr/>
        </p:nvSpPr>
        <p:spPr>
          <a:xfrm>
            <a:off x="640080" y="5465298"/>
            <a:ext cx="7132320" cy="411480"/>
          </a:xfrm>
          <a:prstGeom prst="rect">
            <a:avLst/>
          </a:prstGeom>
          <a:noFill/>
          <a:ln/>
        </p:spPr>
        <p:txBody>
          <a:bodyPr wrap="square" lIns="0" tIns="0" rIns="0" bIns="0" rtlCol="0" anchor="ctr"/>
          <a:lstStyle/>
          <a:p>
            <a:pPr indent="0" marL="0">
              <a:buNone/>
            </a:pPr>
            <a:r>
              <a:rPr lang="en-US" sz="1400" b="1" dirty="0">
                <a:solidFill>
                  <a:schemeClr val="accent1"/>
                </a:solidFill>
              </a:rPr>
              <a:t>Rising tail  </a:t>
            </a:r>
            <a:pPr indent="0" marL="0">
              <a:buNone/>
            </a:pPr>
            <a:r>
              <a:rPr lang="en-US" sz="1400" dirty="0">
                <a:solidFill>
                  <a:schemeClr val="tx1"/>
                </a:solidFill>
              </a:rPr>
              <a:t>temperature drift as the phone warmed from 33.1 to 35.6 °C</a:t>
            </a:r>
            <a:endParaRPr lang="en-US" sz="1400" dirty="0"/>
          </a:p>
        </p:txBody>
      </p:sp>
      <p:graphicFrame>
        <p:nvGraphicFramePr>
          <p:cNvPr id="8" name="table-150"/>
          <p:cNvGraphicFramePr>
            <a:graphicFrameLocks noGrp="1"/>
          </p:cNvGraphicFramePr>
          <p:nvPr>
            <p:extLst>
              <p:ext uri="{D42A27DB-BD31-4B8C-83A1-F6EECF244321}">
                <p14:modId xmlns:p14="http://schemas.microsoft.com/office/powerpoint/2010/main" val="1579011935"/>
              </p:ext>
            </p:extLst>
          </p:nvPr>
        </p:nvGraphicFramePr>
        <p:xfrm>
          <a:off x="8183880" y="1463040"/>
          <a:ext cx="3459175" cy="914400"/>
        </p:xfrm>
        <a:graphic>
          <a:graphicData uri="http://schemas.openxmlformats.org/drawingml/2006/table">
            <a:tbl>
              <a:tblPr/>
              <a:tblGrid>
                <a:gridCol w="1261872"/>
                <a:gridCol w="1188720"/>
                <a:gridCol w="1008583"/>
              </a:tblGrid>
              <a:tr h="475488">
                <a:tc>
                  <a:txBody>
                    <a:bodyPr/>
                    <a:lstStyle/>
                    <a:p>
                      <a:pPr indent="0" marL="0">
                        <a:buNone/>
                      </a:pP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150" b="1" dirty="0">
                          <a:solidFill>
                            <a:schemeClr val="bg1"/>
                          </a:solidFill>
                        </a:rPr>
                        <a:t>Gyro</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150" b="1" dirty="0">
                          <a:solidFill>
                            <a:schemeClr val="bg1"/>
                          </a:solidFill>
                        </a:rPr>
                        <a:t>Accel</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r>
              <a:tr h="475488">
                <a:tc>
                  <a:txBody>
                    <a:bodyPr/>
                    <a:lstStyle/>
                    <a:p>
                      <a:pPr indent="0" marL="0">
                        <a:buNone/>
                      </a:pPr>
                      <a:r>
                        <a:rPr lang="en-US" sz="1150" b="1" dirty="0">
                          <a:solidFill>
                            <a:schemeClr val="tx1"/>
                          </a:solidFill>
                        </a:rPr>
                        <a:t>White noise N</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4.8–5.1 m°/s/√Hz</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112–121 µg/√Hz</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75488">
                <a:tc>
                  <a:txBody>
                    <a:bodyPr/>
                    <a:lstStyle/>
                    <a:p>
                      <a:pPr indent="0" marL="0">
                        <a:buNone/>
                      </a:pPr>
                      <a:r>
                        <a:rPr lang="en-US" sz="1150" b="1" dirty="0">
                          <a:solidFill>
                            <a:schemeClr val="tx1"/>
                          </a:solidFill>
                        </a:rPr>
                        <a:t>Random walk</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0.30 °/√h</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0.07 m/s/√h</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75488">
                <a:tc>
                  <a:txBody>
                    <a:bodyPr/>
                    <a:lstStyle/>
                    <a:p>
                      <a:pPr indent="0" marL="0">
                        <a:buNone/>
                      </a:pPr>
                      <a:r>
                        <a:rPr lang="en-US" sz="1150" b="1" dirty="0">
                          <a:solidFill>
                            <a:schemeClr val="tx1"/>
                          </a:solidFill>
                        </a:rPr>
                        <a:t>Bias instability B</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15 °/h x, y · 3 °/h z</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65–146 µg</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75488">
                <a:tc>
                  <a:txBody>
                    <a:bodyPr/>
                    <a:lstStyle/>
                    <a:p>
                      <a:pPr indent="0" marL="0">
                        <a:buNone/>
                      </a:pPr>
                      <a:r>
                        <a:rPr lang="en-US" sz="1150" b="1" dirty="0">
                          <a:solidFill>
                            <a:schemeClr val="tx1"/>
                          </a:solidFill>
                        </a:rPr>
                        <a:t>At τ</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 107 s</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93–107 s</a:t>
                      </a:r>
                      <a:endParaRPr lang="en-US" sz="1150" dirty="0"/>
                    </a:p>
                  </a:txBody>
                  <a:tcPr marL="64008" marR="64008"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11" name="card-151"/>
          <p:cNvSpPr/>
          <p:nvPr/>
        </p:nvSpPr>
        <p:spPr>
          <a:xfrm>
            <a:off x="8183880" y="4206240"/>
            <a:ext cx="3459175" cy="868680"/>
          </a:xfrm>
          <a:prstGeom prst="roundRect">
            <a:avLst>
              <a:gd name="adj" fmla="val 8421"/>
            </a:avLst>
          </a:prstGeom>
          <a:solidFill>
            <a:schemeClr val="bg2"/>
          </a:solidFill>
          <a:ln/>
        </p:spPr>
      </p:sp>
      <p:sp>
        <p:nvSpPr>
          <p:cNvPr id="12" name="text-152"/>
          <p:cNvSpPr txBox="1"/>
          <p:nvPr/>
        </p:nvSpPr>
        <p:spPr>
          <a:xfrm>
            <a:off x="8321040" y="4297680"/>
            <a:ext cx="3184855" cy="411480"/>
          </a:xfrm>
          <a:prstGeom prst="rect">
            <a:avLst/>
          </a:prstGeom>
          <a:noFill/>
          <a:ln/>
        </p:spPr>
        <p:txBody>
          <a:bodyPr wrap="square" lIns="0" tIns="0" rIns="0" bIns="0" rtlCol="0" anchor="ctr"/>
          <a:lstStyle/>
          <a:p>
            <a:pPr indent="0" marL="0">
              <a:buNone/>
            </a:pPr>
            <a:r>
              <a:rPr lang="en-US" sz="2200" b="1" dirty="0">
                <a:solidFill>
                  <a:schemeClr val="accent1"/>
                </a:solidFill>
              </a:rPr>
              <a:t>1,422,283</a:t>
            </a:r>
            <a:endParaRPr lang="en-US" sz="2200" dirty="0"/>
          </a:p>
        </p:txBody>
      </p:sp>
      <p:sp>
        <p:nvSpPr>
          <p:cNvPr id="13" name="text-153"/>
          <p:cNvSpPr txBox="1"/>
          <p:nvPr/>
        </p:nvSpPr>
        <p:spPr>
          <a:xfrm>
            <a:off x="8321040" y="4709160"/>
            <a:ext cx="3184855" cy="274320"/>
          </a:xfrm>
          <a:prstGeom prst="rect">
            <a:avLst/>
          </a:prstGeom>
          <a:noFill/>
          <a:ln/>
        </p:spPr>
        <p:txBody>
          <a:bodyPr wrap="square" lIns="0" tIns="0" rIns="0" bIns="0" rtlCol="0" anchor="t"/>
          <a:lstStyle/>
          <a:p>
            <a:pPr indent="0" marL="0">
              <a:buNone/>
            </a:pPr>
            <a:r>
              <a:rPr lang="en-US" sz="1150" dirty="0">
                <a:solidFill>
                  <a:schemeClr val="tx2"/>
                </a:solidFill>
              </a:rPr>
              <a:t>samples per sensor in the hour</a:t>
            </a:r>
            <a:endParaRPr lang="en-US" sz="1150" dirty="0"/>
          </a:p>
        </p:txBody>
      </p:sp>
      <p:sp>
        <p:nvSpPr>
          <p:cNvPr id="14" name="card-154"/>
          <p:cNvSpPr/>
          <p:nvPr/>
        </p:nvSpPr>
        <p:spPr>
          <a:xfrm>
            <a:off x="8183880" y="5212080"/>
            <a:ext cx="3459175" cy="1005840"/>
          </a:xfrm>
          <a:prstGeom prst="roundRect">
            <a:avLst>
              <a:gd name="adj" fmla="val 7273"/>
            </a:avLst>
          </a:prstGeom>
          <a:solidFill>
            <a:schemeClr val="bg2"/>
          </a:solidFill>
          <a:ln/>
        </p:spPr>
      </p:sp>
      <p:sp>
        <p:nvSpPr>
          <p:cNvPr id="15" name="text-155"/>
          <p:cNvSpPr txBox="1"/>
          <p:nvPr/>
        </p:nvSpPr>
        <p:spPr>
          <a:xfrm>
            <a:off x="8321040" y="5303520"/>
            <a:ext cx="3184855" cy="411480"/>
          </a:xfrm>
          <a:prstGeom prst="rect">
            <a:avLst/>
          </a:prstGeom>
          <a:noFill/>
          <a:ln/>
        </p:spPr>
        <p:txBody>
          <a:bodyPr wrap="square" lIns="0" tIns="0" rIns="0" bIns="0" rtlCol="0" anchor="ctr"/>
          <a:lstStyle/>
          <a:p>
            <a:pPr indent="0" marL="0">
              <a:buNone/>
            </a:pPr>
            <a:r>
              <a:rPr lang="en-US" sz="2200" b="1" dirty="0">
                <a:solidFill>
                  <a:schemeClr val="accent2"/>
                </a:solidFill>
              </a:rPr>
              <a:t>0.69 %</a:t>
            </a:r>
            <a:endParaRPr lang="en-US" sz="2200" dirty="0"/>
          </a:p>
        </p:txBody>
      </p:sp>
      <p:sp>
        <p:nvSpPr>
          <p:cNvPr id="16" name="text-156"/>
          <p:cNvSpPr txBox="1"/>
          <p:nvPr/>
        </p:nvSpPr>
        <p:spPr>
          <a:xfrm>
            <a:off x="8321040" y="5715000"/>
            <a:ext cx="3184855" cy="411480"/>
          </a:xfrm>
          <a:prstGeom prst="rect">
            <a:avLst/>
          </a:prstGeom>
          <a:noFill/>
          <a:ln/>
        </p:spPr>
        <p:txBody>
          <a:bodyPr wrap="square" lIns="0" tIns="0" rIns="0" bIns="0" rtlCol="0" anchor="t"/>
          <a:lstStyle/>
          <a:p>
            <a:pPr indent="0" marL="0">
              <a:buNone/>
            </a:pPr>
            <a:r>
              <a:rPr lang="en-US" sz="1150" dirty="0">
                <a:solidFill>
                  <a:schemeClr val="tx2"/>
                </a:solidFill>
              </a:rPr>
              <a:t>of the hour disturbed (people walking past), found and cut out automatically</a:t>
            </a:r>
            <a:endParaRPr lang="en-US" sz="11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Unaided, the IMU is 7.5 m off after 30 s</a:t>
            </a:r>
            <a:endParaRPr lang="en-US" sz="3000" dirty="0"/>
          </a:p>
        </p:txBody>
      </p:sp>
      <p:sp>
        <p:nvSpPr>
          <p:cNvPr id="4" name="pill-157"/>
          <p:cNvSpPr txBox="1"/>
          <p:nvPr/>
        </p:nvSpPr>
        <p:spPr>
          <a:xfrm>
            <a:off x="548640" y="987552"/>
            <a:ext cx="3063514"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phone data · 45 segments of 60 s</a:t>
            </a:r>
            <a:endParaRPr lang="en-US" sz="1050" dirty="0"/>
          </a:p>
        </p:txBody>
      </p:sp>
      <p:sp>
        <p:nvSpPr>
          <p:cNvPr id="5" name="pill-158"/>
          <p:cNvSpPr txBox="1"/>
          <p:nvPr/>
        </p:nvSpPr>
        <p:spPr>
          <a:xfrm>
            <a:off x="3721882" y="987552"/>
            <a:ext cx="1041502"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Saiprakash</a:t>
            </a:r>
            <a:endParaRPr lang="en-US" sz="1050" dirty="0"/>
          </a:p>
        </p:txBody>
      </p:sp>
      <p:pic>
        <p:nvPicPr>
          <p:cNvPr id="6" name="image-159" descr="Gyro z heading drift and free inertial position drift versus time, measured RMS against predicted 1 sigma">    </p:cNvPr>
          <p:cNvPicPr>
            <a:picLocks noChangeAspect="1"/>
          </p:cNvPicPr>
          <p:nvPr/>
        </p:nvPicPr>
        <p:blipFill>
          <a:blip r:embed="rId1"/>
          <a:stretch>
            <a:fillRect/>
          </a:stretch>
        </p:blipFill>
        <p:spPr>
          <a:xfrm>
            <a:off x="548640" y="1512980"/>
            <a:ext cx="7406640" cy="2734759"/>
          </a:xfrm>
          <a:prstGeom prst="rect">
            <a:avLst/>
          </a:prstGeom>
        </p:spPr>
      </p:pic>
      <p:sp>
        <p:nvSpPr>
          <p:cNvPr id="7" name="card-160"/>
          <p:cNvSpPr/>
          <p:nvPr/>
        </p:nvSpPr>
        <p:spPr>
          <a:xfrm>
            <a:off x="548640" y="4430620"/>
            <a:ext cx="1748790" cy="960120"/>
          </a:xfrm>
          <a:prstGeom prst="roundRect">
            <a:avLst>
              <a:gd name="adj" fmla="val 7619"/>
            </a:avLst>
          </a:prstGeom>
          <a:solidFill>
            <a:schemeClr val="bg2"/>
          </a:solidFill>
          <a:ln/>
        </p:spPr>
      </p:sp>
      <p:sp>
        <p:nvSpPr>
          <p:cNvPr id="8" name="text-161"/>
          <p:cNvSpPr txBox="1"/>
          <p:nvPr/>
        </p:nvSpPr>
        <p:spPr>
          <a:xfrm>
            <a:off x="685800" y="4522060"/>
            <a:ext cx="1474470" cy="411480"/>
          </a:xfrm>
          <a:prstGeom prst="rect">
            <a:avLst/>
          </a:prstGeom>
          <a:noFill/>
          <a:ln/>
        </p:spPr>
        <p:txBody>
          <a:bodyPr wrap="square" lIns="0" tIns="0" rIns="0" bIns="0" rtlCol="0" anchor="ctr"/>
          <a:lstStyle/>
          <a:p>
            <a:pPr indent="0" marL="0">
              <a:buNone/>
            </a:pPr>
            <a:r>
              <a:rPr lang="en-US" sz="2200" b="1" dirty="0">
                <a:solidFill>
                  <a:schemeClr val="accent1"/>
                </a:solidFill>
              </a:rPr>
              <a:t>0.072°</a:t>
            </a:r>
            <a:endParaRPr lang="en-US" sz="2200" dirty="0"/>
          </a:p>
        </p:txBody>
      </p:sp>
      <p:sp>
        <p:nvSpPr>
          <p:cNvPr id="9" name="text-162"/>
          <p:cNvSpPr txBox="1"/>
          <p:nvPr/>
        </p:nvSpPr>
        <p:spPr>
          <a:xfrm>
            <a:off x="685800" y="4933540"/>
            <a:ext cx="1474470" cy="365760"/>
          </a:xfrm>
          <a:prstGeom prst="rect">
            <a:avLst/>
          </a:prstGeom>
          <a:noFill/>
          <a:ln/>
        </p:spPr>
        <p:txBody>
          <a:bodyPr wrap="square" lIns="0" tIns="0" rIns="0" bIns="0" rtlCol="0" anchor="t"/>
          <a:lstStyle/>
          <a:p>
            <a:pPr indent="0" marL="0">
              <a:buNone/>
            </a:pPr>
            <a:r>
              <a:rPr lang="en-US" sz="1050" dirty="0">
                <a:solidFill>
                  <a:schemeClr val="tx2"/>
                </a:solidFill>
              </a:rPr>
              <a:t>heading at 30 s (model 0.059°)</a:t>
            </a:r>
            <a:endParaRPr lang="en-US" sz="1050" dirty="0"/>
          </a:p>
        </p:txBody>
      </p:sp>
      <p:sp>
        <p:nvSpPr>
          <p:cNvPr id="10" name="card-163"/>
          <p:cNvSpPr/>
          <p:nvPr/>
        </p:nvSpPr>
        <p:spPr>
          <a:xfrm>
            <a:off x="2434590" y="4430620"/>
            <a:ext cx="1748790" cy="960120"/>
          </a:xfrm>
          <a:prstGeom prst="roundRect">
            <a:avLst>
              <a:gd name="adj" fmla="val 7619"/>
            </a:avLst>
          </a:prstGeom>
          <a:solidFill>
            <a:schemeClr val="bg2"/>
          </a:solidFill>
          <a:ln/>
        </p:spPr>
      </p:sp>
      <p:sp>
        <p:nvSpPr>
          <p:cNvPr id="11" name="text-164"/>
          <p:cNvSpPr txBox="1"/>
          <p:nvPr/>
        </p:nvSpPr>
        <p:spPr>
          <a:xfrm>
            <a:off x="2571750" y="4522060"/>
            <a:ext cx="1474470" cy="411480"/>
          </a:xfrm>
          <a:prstGeom prst="rect">
            <a:avLst/>
          </a:prstGeom>
          <a:noFill/>
          <a:ln/>
        </p:spPr>
        <p:txBody>
          <a:bodyPr wrap="square" lIns="0" tIns="0" rIns="0" bIns="0" rtlCol="0" anchor="ctr"/>
          <a:lstStyle/>
          <a:p>
            <a:pPr indent="0" marL="0">
              <a:buNone/>
            </a:pPr>
            <a:r>
              <a:rPr lang="en-US" sz="2200" b="1" dirty="0">
                <a:solidFill>
                  <a:schemeClr val="accent3"/>
                </a:solidFill>
              </a:rPr>
              <a:t>7.46 m</a:t>
            </a:r>
            <a:endParaRPr lang="en-US" sz="2200" dirty="0"/>
          </a:p>
        </p:txBody>
      </p:sp>
      <p:sp>
        <p:nvSpPr>
          <p:cNvPr id="12" name="text-165"/>
          <p:cNvSpPr txBox="1"/>
          <p:nvPr/>
        </p:nvSpPr>
        <p:spPr>
          <a:xfrm>
            <a:off x="2571750" y="4933540"/>
            <a:ext cx="1474470" cy="365760"/>
          </a:xfrm>
          <a:prstGeom prst="rect">
            <a:avLst/>
          </a:prstGeom>
          <a:noFill/>
          <a:ln/>
        </p:spPr>
        <p:txBody>
          <a:bodyPr wrap="square" lIns="0" tIns="0" rIns="0" bIns="0" rtlCol="0" anchor="t"/>
          <a:lstStyle/>
          <a:p>
            <a:pPr indent="0" marL="0">
              <a:buNone/>
            </a:pPr>
            <a:r>
              <a:rPr lang="en-US" sz="1050" dirty="0">
                <a:solidFill>
                  <a:schemeClr val="tx2"/>
                </a:solidFill>
              </a:rPr>
              <a:t>position at 30 s (model 5.00 m)</a:t>
            </a:r>
            <a:endParaRPr lang="en-US" sz="1050" dirty="0"/>
          </a:p>
        </p:txBody>
      </p:sp>
      <p:sp>
        <p:nvSpPr>
          <p:cNvPr id="13" name="card-166"/>
          <p:cNvSpPr/>
          <p:nvPr/>
        </p:nvSpPr>
        <p:spPr>
          <a:xfrm>
            <a:off x="4320540" y="4430620"/>
            <a:ext cx="1748790" cy="960120"/>
          </a:xfrm>
          <a:prstGeom prst="roundRect">
            <a:avLst>
              <a:gd name="adj" fmla="val 7619"/>
            </a:avLst>
          </a:prstGeom>
          <a:solidFill>
            <a:schemeClr val="bg2"/>
          </a:solidFill>
          <a:ln/>
        </p:spPr>
      </p:sp>
      <p:sp>
        <p:nvSpPr>
          <p:cNvPr id="14" name="text-167"/>
          <p:cNvSpPr txBox="1"/>
          <p:nvPr/>
        </p:nvSpPr>
        <p:spPr>
          <a:xfrm>
            <a:off x="4457700" y="4522060"/>
            <a:ext cx="1474470" cy="411480"/>
          </a:xfrm>
          <a:prstGeom prst="rect">
            <a:avLst/>
          </a:prstGeom>
          <a:noFill/>
          <a:ln/>
        </p:spPr>
        <p:txBody>
          <a:bodyPr wrap="square" lIns="0" tIns="0" rIns="0" bIns="0" rtlCol="0" anchor="ctr"/>
          <a:lstStyle/>
          <a:p>
            <a:pPr indent="0" marL="0">
              <a:buNone/>
            </a:pPr>
            <a:r>
              <a:rPr lang="en-US" sz="2200" b="1" dirty="0">
                <a:solidFill>
                  <a:schemeClr val="accent3"/>
                </a:solidFill>
              </a:rPr>
              <a:t>4.98 m</a:t>
            </a:r>
            <a:endParaRPr lang="en-US" sz="2200" dirty="0"/>
          </a:p>
        </p:txBody>
      </p:sp>
      <p:sp>
        <p:nvSpPr>
          <p:cNvPr id="15" name="text-168"/>
          <p:cNvSpPr txBox="1"/>
          <p:nvPr/>
        </p:nvSpPr>
        <p:spPr>
          <a:xfrm>
            <a:off x="4457700" y="4933540"/>
            <a:ext cx="1474470" cy="365760"/>
          </a:xfrm>
          <a:prstGeom prst="rect">
            <a:avLst/>
          </a:prstGeom>
          <a:noFill/>
          <a:ln/>
        </p:spPr>
        <p:txBody>
          <a:bodyPr wrap="square" lIns="0" tIns="0" rIns="0" bIns="0" rtlCol="0" anchor="t"/>
          <a:lstStyle/>
          <a:p>
            <a:pPr indent="0" marL="0">
              <a:buNone/>
            </a:pPr>
            <a:r>
              <a:rPr lang="en-US" sz="1050" dirty="0">
                <a:solidFill>
                  <a:schemeClr val="tx2"/>
                </a:solidFill>
              </a:rPr>
              <a:t>of that from tilt by gyro bias</a:t>
            </a:r>
            <a:endParaRPr lang="en-US" sz="1050" dirty="0"/>
          </a:p>
        </p:txBody>
      </p:sp>
      <p:sp>
        <p:nvSpPr>
          <p:cNvPr id="16" name="card-169"/>
          <p:cNvSpPr/>
          <p:nvPr/>
        </p:nvSpPr>
        <p:spPr>
          <a:xfrm>
            <a:off x="6206490" y="4430620"/>
            <a:ext cx="1748790" cy="960120"/>
          </a:xfrm>
          <a:prstGeom prst="roundRect">
            <a:avLst>
              <a:gd name="adj" fmla="val 7619"/>
            </a:avLst>
          </a:prstGeom>
          <a:solidFill>
            <a:schemeClr val="bg2"/>
          </a:solidFill>
          <a:ln/>
        </p:spPr>
      </p:sp>
      <p:sp>
        <p:nvSpPr>
          <p:cNvPr id="17" name="text-170"/>
          <p:cNvSpPr txBox="1"/>
          <p:nvPr/>
        </p:nvSpPr>
        <p:spPr>
          <a:xfrm>
            <a:off x="6343650" y="4522060"/>
            <a:ext cx="1474470" cy="411480"/>
          </a:xfrm>
          <a:prstGeom prst="rect">
            <a:avLst/>
          </a:prstGeom>
          <a:noFill/>
          <a:ln/>
        </p:spPr>
        <p:txBody>
          <a:bodyPr wrap="square" lIns="0" tIns="0" rIns="0" bIns="0" rtlCol="0" anchor="ctr"/>
          <a:lstStyle/>
          <a:p>
            <a:pPr indent="0" marL="0">
              <a:buNone/>
            </a:pPr>
            <a:r>
              <a:rPr lang="en-US" sz="2200" b="1" dirty="0">
                <a:solidFill>
                  <a:schemeClr val="accent3"/>
                </a:solidFill>
              </a:rPr>
              <a:t>75 km</a:t>
            </a:r>
            <a:endParaRPr lang="en-US" sz="2200" dirty="0"/>
          </a:p>
        </p:txBody>
      </p:sp>
      <p:sp>
        <p:nvSpPr>
          <p:cNvPr id="18" name="text-171"/>
          <p:cNvSpPr txBox="1"/>
          <p:nvPr/>
        </p:nvSpPr>
        <p:spPr>
          <a:xfrm>
            <a:off x="6343650" y="4933540"/>
            <a:ext cx="1474470" cy="365760"/>
          </a:xfrm>
          <a:prstGeom prst="rect">
            <a:avLst/>
          </a:prstGeom>
          <a:noFill/>
          <a:ln/>
        </p:spPr>
        <p:txBody>
          <a:bodyPr wrap="square" lIns="0" tIns="0" rIns="0" bIns="0" rtlCol="0" anchor="t"/>
          <a:lstStyle/>
          <a:p>
            <a:pPr indent="0" marL="0">
              <a:buNone/>
            </a:pPr>
            <a:r>
              <a:rPr lang="en-US" sz="1050" dirty="0">
                <a:solidFill>
                  <a:schemeClr val="tx2"/>
                </a:solidFill>
              </a:rPr>
              <a:t>after 19 min free, 6.1° tilt</a:t>
            </a:r>
            <a:endParaRPr lang="en-US" sz="1050" dirty="0"/>
          </a:p>
        </p:txBody>
      </p:sp>
      <p:sp>
        <p:nvSpPr>
          <p:cNvPr id="19" name="text-172"/>
          <p:cNvSpPr txBox="1"/>
          <p:nvPr/>
        </p:nvSpPr>
        <p:spPr>
          <a:xfrm>
            <a:off x="548640" y="5527900"/>
            <a:ext cx="7406640" cy="457200"/>
          </a:xfrm>
          <a:prstGeom prst="rect">
            <a:avLst/>
          </a:prstGeom>
          <a:noFill/>
          <a:ln/>
        </p:spPr>
        <p:txBody>
          <a:bodyPr wrap="square" lIns="0" tIns="0" rIns="0" bIns="0" rtlCol="0" anchor="t"/>
          <a:lstStyle/>
          <a:p>
            <a:pPr indent="0" marL="0">
              <a:buNone/>
            </a:pPr>
            <a:r>
              <a:rPr lang="en-US" sz="1300" b="1" dirty="0">
                <a:solidFill>
                  <a:schemeClr val="tx1"/>
                </a:solidFill>
              </a:rPr>
              <a:t>The model explains the drift (measured / predicted = 1.22) and names the culprit, so every test bed carries an absolute aid.</a:t>
            </a:r>
            <a:endParaRPr lang="en-US" sz="1300" dirty="0"/>
          </a:p>
        </p:txBody>
      </p:sp>
      <p:sp>
        <p:nvSpPr>
          <p:cNvPr id="20" name="card-173"/>
          <p:cNvSpPr/>
          <p:nvPr/>
        </p:nvSpPr>
        <p:spPr>
          <a:xfrm>
            <a:off x="8229600" y="1417320"/>
            <a:ext cx="3413455" cy="4206240"/>
          </a:xfrm>
          <a:prstGeom prst="roundRect">
            <a:avLst>
              <a:gd name="adj" fmla="val 2143"/>
            </a:avLst>
          </a:prstGeom>
          <a:solidFill>
            <a:schemeClr val="bg2"/>
          </a:solidFill>
          <a:ln/>
        </p:spPr>
      </p:sp>
      <p:pic>
        <p:nvPicPr>
          <p:cNvPr id="21" name="image-174" descr="Automatic drift analysis report generated by the test console">    </p:cNvPr>
          <p:cNvPicPr>
            <a:picLocks noChangeAspect="1"/>
          </p:cNvPicPr>
          <p:nvPr/>
        </p:nvPicPr>
        <p:blipFill>
          <a:blip r:embed="rId2"/>
          <a:stretch>
            <a:fillRect/>
          </a:stretch>
        </p:blipFill>
        <p:spPr>
          <a:xfrm>
            <a:off x="8430509" y="1527048"/>
            <a:ext cx="3011638" cy="3986784"/>
          </a:xfrm>
          <a:prstGeom prst="rect">
            <a:avLst/>
          </a:prstGeom>
        </p:spPr>
      </p:pic>
      <p:sp>
        <p:nvSpPr>
          <p:cNvPr id="22" name="text-175"/>
          <p:cNvSpPr txBox="1"/>
          <p:nvPr/>
        </p:nvSpPr>
        <p:spPr>
          <a:xfrm>
            <a:off x="8229600" y="5715000"/>
            <a:ext cx="3413455" cy="548640"/>
          </a:xfrm>
          <a:prstGeom prst="rect">
            <a:avLst/>
          </a:prstGeom>
          <a:noFill/>
          <a:ln/>
        </p:spPr>
        <p:txBody>
          <a:bodyPr wrap="square" lIns="0" tIns="0" rIns="0" bIns="0" rtlCol="0" anchor="t"/>
          <a:lstStyle/>
          <a:p>
            <a:pPr indent="0" marL="0">
              <a:buNone/>
            </a:pPr>
            <a:r>
              <a:rPr lang="en-US" sz="1100" dirty="0">
                <a:solidFill>
                  <a:schemeClr val="accent4"/>
                </a:solidFill>
              </a:rPr>
              <a:t>Saiprakash's console writes this report after every recording: findings, data-quality checks, noise model, drift</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From Gaussian test noise to the phone's real noise</a:t>
            </a:r>
            <a:endParaRPr lang="en-US" sz="3000" dirty="0"/>
          </a:p>
        </p:txBody>
      </p:sp>
      <p:sp>
        <p:nvSpPr>
          <p:cNvPr id="4" name="pill-176"/>
          <p:cNvSpPr txBox="1"/>
          <p:nvPr/>
        </p:nvSpPr>
        <p:spPr>
          <a:xfrm>
            <a:off x="548640" y="987552"/>
            <a:ext cx="2763957"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Synthetic motion + measured noise</a:t>
            </a:r>
            <a:endParaRPr lang="en-US" sz="1050" dirty="0"/>
          </a:p>
        </p:txBody>
      </p:sp>
      <p:sp>
        <p:nvSpPr>
          <p:cNvPr id="5" name="pill-177"/>
          <p:cNvSpPr txBox="1"/>
          <p:nvPr/>
        </p:nvSpPr>
        <p:spPr>
          <a:xfrm>
            <a:off x="3422325" y="987552"/>
            <a:ext cx="1490838"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Rahul → Michelle</a:t>
            </a:r>
            <a:endParaRPr lang="en-US" sz="1050" dirty="0"/>
          </a:p>
        </p:txBody>
      </p:sp>
      <p:pic>
        <p:nvPicPr>
          <p:cNvPr id="6" name="image-178" descr="Allan deviation of the real phone versus the synthetic noise generator">    </p:cNvPr>
          <p:cNvPicPr>
            <a:picLocks noChangeAspect="1"/>
          </p:cNvPicPr>
          <p:nvPr/>
        </p:nvPicPr>
        <p:blipFill>
          <a:blip r:embed="rId1"/>
          <a:stretch>
            <a:fillRect/>
          </a:stretch>
        </p:blipFill>
        <p:spPr>
          <a:xfrm>
            <a:off x="548640" y="1505243"/>
            <a:ext cx="5486400" cy="2110154"/>
          </a:xfrm>
          <a:prstGeom prst="rect">
            <a:avLst/>
          </a:prstGeom>
        </p:spPr>
      </p:pic>
      <p:sp>
        <p:nvSpPr>
          <p:cNvPr id="7" name="text-179"/>
          <p:cNvSpPr txBox="1"/>
          <p:nvPr/>
        </p:nvSpPr>
        <p:spPr>
          <a:xfrm>
            <a:off x="548640" y="3661117"/>
            <a:ext cx="5486400" cy="457200"/>
          </a:xfrm>
          <a:prstGeom prst="rect">
            <a:avLst/>
          </a:prstGeom>
          <a:noFill/>
          <a:ln/>
        </p:spPr>
        <p:txBody>
          <a:bodyPr wrap="square" lIns="0" tIns="0" rIns="0" bIns="0" rtlCol="0" anchor="t"/>
          <a:lstStyle/>
          <a:p>
            <a:pPr indent="0" marL="0">
              <a:buNone/>
            </a:pPr>
            <a:r>
              <a:rPr lang="en-US" sz="1100" dirty="0">
                <a:solidFill>
                  <a:schemeClr val="accent4"/>
                </a:solidFill>
              </a:rPr>
              <a:t>Real phone (solid) vs our generator (dashed), 1 h each: within 2–4 % (gyro) and 5–9 % (accel) up to τ = 600 s</a:t>
            </a:r>
            <a:endParaRPr lang="en-US" sz="1100" dirty="0"/>
          </a:p>
        </p:txBody>
      </p:sp>
      <p:sp>
        <p:nvSpPr>
          <p:cNvPr id="8" name="card-180"/>
          <p:cNvSpPr/>
          <p:nvPr/>
        </p:nvSpPr>
        <p:spPr>
          <a:xfrm>
            <a:off x="548640" y="4343400"/>
            <a:ext cx="5486400" cy="1874520"/>
          </a:xfrm>
          <a:prstGeom prst="roundRect">
            <a:avLst>
              <a:gd name="adj" fmla="val 3902"/>
            </a:avLst>
          </a:prstGeom>
          <a:solidFill>
            <a:schemeClr val="bg2"/>
          </a:solidFill>
          <a:ln/>
        </p:spPr>
      </p:sp>
      <p:sp>
        <p:nvSpPr>
          <p:cNvPr id="9" name="text-181"/>
          <p:cNvSpPr txBox="1"/>
          <p:nvPr/>
        </p:nvSpPr>
        <p:spPr>
          <a:xfrm>
            <a:off x="731520" y="4434840"/>
            <a:ext cx="5120640" cy="320040"/>
          </a:xfrm>
          <a:prstGeom prst="rect">
            <a:avLst/>
          </a:prstGeom>
          <a:noFill/>
          <a:ln/>
        </p:spPr>
        <p:txBody>
          <a:bodyPr wrap="square" lIns="0" tIns="0" rIns="0" bIns="0" rtlCol="0" anchor="t"/>
          <a:lstStyle/>
          <a:p>
            <a:pPr indent="0" marL="0">
              <a:buNone/>
            </a:pPr>
            <a:r>
              <a:rPr lang="en-US" sz="1400" b="1" dirty="0">
                <a:solidFill>
                  <a:schemeClr val="tx1"/>
                </a:solidFill>
              </a:rPr>
              <a:t>One noise model, three users</a:t>
            </a:r>
            <a:endParaRPr lang="en-US" sz="1400" dirty="0"/>
          </a:p>
        </p:txBody>
      </p:sp>
      <p:sp>
        <p:nvSpPr>
          <p:cNvPr id="10" name="text-182"/>
          <p:cNvSpPr txBox="1"/>
          <p:nvPr/>
        </p:nvSpPr>
        <p:spPr>
          <a:xfrm>
            <a:off x="731520" y="4800600"/>
            <a:ext cx="5120640" cy="1325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Rahul's filter tests on synthetic trajectories</a:t>
            </a:r>
            <a:endParaRPr lang="en-US" sz="1300" dirty="0"/>
          </a:p>
          <a:p>
            <a:pPr marL="342900" indent="-342900">
              <a:spcAft>
                <a:spcPts val="600"/>
              </a:spcAft>
              <a:buSzPct val="100000"/>
              <a:buChar char="•"/>
            </a:pPr>
            <a:r>
              <a:rPr lang="en-US" sz="1300" dirty="0">
                <a:solidFill>
                  <a:schemeClr val="tx2"/>
                </a:solidFill>
              </a:rPr>
              <a:t>Gazebo /imu/noisy at 200 Hz: gyro σ 1.25e-3 rad/s, accel σ 0.017 m/s²</a:t>
            </a:r>
            <a:endParaRPr lang="en-US" sz="1300" dirty="0"/>
          </a:p>
          <a:p>
            <a:pPr marL="342900" indent="-342900">
              <a:spcAft>
                <a:spcPts val="600"/>
              </a:spcAft>
              <a:buSzPct val="100000"/>
              <a:buChar char="•"/>
            </a:pPr>
            <a:r>
              <a:rPr lang="en-US" sz="1300" dirty="0">
                <a:solidFill>
                  <a:schemeClr val="tx2"/>
                </a:solidFill>
              </a:rPr>
              <a:t>The ESKF's Q matrix: N² · dt, bias walk max(K², 2σ²/τ)</a:t>
            </a:r>
            <a:endParaRPr lang="en-US" sz="1300" dirty="0"/>
          </a:p>
        </p:txBody>
      </p:sp>
      <p:pic>
        <p:nvPicPr>
          <p:cNvPr id="11" name="image-183" descr="Roll, pitch and yaw from the attitude ESKF against the true values">    </p:cNvPr>
          <p:cNvPicPr>
            <a:picLocks noChangeAspect="1"/>
          </p:cNvPicPr>
          <p:nvPr/>
        </p:nvPicPr>
        <p:blipFill>
          <a:blip r:embed="rId2"/>
          <a:stretch>
            <a:fillRect/>
          </a:stretch>
        </p:blipFill>
        <p:spPr>
          <a:xfrm>
            <a:off x="6355080" y="1452552"/>
            <a:ext cx="5287975" cy="1529736"/>
          </a:xfrm>
          <a:prstGeom prst="rect">
            <a:avLst/>
          </a:prstGeom>
        </p:spPr>
      </p:pic>
      <p:sp>
        <p:nvSpPr>
          <p:cNvPr id="12" name="text-184"/>
          <p:cNvSpPr txBox="1"/>
          <p:nvPr/>
        </p:nvSpPr>
        <p:spPr>
          <a:xfrm>
            <a:off x="6355080" y="3028008"/>
            <a:ext cx="5287975" cy="274320"/>
          </a:xfrm>
          <a:prstGeom prst="rect">
            <a:avLst/>
          </a:prstGeom>
          <a:noFill/>
          <a:ln/>
        </p:spPr>
        <p:txBody>
          <a:bodyPr wrap="square" lIns="0" tIns="0" rIns="0" bIns="0" rtlCol="0" anchor="t"/>
          <a:lstStyle/>
          <a:p>
            <a:pPr indent="0" marL="0">
              <a:buNone/>
            </a:pPr>
            <a:r>
              <a:rPr lang="en-US" sz="1100" dirty="0">
                <a:solidFill>
                  <a:schemeClr val="accent4"/>
                </a:solidFill>
              </a:rPr>
              <a:t>Attitude ESKF (solid) vs truth (dashed): roll, pitch, yaw on a synthetic 5 s manoeuvre</a:t>
            </a:r>
            <a:endParaRPr lang="en-US" sz="1100" dirty="0"/>
          </a:p>
        </p:txBody>
      </p:sp>
      <p:graphicFrame>
        <p:nvGraphicFramePr>
          <p:cNvPr id="10" name="table-185"/>
          <p:cNvGraphicFramePr>
            <a:graphicFrameLocks noGrp="1"/>
          </p:cNvGraphicFramePr>
          <p:nvPr>
            <p:extLst>
              <p:ext uri="{D42A27DB-BD31-4B8C-83A1-F6EECF244321}">
                <p14:modId xmlns:p14="http://schemas.microsoft.com/office/powerpoint/2010/main" val="1579011935"/>
              </p:ext>
            </p:extLst>
          </p:nvPr>
        </p:nvGraphicFramePr>
        <p:xfrm>
          <a:off x="6355080" y="3520440"/>
          <a:ext cx="5287975" cy="914400"/>
        </p:xfrm>
        <a:graphic>
          <a:graphicData uri="http://schemas.openxmlformats.org/drawingml/2006/table">
            <a:tbl>
              <a:tblPr/>
              <a:tblGrid>
                <a:gridCol w="1188720"/>
                <a:gridCol w="2057400"/>
                <a:gridCol w="2041855"/>
              </a:tblGrid>
              <a:tr h="384048">
                <a:tc>
                  <a:txBody>
                    <a:bodyPr/>
                    <a:lstStyle/>
                    <a:p>
                      <a:pPr indent="0" marL="0">
                        <a:buNone/>
                      </a:pPr>
                      <a:r>
                        <a:rPr lang="en-US" sz="1300" b="1" dirty="0">
                          <a:solidFill>
                            <a:schemeClr val="bg1"/>
                          </a:solidFill>
                        </a:rPr>
                        <a:t>RMSE</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300" b="1" dirty="0">
                          <a:solidFill>
                            <a:schemeClr val="bg1"/>
                          </a:solidFill>
                        </a:rPr>
                        <a:t>Attitude EKF (4 states)</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c>
                  <a:txBody>
                    <a:bodyPr/>
                    <a:lstStyle/>
                    <a:p>
                      <a:pPr indent="0" marL="0">
                        <a:buNone/>
                      </a:pPr>
                      <a:r>
                        <a:rPr lang="en-US" sz="1300" b="1" dirty="0">
                          <a:solidFill>
                            <a:schemeClr val="bg1"/>
                          </a:solidFill>
                        </a:rPr>
                        <a:t>15-state ESKF</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3344D"/>
                    </a:solidFill>
                  </a:tcPr>
                </a:tc>
              </a:tr>
              <a:tr h="384048">
                <a:tc>
                  <a:txBody>
                    <a:bodyPr/>
                    <a:lstStyle/>
                    <a:p>
                      <a:pPr indent="0" marL="0">
                        <a:buNone/>
                      </a:pPr>
                      <a:r>
                        <a:rPr lang="en-US" sz="1300" b="1" dirty="0">
                          <a:solidFill>
                            <a:schemeClr val="tx1"/>
                          </a:solidFill>
                        </a:rPr>
                        <a:t>Roll</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0.38°</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0.51°</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indent="0" marL="0">
                        <a:buNone/>
                      </a:pPr>
                      <a:r>
                        <a:rPr lang="en-US" sz="1300" b="1" dirty="0">
                          <a:solidFill>
                            <a:schemeClr val="tx1"/>
                          </a:solidFill>
                        </a:rPr>
                        <a:t>Pitch</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0.35°</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0.40°</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indent="0" marL="0">
                        <a:buNone/>
                      </a:pPr>
                      <a:r>
                        <a:rPr lang="en-US" sz="1300" b="1" dirty="0">
                          <a:solidFill>
                            <a:schemeClr val="tx1"/>
                          </a:solidFill>
                        </a:rPr>
                        <a:t>Yaw</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1.12°</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1.34°</a:t>
                      </a:r>
                      <a:endParaRPr lang="en-US" sz="1300" dirty="0"/>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14" name="card-186"/>
          <p:cNvSpPr/>
          <p:nvPr/>
        </p:nvSpPr>
        <p:spPr>
          <a:xfrm>
            <a:off x="6355080" y="5257800"/>
            <a:ext cx="5287975" cy="960120"/>
          </a:xfrm>
          <a:prstGeom prst="roundRect">
            <a:avLst>
              <a:gd name="adj" fmla="val 7619"/>
            </a:avLst>
          </a:prstGeom>
          <a:solidFill>
            <a:schemeClr val="bg2"/>
          </a:solidFill>
          <a:ln/>
        </p:spPr>
      </p:sp>
      <p:sp>
        <p:nvSpPr>
          <p:cNvPr id="15" name="text-187"/>
          <p:cNvSpPr txBox="1"/>
          <p:nvPr/>
        </p:nvSpPr>
        <p:spPr>
          <a:xfrm>
            <a:off x="6537960" y="5257800"/>
            <a:ext cx="4922215" cy="960120"/>
          </a:xfrm>
          <a:prstGeom prst="rect">
            <a:avLst/>
          </a:prstGeom>
          <a:noFill/>
          <a:ln/>
        </p:spPr>
        <p:txBody>
          <a:bodyPr wrap="square" lIns="0" tIns="0" rIns="0" bIns="0" rtlCol="0" anchor="ctr"/>
          <a:lstStyle/>
          <a:p>
            <a:pPr indent="0" marL="0">
              <a:buNone/>
            </a:pPr>
            <a:r>
              <a:rPr lang="en-US" sz="1250" b="1" dirty="0">
                <a:solidFill>
                  <a:schemeClr val="accent1"/>
                </a:solidFill>
              </a:rPr>
              <a:t>Auto-tune  </a:t>
            </a:r>
            <a:pPr indent="0" marL="0">
              <a:buNone/>
            </a:pPr>
            <a:r>
              <a:rPr lang="en-US" sz="1250" dirty="0">
                <a:solidFill>
                  <a:schemeClr val="tx1"/>
                </a:solidFill>
              </a:rPr>
              <a:t>20 Q / R pairs searched against truth; best Q = 0.001, R = 1 gives 0.70° overall. The ESKF trades a little attitude for position, velocity and bias states.</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The filter: a 15-state error-state Kalman filter</a:t>
            </a:r>
            <a:endParaRPr lang="en-US" sz="3000" dirty="0"/>
          </a:p>
        </p:txBody>
      </p:sp>
      <p:sp>
        <p:nvSpPr>
          <p:cNvPr id="4" name="pill-188"/>
          <p:cNvSpPr txBox="1"/>
          <p:nvPr/>
        </p:nvSpPr>
        <p:spPr>
          <a:xfrm>
            <a:off x="548640" y="987552"/>
            <a:ext cx="2464399"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Same filter in every test bed</a:t>
            </a:r>
            <a:endParaRPr lang="en-US" sz="1050" dirty="0"/>
          </a:p>
        </p:txBody>
      </p:sp>
      <p:sp>
        <p:nvSpPr>
          <p:cNvPr id="5" name="pill-189"/>
          <p:cNvSpPr txBox="1"/>
          <p:nvPr/>
        </p:nvSpPr>
        <p:spPr>
          <a:xfrm>
            <a:off x="3122767" y="987552"/>
            <a:ext cx="2464399"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Rahul · Michelle · Saiprakash</a:t>
            </a:r>
            <a:endParaRPr lang="en-US" sz="1050" dirty="0"/>
          </a:p>
        </p:txBody>
      </p:sp>
      <p:sp>
        <p:nvSpPr>
          <p:cNvPr id="6" name="card-190"/>
          <p:cNvSpPr/>
          <p:nvPr/>
        </p:nvSpPr>
        <p:spPr>
          <a:xfrm>
            <a:off x="548640" y="1783080"/>
            <a:ext cx="1234440" cy="1143000"/>
          </a:xfrm>
          <a:prstGeom prst="roundRect">
            <a:avLst>
              <a:gd name="adj" fmla="val 6400"/>
            </a:avLst>
          </a:prstGeom>
          <a:solidFill>
            <a:schemeClr val="accent4"/>
          </a:solidFill>
          <a:ln/>
        </p:spPr>
      </p:sp>
      <p:sp>
        <p:nvSpPr>
          <p:cNvPr id="7" name="text-191"/>
          <p:cNvSpPr txBox="1"/>
          <p:nvPr/>
        </p:nvSpPr>
        <p:spPr>
          <a:xfrm>
            <a:off x="658368" y="1874520"/>
            <a:ext cx="1014984" cy="329184"/>
          </a:xfrm>
          <a:prstGeom prst="rect">
            <a:avLst/>
          </a:prstGeom>
          <a:noFill/>
          <a:ln/>
        </p:spPr>
        <p:txBody>
          <a:bodyPr wrap="square" lIns="0" tIns="0" rIns="0" bIns="0" rtlCol="0" anchor="t"/>
          <a:lstStyle/>
          <a:p>
            <a:pPr algn="ctr" indent="0" marL="0">
              <a:buNone/>
            </a:pPr>
            <a:r>
              <a:rPr lang="en-US" sz="1500" b="1" dirty="0">
                <a:solidFill>
                  <a:schemeClr val="bg1"/>
                </a:solidFill>
              </a:rPr>
              <a:t>IMU</a:t>
            </a:r>
            <a:endParaRPr lang="en-US" sz="1500" dirty="0"/>
          </a:p>
        </p:txBody>
      </p:sp>
      <p:sp>
        <p:nvSpPr>
          <p:cNvPr id="8" name="text-192"/>
          <p:cNvSpPr txBox="1"/>
          <p:nvPr/>
        </p:nvSpPr>
        <p:spPr>
          <a:xfrm>
            <a:off x="658368" y="2221992"/>
            <a:ext cx="1014984" cy="640080"/>
          </a:xfrm>
          <a:prstGeom prst="rect">
            <a:avLst/>
          </a:prstGeom>
          <a:noFill/>
          <a:ln/>
        </p:spPr>
        <p:txBody>
          <a:bodyPr wrap="square" lIns="0" tIns="0" rIns="0" bIns="0" rtlCol="0" anchor="t"/>
          <a:lstStyle/>
          <a:p>
            <a:pPr algn="ctr" indent="0" marL="0">
              <a:buNone/>
            </a:pPr>
            <a:r>
              <a:rPr lang="en-US" sz="1150" dirty="0">
                <a:solidFill>
                  <a:schemeClr val="bg1"/>
                </a:solidFill>
              </a:rPr>
              <a:t>ω, a at 200–395 Hz</a:t>
            </a:r>
            <a:endParaRPr lang="en-US" sz="1150" dirty="0"/>
          </a:p>
        </p:txBody>
      </p:sp>
      <p:sp>
        <p:nvSpPr>
          <p:cNvPr id="9" name="arrow-193"/>
          <p:cNvSpPr/>
          <p:nvPr/>
        </p:nvSpPr>
        <p:spPr>
          <a:xfrm>
            <a:off x="1819656" y="2354580"/>
            <a:ext cx="219456" cy="91"/>
          </a:xfrm>
          <a:prstGeom prst="line">
            <a:avLst/>
          </a:prstGeom>
          <a:noFill/>
          <a:ln w="22225">
            <a:solidFill>
              <a:schemeClr val="accent4"/>
            </a:solidFill>
            <a:prstDash val="solid"/>
            <a:tailEnd type="triangle"/>
          </a:ln>
        </p:spPr>
      </p:sp>
      <p:sp>
        <p:nvSpPr>
          <p:cNvPr id="10" name="card-194"/>
          <p:cNvSpPr/>
          <p:nvPr/>
        </p:nvSpPr>
        <p:spPr>
          <a:xfrm>
            <a:off x="2075688" y="1783080"/>
            <a:ext cx="2057400" cy="1143000"/>
          </a:xfrm>
          <a:prstGeom prst="roundRect">
            <a:avLst>
              <a:gd name="adj" fmla="val 6400"/>
            </a:avLst>
          </a:prstGeom>
          <a:solidFill>
            <a:schemeClr val="tx2"/>
          </a:solidFill>
          <a:ln/>
        </p:spPr>
      </p:sp>
      <p:sp>
        <p:nvSpPr>
          <p:cNvPr id="11" name="text-195"/>
          <p:cNvSpPr txBox="1"/>
          <p:nvPr/>
        </p:nvSpPr>
        <p:spPr>
          <a:xfrm>
            <a:off x="2185416" y="1874520"/>
            <a:ext cx="1837944" cy="329184"/>
          </a:xfrm>
          <a:prstGeom prst="rect">
            <a:avLst/>
          </a:prstGeom>
          <a:noFill/>
          <a:ln/>
        </p:spPr>
        <p:txBody>
          <a:bodyPr wrap="square" lIns="0" tIns="0" rIns="0" bIns="0" rtlCol="0" anchor="t"/>
          <a:lstStyle/>
          <a:p>
            <a:pPr algn="ctr" indent="0" marL="0">
              <a:buNone/>
            </a:pPr>
            <a:r>
              <a:rPr lang="en-US" sz="1500" b="1" dirty="0">
                <a:solidFill>
                  <a:schemeClr val="bg1"/>
                </a:solidFill>
              </a:rPr>
              <a:t>Predict</a:t>
            </a:r>
            <a:endParaRPr lang="en-US" sz="1500" dirty="0"/>
          </a:p>
        </p:txBody>
      </p:sp>
      <p:sp>
        <p:nvSpPr>
          <p:cNvPr id="12" name="text-196"/>
          <p:cNvSpPr txBox="1"/>
          <p:nvPr/>
        </p:nvSpPr>
        <p:spPr>
          <a:xfrm>
            <a:off x="2185416" y="2221992"/>
            <a:ext cx="1837944" cy="640080"/>
          </a:xfrm>
          <a:prstGeom prst="rect">
            <a:avLst/>
          </a:prstGeom>
          <a:noFill/>
          <a:ln/>
        </p:spPr>
        <p:txBody>
          <a:bodyPr wrap="square" lIns="0" tIns="0" rIns="0" bIns="0" rtlCol="0" anchor="t"/>
          <a:lstStyle/>
          <a:p>
            <a:pPr algn="ctr" indent="0" marL="0">
              <a:buNone/>
            </a:pPr>
            <a:r>
              <a:rPr lang="en-US" sz="1150" dirty="0">
                <a:solidFill>
                  <a:schemeClr val="bg1"/>
                </a:solidFill>
              </a:rPr>
              <a:t>strapdown p, v, q</a:t>
            </a:r>
            <a:endParaRPr lang="en-US" sz="1150" dirty="0"/>
          </a:p>
          <a:p>
            <a:pPr algn="ctr" indent="0" marL="0">
              <a:buNone/>
            </a:pPr>
            <a:r>
              <a:rPr lang="en-US" sz="1150" dirty="0">
                <a:solidFill>
                  <a:schemeClr val="bg1"/>
                </a:solidFill>
              </a:rPr>
              <a:t>P ← F P Fᵀ + Q</a:t>
            </a:r>
            <a:endParaRPr lang="en-US" sz="1150" dirty="0"/>
          </a:p>
        </p:txBody>
      </p:sp>
      <p:sp>
        <p:nvSpPr>
          <p:cNvPr id="13" name="arrow-197"/>
          <p:cNvSpPr/>
          <p:nvPr/>
        </p:nvSpPr>
        <p:spPr>
          <a:xfrm>
            <a:off x="4169664" y="2354580"/>
            <a:ext cx="219456" cy="91"/>
          </a:xfrm>
          <a:prstGeom prst="line">
            <a:avLst/>
          </a:prstGeom>
          <a:noFill/>
          <a:ln w="22225">
            <a:solidFill>
              <a:schemeClr val="accent4"/>
            </a:solidFill>
            <a:prstDash val="solid"/>
            <a:tailEnd type="triangle"/>
          </a:ln>
        </p:spPr>
      </p:sp>
      <p:sp>
        <p:nvSpPr>
          <p:cNvPr id="14" name="card-198"/>
          <p:cNvSpPr/>
          <p:nvPr/>
        </p:nvSpPr>
        <p:spPr>
          <a:xfrm>
            <a:off x="4425696" y="1783080"/>
            <a:ext cx="1828800" cy="1143000"/>
          </a:xfrm>
          <a:prstGeom prst="roundRect">
            <a:avLst>
              <a:gd name="adj" fmla="val 6400"/>
            </a:avLst>
          </a:prstGeom>
          <a:solidFill>
            <a:schemeClr val="accent1"/>
          </a:solidFill>
          <a:ln/>
        </p:spPr>
      </p:sp>
      <p:sp>
        <p:nvSpPr>
          <p:cNvPr id="15" name="text-199"/>
          <p:cNvSpPr txBox="1"/>
          <p:nvPr/>
        </p:nvSpPr>
        <p:spPr>
          <a:xfrm>
            <a:off x="4535424" y="1874520"/>
            <a:ext cx="1609344" cy="329184"/>
          </a:xfrm>
          <a:prstGeom prst="rect">
            <a:avLst/>
          </a:prstGeom>
          <a:noFill/>
          <a:ln/>
        </p:spPr>
        <p:txBody>
          <a:bodyPr wrap="square" lIns="0" tIns="0" rIns="0" bIns="0" rtlCol="0" anchor="t"/>
          <a:lstStyle/>
          <a:p>
            <a:pPr algn="ctr" indent="0" marL="0">
              <a:buNone/>
            </a:pPr>
            <a:r>
              <a:rPr lang="en-US" sz="1500" b="1" dirty="0">
                <a:solidFill>
                  <a:schemeClr val="bg1"/>
                </a:solidFill>
              </a:rPr>
              <a:t>Update</a:t>
            </a:r>
            <a:endParaRPr lang="en-US" sz="1500" dirty="0"/>
          </a:p>
        </p:txBody>
      </p:sp>
      <p:sp>
        <p:nvSpPr>
          <p:cNvPr id="16" name="text-200"/>
          <p:cNvSpPr txBox="1"/>
          <p:nvPr/>
        </p:nvSpPr>
        <p:spPr>
          <a:xfrm>
            <a:off x="4535424" y="2221992"/>
            <a:ext cx="1609344" cy="640080"/>
          </a:xfrm>
          <a:prstGeom prst="rect">
            <a:avLst/>
          </a:prstGeom>
          <a:noFill/>
          <a:ln/>
        </p:spPr>
        <p:txBody>
          <a:bodyPr wrap="square" lIns="0" tIns="0" rIns="0" bIns="0" rtlCol="0" anchor="t"/>
          <a:lstStyle/>
          <a:p>
            <a:pPr algn="ctr" indent="0" marL="0">
              <a:buNone/>
            </a:pPr>
            <a:r>
              <a:rPr lang="en-US" sz="1150" dirty="0">
                <a:solidFill>
                  <a:schemeClr val="bg1"/>
                </a:solidFill>
              </a:rPr>
              <a:t>K = P Hᵀ S⁻¹</a:t>
            </a:r>
            <a:endParaRPr lang="en-US" sz="1150" dirty="0"/>
          </a:p>
          <a:p>
            <a:pPr algn="ctr" indent="0" marL="0">
              <a:buNone/>
            </a:pPr>
            <a:r>
              <a:rPr lang="en-US" sz="1150" dirty="0">
                <a:solidFill>
                  <a:schemeClr val="bg1"/>
                </a:solidFill>
              </a:rPr>
              <a:t>χ² gate on every fix</a:t>
            </a:r>
            <a:endParaRPr lang="en-US" sz="1150" dirty="0"/>
          </a:p>
        </p:txBody>
      </p:sp>
      <p:sp>
        <p:nvSpPr>
          <p:cNvPr id="17" name="arrow-201"/>
          <p:cNvSpPr/>
          <p:nvPr/>
        </p:nvSpPr>
        <p:spPr>
          <a:xfrm>
            <a:off x="6291072" y="2354580"/>
            <a:ext cx="219456" cy="91"/>
          </a:xfrm>
          <a:prstGeom prst="line">
            <a:avLst/>
          </a:prstGeom>
          <a:noFill/>
          <a:ln w="22225">
            <a:solidFill>
              <a:schemeClr val="accent4"/>
            </a:solidFill>
            <a:prstDash val="solid"/>
            <a:tailEnd type="triangle"/>
          </a:ln>
        </p:spPr>
      </p:sp>
      <p:sp>
        <p:nvSpPr>
          <p:cNvPr id="18" name="card-202"/>
          <p:cNvSpPr/>
          <p:nvPr/>
        </p:nvSpPr>
        <p:spPr>
          <a:xfrm>
            <a:off x="6547104" y="1783080"/>
            <a:ext cx="1600200" cy="1143000"/>
          </a:xfrm>
          <a:prstGeom prst="roundRect">
            <a:avLst>
              <a:gd name="adj" fmla="val 6400"/>
            </a:avLst>
          </a:prstGeom>
          <a:solidFill>
            <a:schemeClr val="tx2"/>
          </a:solidFill>
          <a:ln/>
        </p:spPr>
      </p:sp>
      <p:sp>
        <p:nvSpPr>
          <p:cNvPr id="19" name="text-203"/>
          <p:cNvSpPr txBox="1"/>
          <p:nvPr/>
        </p:nvSpPr>
        <p:spPr>
          <a:xfrm>
            <a:off x="6656832" y="1874520"/>
            <a:ext cx="1380744" cy="329184"/>
          </a:xfrm>
          <a:prstGeom prst="rect">
            <a:avLst/>
          </a:prstGeom>
          <a:noFill/>
          <a:ln/>
        </p:spPr>
        <p:txBody>
          <a:bodyPr wrap="square" lIns="0" tIns="0" rIns="0" bIns="0" rtlCol="0" anchor="t"/>
          <a:lstStyle/>
          <a:p>
            <a:pPr algn="ctr" indent="0" marL="0">
              <a:buNone/>
            </a:pPr>
            <a:r>
              <a:rPr lang="en-US" sz="1500" b="1" dirty="0">
                <a:solidFill>
                  <a:schemeClr val="bg1"/>
                </a:solidFill>
              </a:rPr>
              <a:t>Inject</a:t>
            </a:r>
            <a:endParaRPr lang="en-US" sz="1500" dirty="0"/>
          </a:p>
        </p:txBody>
      </p:sp>
      <p:sp>
        <p:nvSpPr>
          <p:cNvPr id="20" name="text-204"/>
          <p:cNvSpPr txBox="1"/>
          <p:nvPr/>
        </p:nvSpPr>
        <p:spPr>
          <a:xfrm>
            <a:off x="6656832" y="2221992"/>
            <a:ext cx="1380744" cy="640080"/>
          </a:xfrm>
          <a:prstGeom prst="rect">
            <a:avLst/>
          </a:prstGeom>
          <a:noFill/>
          <a:ln/>
        </p:spPr>
        <p:txBody>
          <a:bodyPr wrap="square" lIns="0" tIns="0" rIns="0" bIns="0" rtlCol="0" anchor="t"/>
          <a:lstStyle/>
          <a:p>
            <a:pPr algn="ctr" indent="0" marL="0">
              <a:buNone/>
            </a:pPr>
            <a:r>
              <a:rPr lang="en-US" sz="1150" dirty="0">
                <a:solidFill>
                  <a:schemeClr val="bg1"/>
                </a:solidFill>
              </a:rPr>
              <a:t>x ← x ⊕ δx</a:t>
            </a:r>
            <a:endParaRPr lang="en-US" sz="1150" dirty="0"/>
          </a:p>
          <a:p>
            <a:pPr algn="ctr" indent="0" marL="0">
              <a:buNone/>
            </a:pPr>
            <a:r>
              <a:rPr lang="en-US" sz="1150" dirty="0">
                <a:solidFill>
                  <a:schemeClr val="bg1"/>
                </a:solidFill>
              </a:rPr>
              <a:t>reset δx = 0</a:t>
            </a:r>
            <a:endParaRPr lang="en-US" sz="1150" dirty="0"/>
          </a:p>
        </p:txBody>
      </p:sp>
      <p:sp>
        <p:nvSpPr>
          <p:cNvPr id="21" name="arrow-205"/>
          <p:cNvSpPr/>
          <p:nvPr/>
        </p:nvSpPr>
        <p:spPr>
          <a:xfrm flipV="1">
            <a:off x="7347204" y="1517904"/>
            <a:ext cx="91" cy="265176"/>
          </a:xfrm>
          <a:prstGeom prst="line">
            <a:avLst/>
          </a:prstGeom>
          <a:noFill/>
          <a:ln w="22225">
            <a:solidFill>
              <a:schemeClr val="accent4"/>
            </a:solidFill>
            <a:prstDash val="solid"/>
          </a:ln>
        </p:spPr>
      </p:sp>
      <p:sp>
        <p:nvSpPr>
          <p:cNvPr id="22" name="arrow-206"/>
          <p:cNvSpPr/>
          <p:nvPr/>
        </p:nvSpPr>
        <p:spPr>
          <a:xfrm flipH="1">
            <a:off x="3104388" y="1517904"/>
            <a:ext cx="4242816" cy="91"/>
          </a:xfrm>
          <a:prstGeom prst="line">
            <a:avLst/>
          </a:prstGeom>
          <a:noFill/>
          <a:ln w="22225">
            <a:solidFill>
              <a:schemeClr val="accent4"/>
            </a:solidFill>
            <a:prstDash val="solid"/>
          </a:ln>
        </p:spPr>
      </p:sp>
      <p:sp>
        <p:nvSpPr>
          <p:cNvPr id="23" name="arrow-207"/>
          <p:cNvSpPr/>
          <p:nvPr/>
        </p:nvSpPr>
        <p:spPr>
          <a:xfrm>
            <a:off x="3104388" y="1517904"/>
            <a:ext cx="91" cy="246888"/>
          </a:xfrm>
          <a:prstGeom prst="line">
            <a:avLst/>
          </a:prstGeom>
          <a:noFill/>
          <a:ln w="22225">
            <a:solidFill>
              <a:schemeClr val="accent4"/>
            </a:solidFill>
            <a:prstDash val="solid"/>
            <a:tailEnd type="triangle"/>
          </a:ln>
        </p:spPr>
      </p:sp>
      <p:sp>
        <p:nvSpPr>
          <p:cNvPr id="24" name="text-208"/>
          <p:cNvSpPr txBox="1"/>
          <p:nvPr/>
        </p:nvSpPr>
        <p:spPr>
          <a:xfrm>
            <a:off x="3241548" y="1545336"/>
            <a:ext cx="1828800" cy="219456"/>
          </a:xfrm>
          <a:prstGeom prst="rect">
            <a:avLst/>
          </a:prstGeom>
          <a:noFill/>
          <a:ln/>
        </p:spPr>
        <p:txBody>
          <a:bodyPr wrap="square" lIns="0" tIns="0" rIns="0" bIns="0" rtlCol="0" anchor="t"/>
          <a:lstStyle/>
          <a:p>
            <a:pPr indent="0" marL="0">
              <a:buNone/>
            </a:pPr>
            <a:r>
              <a:rPr lang="en-US" sz="1000" dirty="0">
                <a:solidFill>
                  <a:schemeClr val="accent4"/>
                </a:solidFill>
              </a:rPr>
              <a:t>next IMU sample</a:t>
            </a:r>
            <a:endParaRPr lang="en-US" sz="1000" dirty="0"/>
          </a:p>
        </p:txBody>
      </p:sp>
      <p:sp>
        <p:nvSpPr>
          <p:cNvPr id="25" name="card-209"/>
          <p:cNvSpPr/>
          <p:nvPr/>
        </p:nvSpPr>
        <p:spPr>
          <a:xfrm>
            <a:off x="548640" y="3657600"/>
            <a:ext cx="2377440" cy="1188720"/>
          </a:xfrm>
          <a:prstGeom prst="roundRect">
            <a:avLst>
              <a:gd name="adj" fmla="val 6154"/>
            </a:avLst>
          </a:prstGeom>
          <a:solidFill>
            <a:schemeClr val="bg2"/>
          </a:solidFill>
          <a:ln w="15875">
            <a:solidFill>
              <a:srgbClr val="F28C28"/>
            </a:solidFill>
            <a:prstDash val="solid"/>
          </a:ln>
        </p:spPr>
      </p:sp>
      <p:sp>
        <p:nvSpPr>
          <p:cNvPr id="26" name="text-210"/>
          <p:cNvSpPr txBox="1"/>
          <p:nvPr/>
        </p:nvSpPr>
        <p:spPr>
          <a:xfrm>
            <a:off x="685800" y="3749040"/>
            <a:ext cx="2103120" cy="292608"/>
          </a:xfrm>
          <a:prstGeom prst="rect">
            <a:avLst/>
          </a:prstGeom>
          <a:noFill/>
          <a:ln/>
        </p:spPr>
        <p:txBody>
          <a:bodyPr wrap="square" lIns="0" tIns="0" rIns="0" bIns="0" rtlCol="0" anchor="t"/>
          <a:lstStyle/>
          <a:p>
            <a:pPr indent="0" marL="0">
              <a:buNone/>
            </a:pPr>
            <a:r>
              <a:rPr lang="en-US" sz="1400" b="1" dirty="0">
                <a:solidFill>
                  <a:schemeClr val="accent2"/>
                </a:solidFill>
              </a:rPr>
              <a:t>UWB ranges</a:t>
            </a:r>
            <a:endParaRPr lang="en-US" sz="1400" dirty="0"/>
          </a:p>
        </p:txBody>
      </p:sp>
      <p:sp>
        <p:nvSpPr>
          <p:cNvPr id="27" name="text-211"/>
          <p:cNvSpPr txBox="1"/>
          <p:nvPr/>
        </p:nvSpPr>
        <p:spPr>
          <a:xfrm>
            <a:off x="685800" y="4041648"/>
            <a:ext cx="2103120" cy="457200"/>
          </a:xfrm>
          <a:prstGeom prst="rect">
            <a:avLst/>
          </a:prstGeom>
          <a:noFill/>
          <a:ln/>
        </p:spPr>
        <p:txBody>
          <a:bodyPr wrap="square" lIns="0" tIns="0" rIns="0" bIns="0" rtlCol="0" anchor="t"/>
          <a:lstStyle/>
          <a:p>
            <a:pPr indent="0" marL="0">
              <a:buNone/>
            </a:pPr>
            <a:r>
              <a:rPr lang="en-US" sz="1150" dirty="0">
                <a:solidFill>
                  <a:schemeClr val="tx1"/>
                </a:solidFill>
              </a:rPr>
              <a:t>one scalar update per anchor, NIS gate</a:t>
            </a:r>
            <a:endParaRPr lang="en-US" sz="1150" dirty="0"/>
          </a:p>
        </p:txBody>
      </p:sp>
      <p:sp>
        <p:nvSpPr>
          <p:cNvPr id="28" name="text-212"/>
          <p:cNvSpPr txBox="1"/>
          <p:nvPr/>
        </p:nvSpPr>
        <p:spPr>
          <a:xfrm>
            <a:off x="685800" y="4526280"/>
            <a:ext cx="2103120" cy="237744"/>
          </a:xfrm>
          <a:prstGeom prst="rect">
            <a:avLst/>
          </a:prstGeom>
          <a:noFill/>
          <a:ln/>
        </p:spPr>
        <p:txBody>
          <a:bodyPr wrap="square" lIns="0" tIns="0" rIns="0" bIns="0" rtlCol="0" anchor="t"/>
          <a:lstStyle/>
          <a:p>
            <a:pPr indent="0" marL="0">
              <a:buNone/>
            </a:pPr>
            <a:r>
              <a:rPr lang="en-US" sz="1050" i="1" dirty="0">
                <a:solidFill>
                  <a:schemeClr val="accent4"/>
                </a:solidFill>
              </a:rPr>
              <a:t>Gazebo · i-ASL</a:t>
            </a:r>
            <a:endParaRPr lang="en-US" sz="1050" dirty="0"/>
          </a:p>
        </p:txBody>
      </p:sp>
      <p:sp>
        <p:nvSpPr>
          <p:cNvPr id="29" name="arrow-213"/>
          <p:cNvSpPr/>
          <p:nvPr/>
        </p:nvSpPr>
        <p:spPr>
          <a:xfrm flipV="1">
            <a:off x="1737360" y="2953512"/>
            <a:ext cx="3191256" cy="685800"/>
          </a:xfrm>
          <a:prstGeom prst="line">
            <a:avLst/>
          </a:prstGeom>
          <a:noFill/>
          <a:ln w="22225">
            <a:solidFill>
              <a:schemeClr val="accent2"/>
            </a:solidFill>
            <a:prstDash val="solid"/>
            <a:tailEnd type="triangle"/>
          </a:ln>
        </p:spPr>
      </p:sp>
      <p:sp>
        <p:nvSpPr>
          <p:cNvPr id="30" name="card-214"/>
          <p:cNvSpPr/>
          <p:nvPr/>
        </p:nvSpPr>
        <p:spPr>
          <a:xfrm>
            <a:off x="3159252" y="3657600"/>
            <a:ext cx="2377440" cy="1188720"/>
          </a:xfrm>
          <a:prstGeom prst="roundRect">
            <a:avLst>
              <a:gd name="adj" fmla="val 6154"/>
            </a:avLst>
          </a:prstGeom>
          <a:solidFill>
            <a:schemeClr val="bg2"/>
          </a:solidFill>
          <a:ln w="15875">
            <a:solidFill>
              <a:srgbClr val="F28C28"/>
            </a:solidFill>
            <a:prstDash val="solid"/>
          </a:ln>
        </p:spPr>
      </p:sp>
      <p:sp>
        <p:nvSpPr>
          <p:cNvPr id="31" name="text-215"/>
          <p:cNvSpPr txBox="1"/>
          <p:nvPr/>
        </p:nvSpPr>
        <p:spPr>
          <a:xfrm>
            <a:off x="3296412" y="3749040"/>
            <a:ext cx="2103120" cy="292608"/>
          </a:xfrm>
          <a:prstGeom prst="rect">
            <a:avLst/>
          </a:prstGeom>
          <a:noFill/>
          <a:ln/>
        </p:spPr>
        <p:txBody>
          <a:bodyPr wrap="square" lIns="0" tIns="0" rIns="0" bIns="0" rtlCol="0" anchor="t"/>
          <a:lstStyle/>
          <a:p>
            <a:pPr indent="0" marL="0">
              <a:buNone/>
            </a:pPr>
            <a:r>
              <a:rPr lang="en-US" sz="1400" b="1" dirty="0">
                <a:solidFill>
                  <a:schemeClr val="accent2"/>
                </a:solidFill>
              </a:rPr>
              <a:t>AprilTag pose</a:t>
            </a:r>
            <a:endParaRPr lang="en-US" sz="1400" dirty="0"/>
          </a:p>
        </p:txBody>
      </p:sp>
      <p:sp>
        <p:nvSpPr>
          <p:cNvPr id="32" name="text-216"/>
          <p:cNvSpPr txBox="1"/>
          <p:nvPr/>
        </p:nvSpPr>
        <p:spPr>
          <a:xfrm>
            <a:off x="3296412" y="4041648"/>
            <a:ext cx="2103120" cy="457200"/>
          </a:xfrm>
          <a:prstGeom prst="rect">
            <a:avLst/>
          </a:prstGeom>
          <a:noFill/>
          <a:ln/>
        </p:spPr>
        <p:txBody>
          <a:bodyPr wrap="square" lIns="0" tIns="0" rIns="0" bIns="0" rtlCol="0" anchor="t"/>
          <a:lstStyle/>
          <a:p>
            <a:pPr indent="0" marL="0">
              <a:buNone/>
            </a:pPr>
            <a:r>
              <a:rPr lang="en-US" sz="1150" dirty="0">
                <a:solidFill>
                  <a:schemeClr val="tx1"/>
                </a:solidFill>
              </a:rPr>
              <a:t>position + yaw, χ² gate, restart after 5 rejects</a:t>
            </a:r>
            <a:endParaRPr lang="en-US" sz="1150" dirty="0"/>
          </a:p>
        </p:txBody>
      </p:sp>
      <p:sp>
        <p:nvSpPr>
          <p:cNvPr id="33" name="text-217"/>
          <p:cNvSpPr txBox="1"/>
          <p:nvPr/>
        </p:nvSpPr>
        <p:spPr>
          <a:xfrm>
            <a:off x="3296412" y="4526280"/>
            <a:ext cx="2103120" cy="237744"/>
          </a:xfrm>
          <a:prstGeom prst="rect">
            <a:avLst/>
          </a:prstGeom>
          <a:noFill/>
          <a:ln/>
        </p:spPr>
        <p:txBody>
          <a:bodyPr wrap="square" lIns="0" tIns="0" rIns="0" bIns="0" rtlCol="0" anchor="t"/>
          <a:lstStyle/>
          <a:p>
            <a:pPr indent="0" marL="0">
              <a:buNone/>
            </a:pPr>
            <a:r>
              <a:rPr lang="en-US" sz="1050" i="1" dirty="0">
                <a:solidFill>
                  <a:schemeClr val="accent4"/>
                </a:solidFill>
              </a:rPr>
              <a:t>real walk</a:t>
            </a:r>
            <a:endParaRPr lang="en-US" sz="1050" dirty="0"/>
          </a:p>
        </p:txBody>
      </p:sp>
      <p:sp>
        <p:nvSpPr>
          <p:cNvPr id="34" name="arrow-218"/>
          <p:cNvSpPr/>
          <p:nvPr/>
        </p:nvSpPr>
        <p:spPr>
          <a:xfrm flipV="1">
            <a:off x="4347972" y="2953512"/>
            <a:ext cx="992124" cy="685800"/>
          </a:xfrm>
          <a:prstGeom prst="line">
            <a:avLst/>
          </a:prstGeom>
          <a:noFill/>
          <a:ln w="22225">
            <a:solidFill>
              <a:schemeClr val="accent2"/>
            </a:solidFill>
            <a:prstDash val="solid"/>
            <a:tailEnd type="triangle"/>
          </a:ln>
        </p:spPr>
      </p:sp>
      <p:sp>
        <p:nvSpPr>
          <p:cNvPr id="35" name="card-219"/>
          <p:cNvSpPr/>
          <p:nvPr/>
        </p:nvSpPr>
        <p:spPr>
          <a:xfrm>
            <a:off x="5769864" y="3657600"/>
            <a:ext cx="2377440" cy="1188720"/>
          </a:xfrm>
          <a:prstGeom prst="roundRect">
            <a:avLst>
              <a:gd name="adj" fmla="val 6154"/>
            </a:avLst>
          </a:prstGeom>
          <a:solidFill>
            <a:schemeClr val="bg2"/>
          </a:solidFill>
          <a:ln w="15875">
            <a:solidFill>
              <a:srgbClr val="F28C28"/>
            </a:solidFill>
            <a:prstDash val="solid"/>
          </a:ln>
        </p:spPr>
      </p:sp>
      <p:sp>
        <p:nvSpPr>
          <p:cNvPr id="36" name="text-220"/>
          <p:cNvSpPr txBox="1"/>
          <p:nvPr/>
        </p:nvSpPr>
        <p:spPr>
          <a:xfrm>
            <a:off x="5907024" y="3749040"/>
            <a:ext cx="2103120" cy="292608"/>
          </a:xfrm>
          <a:prstGeom prst="rect">
            <a:avLst/>
          </a:prstGeom>
          <a:noFill/>
          <a:ln/>
        </p:spPr>
        <p:txBody>
          <a:bodyPr wrap="square" lIns="0" tIns="0" rIns="0" bIns="0" rtlCol="0" anchor="t"/>
          <a:lstStyle/>
          <a:p>
            <a:pPr indent="0" marL="0">
              <a:buNone/>
            </a:pPr>
            <a:r>
              <a:rPr lang="en-US" sz="1400" b="1" dirty="0">
                <a:solidFill>
                  <a:schemeClr val="accent2"/>
                </a:solidFill>
              </a:rPr>
              <a:t>Gravity</a:t>
            </a:r>
            <a:endParaRPr lang="en-US" sz="1400" dirty="0"/>
          </a:p>
        </p:txBody>
      </p:sp>
      <p:sp>
        <p:nvSpPr>
          <p:cNvPr id="37" name="text-221"/>
          <p:cNvSpPr txBox="1"/>
          <p:nvPr/>
        </p:nvSpPr>
        <p:spPr>
          <a:xfrm>
            <a:off x="5907024" y="4041648"/>
            <a:ext cx="2103120" cy="457200"/>
          </a:xfrm>
          <a:prstGeom prst="rect">
            <a:avLst/>
          </a:prstGeom>
          <a:noFill/>
          <a:ln/>
        </p:spPr>
        <p:txBody>
          <a:bodyPr wrap="square" lIns="0" tIns="0" rIns="0" bIns="0" rtlCol="0" anchor="t"/>
          <a:lstStyle/>
          <a:p>
            <a:pPr indent="0" marL="0">
              <a:buNone/>
            </a:pPr>
            <a:r>
              <a:rPr lang="en-US" sz="1150" dirty="0">
                <a:solidFill>
                  <a:schemeClr val="tx1"/>
                </a:solidFill>
              </a:rPr>
              <a:t>roll + pitch from the accelerometer</a:t>
            </a:r>
            <a:endParaRPr lang="en-US" sz="1150" dirty="0"/>
          </a:p>
        </p:txBody>
      </p:sp>
      <p:sp>
        <p:nvSpPr>
          <p:cNvPr id="38" name="text-222"/>
          <p:cNvSpPr txBox="1"/>
          <p:nvPr/>
        </p:nvSpPr>
        <p:spPr>
          <a:xfrm>
            <a:off x="5907024" y="4526280"/>
            <a:ext cx="2103120" cy="237744"/>
          </a:xfrm>
          <a:prstGeom prst="rect">
            <a:avLst/>
          </a:prstGeom>
          <a:noFill/>
          <a:ln/>
        </p:spPr>
        <p:txBody>
          <a:bodyPr wrap="square" lIns="0" tIns="0" rIns="0" bIns="0" rtlCol="0" anchor="t"/>
          <a:lstStyle/>
          <a:p>
            <a:pPr indent="0" marL="0">
              <a:buNone/>
            </a:pPr>
            <a:r>
              <a:rPr lang="en-US" sz="1050" i="1" dirty="0">
                <a:solidFill>
                  <a:schemeClr val="accent4"/>
                </a:solidFill>
              </a:rPr>
              <a:t>all test beds</a:t>
            </a:r>
            <a:endParaRPr lang="en-US" sz="1050" dirty="0"/>
          </a:p>
        </p:txBody>
      </p:sp>
      <p:sp>
        <p:nvSpPr>
          <p:cNvPr id="39" name="arrow-223"/>
          <p:cNvSpPr/>
          <p:nvPr/>
        </p:nvSpPr>
        <p:spPr>
          <a:xfrm flipH="1" flipV="1">
            <a:off x="5751576" y="2953512"/>
            <a:ext cx="1207008" cy="685800"/>
          </a:xfrm>
          <a:prstGeom prst="line">
            <a:avLst/>
          </a:prstGeom>
          <a:noFill/>
          <a:ln w="22225">
            <a:solidFill>
              <a:schemeClr val="accent2"/>
            </a:solidFill>
            <a:prstDash val="solid"/>
            <a:tailEnd type="triangle"/>
          </a:ln>
        </p:spPr>
      </p:sp>
      <p:sp>
        <p:nvSpPr>
          <p:cNvPr id="40" name="card-224"/>
          <p:cNvSpPr/>
          <p:nvPr/>
        </p:nvSpPr>
        <p:spPr>
          <a:xfrm>
            <a:off x="548640" y="5074920"/>
            <a:ext cx="7598664" cy="1143000"/>
          </a:xfrm>
          <a:prstGeom prst="roundRect">
            <a:avLst>
              <a:gd name="adj" fmla="val 6400"/>
            </a:avLst>
          </a:prstGeom>
          <a:solidFill>
            <a:schemeClr val="bg2"/>
          </a:solidFill>
          <a:ln/>
        </p:spPr>
      </p:sp>
      <p:sp>
        <p:nvSpPr>
          <p:cNvPr id="41" name="text-225"/>
          <p:cNvSpPr txBox="1"/>
          <p:nvPr/>
        </p:nvSpPr>
        <p:spPr>
          <a:xfrm>
            <a:off x="731520" y="5074920"/>
            <a:ext cx="7232904" cy="1143000"/>
          </a:xfrm>
          <a:prstGeom prst="rect">
            <a:avLst/>
          </a:prstGeom>
          <a:noFill/>
          <a:ln/>
        </p:spPr>
        <p:txBody>
          <a:bodyPr wrap="square" lIns="0" tIns="0" rIns="0" bIns="0" rtlCol="0" anchor="ctr"/>
          <a:lstStyle/>
          <a:p>
            <a:pPr indent="0" marL="0">
              <a:buNone/>
            </a:pPr>
            <a:r>
              <a:rPr lang="en-US" sz="1300" b="1" dirty="0">
                <a:solidFill>
                  <a:schemeClr val="accent1"/>
                </a:solidFill>
              </a:rPr>
              <a:t>Error state  </a:t>
            </a:r>
            <a:pPr indent="0" marL="0">
              <a:buNone/>
            </a:pPr>
            <a:r>
              <a:rPr lang="en-US" sz="1300" dirty="0">
                <a:solidFill>
                  <a:schemeClr val="tx1"/>
                </a:solidFill>
              </a:rPr>
              <a:t>δp, δv, δθ, δb</a:t>
            </a:r>
            <a:pPr indent="0" marL="0">
              <a:buNone/>
            </a:pPr>
            <a:r>
              <a:rPr lang="en-US" sz="1300" baseline="-40000" dirty="0">
                <a:solidFill>
                  <a:schemeClr val="tx1"/>
                </a:solidFill>
              </a:rPr>
              <a:t>a</a:t>
            </a:r>
            <a:pPr indent="0" marL="0">
              <a:buNone/>
            </a:pPr>
            <a:r>
              <a:rPr lang="en-US" sz="1300" dirty="0">
                <a:solidFill>
                  <a:schemeClr val="tx1"/>
                </a:solidFill>
              </a:rPr>
              <a:t>, δb</a:t>
            </a:r>
            <a:pPr indent="0" marL="0">
              <a:buNone/>
            </a:pPr>
            <a:r>
              <a:rPr lang="en-US" sz="1300" baseline="-40000" dirty="0">
                <a:solidFill>
                  <a:schemeClr val="tx1"/>
                </a:solidFill>
              </a:rPr>
              <a:t>g</a:t>
            </a:r>
            <a:pPr indent="0" marL="0">
              <a:buNone/>
            </a:pPr>
            <a:r>
              <a:rPr lang="en-US" sz="1300" dirty="0">
                <a:solidFill>
                  <a:schemeClr val="tx1"/>
                </a:solidFill>
              </a:rPr>
              <a:t> (15 states). </a:t>
            </a:r>
            <a:pPr indent="0" marL="0">
              <a:buNone/>
            </a:pPr>
            <a:r>
              <a:rPr lang="en-US" sz="1300" b="1" dirty="0">
                <a:solidFill>
                  <a:schemeClr val="accent1"/>
                </a:solidFill>
              </a:rPr>
              <a:t>Q from the Allan fit  </a:t>
            </a:r>
            <a:pPr indent="0" marL="0">
              <a:buNone/>
            </a:pPr>
            <a:r>
              <a:rPr lang="en-US" sz="1300" dirty="0">
                <a:solidFill>
                  <a:schemeClr val="tx1"/>
                </a:solidFill>
              </a:rPr>
              <a:t>white noise N² · dt; bias random walk max(K², 2σ²/τ), so the filter is never more sure of the bias than the sensor allows.</a:t>
            </a:r>
            <a:endParaRPr lang="en-US" sz="1300" dirty="0"/>
          </a:p>
        </p:txBody>
      </p:sp>
      <p:sp>
        <p:nvSpPr>
          <p:cNvPr id="42" name="text-226"/>
          <p:cNvSpPr txBox="1"/>
          <p:nvPr/>
        </p:nvSpPr>
        <p:spPr>
          <a:xfrm>
            <a:off x="8503920" y="1463040"/>
            <a:ext cx="3139135" cy="365760"/>
          </a:xfrm>
          <a:prstGeom prst="rect">
            <a:avLst/>
          </a:prstGeom>
          <a:noFill/>
          <a:ln/>
        </p:spPr>
        <p:txBody>
          <a:bodyPr wrap="square" lIns="0" tIns="0" rIns="0" bIns="0" rtlCol="0" anchor="t"/>
          <a:lstStyle/>
          <a:p>
            <a:pPr indent="0" marL="0">
              <a:buNone/>
            </a:pPr>
            <a:r>
              <a:rPr lang="en-US" sz="1800" b="1" dirty="0">
                <a:solidFill>
                  <a:schemeClr val="tx1"/>
                </a:solidFill>
              </a:rPr>
              <a:t>Why error-state</a:t>
            </a:r>
            <a:endParaRPr lang="en-US" sz="1800" dirty="0"/>
          </a:p>
        </p:txBody>
      </p:sp>
      <p:sp>
        <p:nvSpPr>
          <p:cNvPr id="43" name="text-227"/>
          <p:cNvSpPr txBox="1"/>
          <p:nvPr/>
        </p:nvSpPr>
        <p:spPr>
          <a:xfrm>
            <a:off x="8503920" y="1874520"/>
            <a:ext cx="3139135"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The error stays small, so the linearisation holds through turns</a:t>
            </a:r>
            <a:endParaRPr lang="en-US" sz="1400" dirty="0"/>
          </a:p>
          <a:p>
            <a:pPr marL="342900" indent="-342900">
              <a:spcAft>
                <a:spcPts val="800"/>
              </a:spcAft>
              <a:buSzPct val="100000"/>
              <a:buChar char="•"/>
            </a:pPr>
            <a:r>
              <a:rPr lang="en-US" sz="1400" dirty="0">
                <a:solidFill>
                  <a:schemeClr val="tx2"/>
                </a:solidFill>
              </a:rPr>
              <a:t>Attitude error is a 3-vector; the quaternion stays unit-norm</a:t>
            </a:r>
            <a:endParaRPr lang="en-US" sz="1400" dirty="0"/>
          </a:p>
          <a:p>
            <a:pPr marL="342900" indent="-342900">
              <a:spcAft>
                <a:spcPts val="800"/>
              </a:spcAft>
              <a:buSzPct val="100000"/>
              <a:buChar char="•"/>
            </a:pPr>
            <a:r>
              <a:rPr lang="en-US" sz="1400" dirty="0">
                <a:solidFill>
                  <a:schemeClr val="tx2"/>
                </a:solidFill>
              </a:rPr>
              <a:t>Biases are states, learnt online as temperature moves them</a:t>
            </a:r>
            <a:endParaRPr lang="en-US" sz="1400" dirty="0"/>
          </a:p>
        </p:txBody>
      </p:sp>
      <p:sp>
        <p:nvSpPr>
          <p:cNvPr id="44" name="card-228"/>
          <p:cNvSpPr/>
          <p:nvPr/>
        </p:nvSpPr>
        <p:spPr>
          <a:xfrm>
            <a:off x="8503920" y="4160520"/>
            <a:ext cx="3139135" cy="2057400"/>
          </a:xfrm>
          <a:prstGeom prst="roundRect">
            <a:avLst>
              <a:gd name="adj" fmla="val 3556"/>
            </a:avLst>
          </a:prstGeom>
          <a:solidFill>
            <a:schemeClr val="bg2"/>
          </a:solidFill>
          <a:ln/>
        </p:spPr>
      </p:sp>
      <p:sp>
        <p:nvSpPr>
          <p:cNvPr id="45" name="text-229"/>
          <p:cNvSpPr txBox="1"/>
          <p:nvPr/>
        </p:nvSpPr>
        <p:spPr>
          <a:xfrm>
            <a:off x="8641080" y="4251960"/>
            <a:ext cx="2864815" cy="548640"/>
          </a:xfrm>
          <a:prstGeom prst="rect">
            <a:avLst/>
          </a:prstGeom>
          <a:noFill/>
          <a:ln/>
        </p:spPr>
        <p:txBody>
          <a:bodyPr wrap="square" lIns="0" tIns="0" rIns="0" bIns="0" rtlCol="0" anchor="ctr"/>
          <a:lstStyle/>
          <a:p>
            <a:pPr indent="0" marL="0">
              <a:buNone/>
            </a:pPr>
            <a:r>
              <a:rPr lang="en-US" sz="2600" b="1" dirty="0">
                <a:solidFill>
                  <a:schemeClr val="accent1"/>
                </a:solidFill>
              </a:rPr>
              <a:t>734 / 196</a:t>
            </a:r>
            <a:endParaRPr lang="en-US" sz="2600" dirty="0"/>
          </a:p>
        </p:txBody>
      </p:sp>
      <p:sp>
        <p:nvSpPr>
          <p:cNvPr id="46" name="text-230"/>
          <p:cNvSpPr txBox="1"/>
          <p:nvPr/>
        </p:nvSpPr>
        <p:spPr>
          <a:xfrm>
            <a:off x="8641080" y="4800600"/>
            <a:ext cx="2864815" cy="1325880"/>
          </a:xfrm>
          <a:prstGeom prst="rect">
            <a:avLst/>
          </a:prstGeom>
          <a:noFill/>
          <a:ln/>
        </p:spPr>
        <p:txBody>
          <a:bodyPr wrap="square" lIns="0" tIns="0" rIns="0" bIns="0" rtlCol="0" anchor="t"/>
          <a:lstStyle/>
          <a:p>
            <a:pPr indent="0" marL="0">
              <a:buNone/>
            </a:pPr>
            <a:r>
              <a:rPr lang="en-US" sz="1200" dirty="0">
                <a:solidFill>
                  <a:schemeClr val="tx2"/>
                </a:solidFill>
              </a:rPr>
              <a:t>AprilTag fixes used / gated out on the real walk; 13 restarts from the camera after 5 rejected fixes in a row</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Real UWB data: 13.8 cm RMSE on the i-ASL dataset</a:t>
            </a:r>
            <a:endParaRPr lang="en-US" sz="3000" dirty="0"/>
          </a:p>
        </p:txBody>
      </p:sp>
      <p:sp>
        <p:nvSpPr>
          <p:cNvPr id="4" name="pill-231"/>
          <p:cNvSpPr txBox="1"/>
          <p:nvPr/>
        </p:nvSpPr>
        <p:spPr>
          <a:xfrm>
            <a:off x="548640" y="987552"/>
            <a:ext cx="2539289"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Public dataset: i-ASL (GitHub)</a:t>
            </a:r>
            <a:endParaRPr lang="en-US" sz="1050" dirty="0"/>
          </a:p>
        </p:txBody>
      </p:sp>
      <p:sp>
        <p:nvSpPr>
          <p:cNvPr id="5" name="pill-232"/>
          <p:cNvSpPr txBox="1"/>
          <p:nvPr/>
        </p:nvSpPr>
        <p:spPr>
          <a:xfrm>
            <a:off x="3197657" y="987552"/>
            <a:ext cx="1490838"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Michelle · Rahul</a:t>
            </a:r>
            <a:endParaRPr lang="en-US" sz="1050" dirty="0"/>
          </a:p>
        </p:txBody>
      </p:sp>
      <p:sp>
        <p:nvSpPr>
          <p:cNvPr id="6" name="card-233"/>
          <p:cNvSpPr/>
          <p:nvPr/>
        </p:nvSpPr>
        <p:spPr>
          <a:xfrm>
            <a:off x="548640" y="1417320"/>
            <a:ext cx="5852160" cy="3429000"/>
          </a:xfrm>
          <a:prstGeom prst="roundRect">
            <a:avLst>
              <a:gd name="adj" fmla="val 2133"/>
            </a:avLst>
          </a:prstGeom>
          <a:solidFill>
            <a:schemeClr val="tx1"/>
          </a:solidFill>
          <a:ln/>
        </p:spPr>
      </p:sp>
      <p:pic>
        <p:nvPicPr>
          <p:cNvPr id="7" name="image-234" descr="3D view of the ESKF estimate, ground truth, UWB-only fixes and the eight anchors">    </p:cNvPr>
          <p:cNvPicPr>
            <a:picLocks noChangeAspect="1"/>
          </p:cNvPicPr>
          <p:nvPr/>
        </p:nvPicPr>
        <p:blipFill>
          <a:blip r:embed="rId1"/>
          <a:stretch>
            <a:fillRect/>
          </a:stretch>
        </p:blipFill>
        <p:spPr>
          <a:xfrm>
            <a:off x="594360" y="1484854"/>
            <a:ext cx="5760720" cy="3293931"/>
          </a:xfrm>
          <a:prstGeom prst="rect">
            <a:avLst/>
          </a:prstGeom>
        </p:spPr>
      </p:pic>
      <p:sp>
        <p:nvSpPr>
          <p:cNvPr id="8" name="card-235"/>
          <p:cNvSpPr/>
          <p:nvPr/>
        </p:nvSpPr>
        <p:spPr>
          <a:xfrm>
            <a:off x="548640" y="5029200"/>
            <a:ext cx="1360170" cy="1188720"/>
          </a:xfrm>
          <a:prstGeom prst="roundRect">
            <a:avLst>
              <a:gd name="adj" fmla="val 6154"/>
            </a:avLst>
          </a:prstGeom>
          <a:solidFill>
            <a:schemeClr val="bg2"/>
          </a:solidFill>
          <a:ln/>
        </p:spPr>
      </p:sp>
      <p:sp>
        <p:nvSpPr>
          <p:cNvPr id="9" name="text-236"/>
          <p:cNvSpPr txBox="1"/>
          <p:nvPr/>
        </p:nvSpPr>
        <p:spPr>
          <a:xfrm>
            <a:off x="685800" y="5120640"/>
            <a:ext cx="1085850" cy="457200"/>
          </a:xfrm>
          <a:prstGeom prst="rect">
            <a:avLst/>
          </a:prstGeom>
          <a:noFill/>
          <a:ln/>
        </p:spPr>
        <p:txBody>
          <a:bodyPr wrap="square" lIns="0" tIns="0" rIns="0" bIns="0" rtlCol="0" anchor="ctr"/>
          <a:lstStyle/>
          <a:p>
            <a:pPr indent="0" marL="0">
              <a:buNone/>
            </a:pPr>
            <a:r>
              <a:rPr lang="en-US" sz="2000" b="1" dirty="0">
                <a:solidFill>
                  <a:schemeClr val="accent1"/>
                </a:solidFill>
              </a:rPr>
              <a:t>13.8 cm</a:t>
            </a:r>
            <a:endParaRPr lang="en-US" sz="2000" dirty="0"/>
          </a:p>
        </p:txBody>
      </p:sp>
      <p:sp>
        <p:nvSpPr>
          <p:cNvPr id="10" name="text-237"/>
          <p:cNvSpPr txBox="1"/>
          <p:nvPr/>
        </p:nvSpPr>
        <p:spPr>
          <a:xfrm>
            <a:off x="685800" y="5577840"/>
            <a:ext cx="1085850" cy="548640"/>
          </a:xfrm>
          <a:prstGeom prst="rect">
            <a:avLst/>
          </a:prstGeom>
          <a:noFill/>
          <a:ln/>
        </p:spPr>
        <p:txBody>
          <a:bodyPr wrap="square" lIns="0" tIns="0" rIns="0" bIns="0" rtlCol="0" anchor="t"/>
          <a:lstStyle/>
          <a:p>
            <a:pPr indent="0" marL="0">
              <a:buNone/>
            </a:pPr>
            <a:r>
              <a:rPr lang="en-US" sz="1050" dirty="0">
                <a:solidFill>
                  <a:schemeClr val="tx2"/>
                </a:solidFill>
              </a:rPr>
              <a:t>3D position RMSE</a:t>
            </a:r>
            <a:endParaRPr lang="en-US" sz="1050" dirty="0"/>
          </a:p>
        </p:txBody>
      </p:sp>
      <p:sp>
        <p:nvSpPr>
          <p:cNvPr id="11" name="card-238"/>
          <p:cNvSpPr/>
          <p:nvPr/>
        </p:nvSpPr>
        <p:spPr>
          <a:xfrm>
            <a:off x="2045970" y="5029200"/>
            <a:ext cx="1360170" cy="1188720"/>
          </a:xfrm>
          <a:prstGeom prst="roundRect">
            <a:avLst>
              <a:gd name="adj" fmla="val 6154"/>
            </a:avLst>
          </a:prstGeom>
          <a:solidFill>
            <a:schemeClr val="bg2"/>
          </a:solidFill>
          <a:ln/>
        </p:spPr>
      </p:sp>
      <p:sp>
        <p:nvSpPr>
          <p:cNvPr id="12" name="text-239"/>
          <p:cNvSpPr txBox="1"/>
          <p:nvPr/>
        </p:nvSpPr>
        <p:spPr>
          <a:xfrm>
            <a:off x="2183130" y="5120640"/>
            <a:ext cx="1085850" cy="457200"/>
          </a:xfrm>
          <a:prstGeom prst="rect">
            <a:avLst/>
          </a:prstGeom>
          <a:noFill/>
          <a:ln/>
        </p:spPr>
        <p:txBody>
          <a:bodyPr wrap="square" lIns="0" tIns="0" rIns="0" bIns="0" rtlCol="0" anchor="ctr"/>
          <a:lstStyle/>
          <a:p>
            <a:pPr indent="0" marL="0">
              <a:buNone/>
            </a:pPr>
            <a:r>
              <a:rPr lang="en-US" sz="2000" b="1" dirty="0">
                <a:solidFill>
                  <a:schemeClr val="tx1"/>
                </a:solidFill>
              </a:rPr>
              <a:t>9.5 cm</a:t>
            </a:r>
            <a:endParaRPr lang="en-US" sz="2000" dirty="0"/>
          </a:p>
        </p:txBody>
      </p:sp>
      <p:sp>
        <p:nvSpPr>
          <p:cNvPr id="13" name="text-240"/>
          <p:cNvSpPr txBox="1"/>
          <p:nvPr/>
        </p:nvSpPr>
        <p:spPr>
          <a:xfrm>
            <a:off x="2183130" y="5577840"/>
            <a:ext cx="1085850" cy="548640"/>
          </a:xfrm>
          <a:prstGeom prst="rect">
            <a:avLst/>
          </a:prstGeom>
          <a:noFill/>
          <a:ln/>
        </p:spPr>
        <p:txBody>
          <a:bodyPr wrap="square" lIns="0" tIns="0" rIns="0" bIns="0" rtlCol="0" anchor="t"/>
          <a:lstStyle/>
          <a:p>
            <a:pPr indent="0" marL="0">
              <a:buNone/>
            </a:pPr>
            <a:r>
              <a:rPr lang="en-US" sz="1050" dirty="0">
                <a:solidFill>
                  <a:schemeClr val="tx2"/>
                </a:solidFill>
              </a:rPr>
              <a:t>worst axis (z); x 5.6, y 8.4 cm</a:t>
            </a:r>
            <a:endParaRPr lang="en-US" sz="1050" dirty="0"/>
          </a:p>
        </p:txBody>
      </p:sp>
      <p:sp>
        <p:nvSpPr>
          <p:cNvPr id="14" name="card-241"/>
          <p:cNvSpPr/>
          <p:nvPr/>
        </p:nvSpPr>
        <p:spPr>
          <a:xfrm>
            <a:off x="3543300" y="5029200"/>
            <a:ext cx="1360170" cy="1188720"/>
          </a:xfrm>
          <a:prstGeom prst="roundRect">
            <a:avLst>
              <a:gd name="adj" fmla="val 6154"/>
            </a:avLst>
          </a:prstGeom>
          <a:solidFill>
            <a:schemeClr val="bg2"/>
          </a:solidFill>
          <a:ln/>
        </p:spPr>
      </p:sp>
      <p:sp>
        <p:nvSpPr>
          <p:cNvPr id="15" name="text-242"/>
          <p:cNvSpPr txBox="1"/>
          <p:nvPr/>
        </p:nvSpPr>
        <p:spPr>
          <a:xfrm>
            <a:off x="3680460" y="5120640"/>
            <a:ext cx="1085850" cy="457200"/>
          </a:xfrm>
          <a:prstGeom prst="rect">
            <a:avLst/>
          </a:prstGeom>
          <a:noFill/>
          <a:ln/>
        </p:spPr>
        <p:txBody>
          <a:bodyPr wrap="square" lIns="0" tIns="0" rIns="0" bIns="0" rtlCol="0" anchor="ctr"/>
          <a:lstStyle/>
          <a:p>
            <a:pPr indent="0" marL="0">
              <a:buNone/>
            </a:pPr>
            <a:r>
              <a:rPr lang="en-US" sz="2000" b="1" dirty="0">
                <a:solidFill>
                  <a:schemeClr val="tx1"/>
                </a:solidFill>
              </a:rPr>
              <a:t>39,917</a:t>
            </a:r>
            <a:endParaRPr lang="en-US" sz="2000" dirty="0"/>
          </a:p>
        </p:txBody>
      </p:sp>
      <p:sp>
        <p:nvSpPr>
          <p:cNvPr id="16" name="text-243"/>
          <p:cNvSpPr txBox="1"/>
          <p:nvPr/>
        </p:nvSpPr>
        <p:spPr>
          <a:xfrm>
            <a:off x="3680460" y="5577840"/>
            <a:ext cx="1085850" cy="548640"/>
          </a:xfrm>
          <a:prstGeom prst="rect">
            <a:avLst/>
          </a:prstGeom>
          <a:noFill/>
          <a:ln/>
        </p:spPr>
        <p:txBody>
          <a:bodyPr wrap="square" lIns="0" tIns="0" rIns="0" bIns="0" rtlCol="0" anchor="t"/>
          <a:lstStyle/>
          <a:p>
            <a:pPr indent="0" marL="0">
              <a:buNone/>
            </a:pPr>
            <a:r>
              <a:rPr lang="en-US" sz="1050" dirty="0">
                <a:solidFill>
                  <a:schemeClr val="tx2"/>
                </a:solidFill>
              </a:rPr>
              <a:t>UWB ranges fused</a:t>
            </a:r>
            <a:endParaRPr lang="en-US" sz="1050" dirty="0"/>
          </a:p>
        </p:txBody>
      </p:sp>
      <p:sp>
        <p:nvSpPr>
          <p:cNvPr id="17" name="card-244"/>
          <p:cNvSpPr/>
          <p:nvPr/>
        </p:nvSpPr>
        <p:spPr>
          <a:xfrm>
            <a:off x="5040630" y="5029200"/>
            <a:ext cx="1360170" cy="1188720"/>
          </a:xfrm>
          <a:prstGeom prst="roundRect">
            <a:avLst>
              <a:gd name="adj" fmla="val 6154"/>
            </a:avLst>
          </a:prstGeom>
          <a:solidFill>
            <a:schemeClr val="bg2"/>
          </a:solidFill>
          <a:ln/>
        </p:spPr>
      </p:sp>
      <p:sp>
        <p:nvSpPr>
          <p:cNvPr id="18" name="text-245"/>
          <p:cNvSpPr txBox="1"/>
          <p:nvPr/>
        </p:nvSpPr>
        <p:spPr>
          <a:xfrm>
            <a:off x="5177790" y="5120640"/>
            <a:ext cx="1085850" cy="457200"/>
          </a:xfrm>
          <a:prstGeom prst="rect">
            <a:avLst/>
          </a:prstGeom>
          <a:noFill/>
          <a:ln/>
        </p:spPr>
        <p:txBody>
          <a:bodyPr wrap="square" lIns="0" tIns="0" rIns="0" bIns="0" rtlCol="0" anchor="ctr"/>
          <a:lstStyle/>
          <a:p>
            <a:pPr indent="0" marL="0">
              <a:buNone/>
            </a:pPr>
            <a:r>
              <a:rPr lang="en-US" sz="2000" b="1" dirty="0">
                <a:solidFill>
                  <a:schemeClr val="tx1"/>
                </a:solidFill>
              </a:rPr>
              <a:t>99.8 s</a:t>
            </a:r>
            <a:endParaRPr lang="en-US" sz="2000" dirty="0"/>
          </a:p>
        </p:txBody>
      </p:sp>
      <p:sp>
        <p:nvSpPr>
          <p:cNvPr id="19" name="text-246"/>
          <p:cNvSpPr txBox="1"/>
          <p:nvPr/>
        </p:nvSpPr>
        <p:spPr>
          <a:xfrm>
            <a:off x="5177790" y="5577840"/>
            <a:ext cx="1085850" cy="548640"/>
          </a:xfrm>
          <a:prstGeom prst="rect">
            <a:avLst/>
          </a:prstGeom>
          <a:noFill/>
          <a:ln/>
        </p:spPr>
        <p:txBody>
          <a:bodyPr wrap="square" lIns="0" tIns="0" rIns="0" bIns="0" rtlCol="0" anchor="t"/>
          <a:lstStyle/>
          <a:p>
            <a:pPr indent="0" marL="0">
              <a:buNone/>
            </a:pPr>
            <a:r>
              <a:rPr lang="en-US" sz="1050" dirty="0">
                <a:solidFill>
                  <a:schemeClr val="tx2"/>
                </a:solidFill>
              </a:rPr>
              <a:t>flight, 8 anchors</a:t>
            </a:r>
            <a:endParaRPr lang="en-US" sz="1050" dirty="0"/>
          </a:p>
        </p:txBody>
      </p:sp>
      <p:pic>
        <p:nvPicPr>
          <p:cNvPr id="20" name="image-247" descr="Top-down view: ESKF XY against ground truth">    </p:cNvPr>
          <p:cNvPicPr>
            <a:picLocks noChangeAspect="1"/>
          </p:cNvPicPr>
          <p:nvPr/>
        </p:nvPicPr>
        <p:blipFill>
          <a:blip r:embed="rId2"/>
          <a:stretch>
            <a:fillRect/>
          </a:stretch>
        </p:blipFill>
        <p:spPr>
          <a:xfrm>
            <a:off x="6629400" y="1419176"/>
            <a:ext cx="5013655" cy="2145128"/>
          </a:xfrm>
          <a:prstGeom prst="rect">
            <a:avLst/>
          </a:prstGeom>
        </p:spPr>
      </p:pic>
      <p:pic>
        <p:nvPicPr>
          <p:cNvPr id="21" name="image-248" descr="Altitude versus time: ESKF against ground truth">    </p:cNvPr>
          <p:cNvPicPr>
            <a:picLocks noChangeAspect="1"/>
          </p:cNvPicPr>
          <p:nvPr/>
        </p:nvPicPr>
        <p:blipFill>
          <a:blip r:embed="rId3"/>
          <a:stretch>
            <a:fillRect/>
          </a:stretch>
        </p:blipFill>
        <p:spPr>
          <a:xfrm>
            <a:off x="6629400" y="3717285"/>
            <a:ext cx="5013655" cy="1568558"/>
          </a:xfrm>
          <a:prstGeom prst="rect">
            <a:avLst/>
          </a:prstGeom>
        </p:spPr>
      </p:pic>
      <p:sp>
        <p:nvSpPr>
          <p:cNvPr id="22" name="text-249"/>
          <p:cNvSpPr txBox="1"/>
          <p:nvPr/>
        </p:nvSpPr>
        <p:spPr>
          <a:xfrm>
            <a:off x="6629400" y="5423003"/>
            <a:ext cx="5013655" cy="914400"/>
          </a:xfrm>
          <a:prstGeom prst="rect">
            <a:avLst/>
          </a:prstGeom>
          <a:noFill/>
          <a:ln/>
        </p:spPr>
        <p:txBody>
          <a:bodyPr wrap="square" lIns="0" tIns="0" rIns="0" bIns="0" rtlCol="0" anchor="t"/>
          <a:lstStyle/>
          <a:p>
            <a:pPr indent="0" marL="0">
              <a:buNone/>
            </a:pPr>
            <a:r>
              <a:rPr lang="en-US" sz="1200" dirty="0">
                <a:solidFill>
                  <a:schemeClr val="tx2"/>
                </a:solidFill>
              </a:rPr>
              <a:t>Top: ESKF (solid) on ground truth (dashed), top-down. Bottom: altitude vs time. Every anchor range is a separate scalar update; outliers are rejected by NIS, so there is no fixed 3-anchor limit.</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Gazebo drone: live ESKF within 3.9 cm of truth</a:t>
            </a:r>
            <a:endParaRPr lang="en-US" sz="3000" dirty="0"/>
          </a:p>
        </p:txBody>
      </p:sp>
      <p:sp>
        <p:nvSpPr>
          <p:cNvPr id="4" name="pill-250"/>
          <p:cNvSpPr txBox="1"/>
          <p:nvPr/>
        </p:nvSpPr>
        <p:spPr>
          <a:xfrm>
            <a:off x="548640" y="987552"/>
            <a:ext cx="4186855"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50" b="1" dirty="0">
                <a:solidFill>
                  <a:schemeClr val="bg1"/>
                </a:solidFill>
              </a:rPr>
              <a:t>Simulation: PX4 SITL + Gazebo Harmonic + ROS 2 Jazzy</a:t>
            </a:r>
            <a:endParaRPr lang="en-US" sz="1050" dirty="0"/>
          </a:p>
        </p:txBody>
      </p:sp>
      <p:sp>
        <p:nvSpPr>
          <p:cNvPr id="5" name="pill-251"/>
          <p:cNvSpPr txBox="1"/>
          <p:nvPr/>
        </p:nvSpPr>
        <p:spPr>
          <a:xfrm>
            <a:off x="4845223" y="987552"/>
            <a:ext cx="1715506"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Joshua John → Rahul</a:t>
            </a:r>
            <a:endParaRPr lang="en-US" sz="1050" dirty="0"/>
          </a:p>
        </p:txBody>
      </p:sp>
      <p:pic>
        <p:nvPicPr>
          <p:cNvPr id="6" name="image-252" descr="Gazebo view with the ESKF path in blue and ground truth in green">    </p:cNvPr>
          <p:cNvPicPr>
            <a:picLocks noChangeAspect="1"/>
          </p:cNvPicPr>
          <p:nvPr/>
        </p:nvPicPr>
        <p:blipFill>
          <a:blip r:embed="rId1"/>
          <a:stretch>
            <a:fillRect/>
          </a:stretch>
        </p:blipFill>
        <p:spPr>
          <a:xfrm>
            <a:off x="548640" y="1428915"/>
            <a:ext cx="3611880" cy="3314370"/>
          </a:xfrm>
          <a:prstGeom prst="rect">
            <a:avLst/>
          </a:prstGeom>
        </p:spPr>
      </p:pic>
      <p:pic>
        <p:nvPicPr>
          <p:cNvPr id="7" name="image-253" descr="RViz view of the estimated and ground-truth trajectories overlapping">    </p:cNvPr>
          <p:cNvPicPr>
            <a:picLocks noChangeAspect="1"/>
          </p:cNvPicPr>
          <p:nvPr/>
        </p:nvPicPr>
        <p:blipFill>
          <a:blip r:embed="rId2"/>
          <a:stretch>
            <a:fillRect/>
          </a:stretch>
        </p:blipFill>
        <p:spPr>
          <a:xfrm>
            <a:off x="4343400" y="1424112"/>
            <a:ext cx="3611880" cy="3323977"/>
          </a:xfrm>
          <a:prstGeom prst="rect">
            <a:avLst/>
          </a:prstGeom>
        </p:spPr>
      </p:pic>
      <p:sp>
        <p:nvSpPr>
          <p:cNvPr id="8" name="card-254"/>
          <p:cNvSpPr/>
          <p:nvPr/>
        </p:nvSpPr>
        <p:spPr>
          <a:xfrm>
            <a:off x="548640" y="4892040"/>
            <a:ext cx="7406640" cy="548640"/>
          </a:xfrm>
          <a:prstGeom prst="roundRect">
            <a:avLst>
              <a:gd name="adj" fmla="val 13333"/>
            </a:avLst>
          </a:prstGeom>
          <a:solidFill>
            <a:schemeClr val="tx1"/>
          </a:solidFill>
          <a:ln/>
        </p:spPr>
      </p:sp>
      <p:pic>
        <p:nvPicPr>
          <p:cNvPr id="9" name="image-255" descr="eskf_live_node log: live ESKF position RMSE vs ground truth 0.039 m, 1514 matched samples">    </p:cNvPr>
          <p:cNvPicPr>
            <a:picLocks noChangeAspect="1"/>
          </p:cNvPicPr>
          <p:nvPr/>
        </p:nvPicPr>
        <p:blipFill>
          <a:blip r:embed="rId3"/>
          <a:stretch>
            <a:fillRect/>
          </a:stretch>
        </p:blipFill>
        <p:spPr>
          <a:xfrm>
            <a:off x="640080" y="4977482"/>
            <a:ext cx="7223760" cy="377756"/>
          </a:xfrm>
          <a:prstGeom prst="rect">
            <a:avLst/>
          </a:prstGeom>
        </p:spPr>
      </p:pic>
      <p:sp>
        <p:nvSpPr>
          <p:cNvPr id="10" name="text-256"/>
          <p:cNvSpPr txBox="1"/>
          <p:nvPr/>
        </p:nvSpPr>
        <p:spPr>
          <a:xfrm>
            <a:off x="548640" y="5577840"/>
            <a:ext cx="7406640" cy="548640"/>
          </a:xfrm>
          <a:prstGeom prst="rect">
            <a:avLst/>
          </a:prstGeom>
          <a:noFill/>
          <a:ln/>
        </p:spPr>
        <p:txBody>
          <a:bodyPr wrap="square" lIns="0" tIns="0" rIns="0" bIns="0" rtlCol="0" anchor="t"/>
          <a:lstStyle/>
          <a:p>
            <a:pPr indent="0" marL="0">
              <a:buNone/>
            </a:pPr>
            <a:r>
              <a:rPr lang="en-US" sz="1150" dirty="0">
                <a:solidFill>
                  <a:schemeClr val="accent4"/>
                </a:solidFill>
              </a:rPr>
              <a:t>Left: Gazebo overlay, ESKF in blue on ground truth in green. Middle: the same run in RViz. Bottom: the node's own log; ground truth is used only for scoring.</a:t>
            </a:r>
            <a:endParaRPr lang="en-US" sz="1150" dirty="0"/>
          </a:p>
        </p:txBody>
      </p:sp>
      <p:sp>
        <p:nvSpPr>
          <p:cNvPr id="11" name="text-257"/>
          <p:cNvSpPr txBox="1"/>
          <p:nvPr/>
        </p:nvSpPr>
        <p:spPr>
          <a:xfrm>
            <a:off x="8275320" y="1417320"/>
            <a:ext cx="3367735" cy="777240"/>
          </a:xfrm>
          <a:prstGeom prst="rect">
            <a:avLst/>
          </a:prstGeom>
          <a:noFill/>
          <a:ln/>
        </p:spPr>
        <p:txBody>
          <a:bodyPr wrap="square" lIns="0" tIns="0" rIns="0" bIns="0" rtlCol="0" anchor="ctr"/>
          <a:lstStyle/>
          <a:p>
            <a:pPr indent="0" marL="0">
              <a:buNone/>
            </a:pPr>
            <a:r>
              <a:rPr lang="en-US" sz="4400" b="1" dirty="0">
                <a:solidFill>
                  <a:schemeClr val="accent1"/>
                </a:solidFill>
              </a:rPr>
              <a:t>3.9 cm</a:t>
            </a:r>
            <a:endParaRPr lang="en-US" sz="4400" dirty="0"/>
          </a:p>
        </p:txBody>
      </p:sp>
      <p:sp>
        <p:nvSpPr>
          <p:cNvPr id="12" name="text-258"/>
          <p:cNvSpPr txBox="1"/>
          <p:nvPr/>
        </p:nvSpPr>
        <p:spPr>
          <a:xfrm>
            <a:off x="8275320" y="2194560"/>
            <a:ext cx="3367735" cy="502920"/>
          </a:xfrm>
          <a:prstGeom prst="rect">
            <a:avLst/>
          </a:prstGeom>
          <a:noFill/>
          <a:ln/>
        </p:spPr>
        <p:txBody>
          <a:bodyPr wrap="square" lIns="0" tIns="0" rIns="0" bIns="0" rtlCol="0" anchor="t"/>
          <a:lstStyle/>
          <a:p>
            <a:pPr indent="0" marL="0">
              <a:buNone/>
            </a:pPr>
            <a:r>
              <a:rPr lang="en-US" sz="1250" dirty="0">
                <a:solidFill>
                  <a:schemeClr val="tx2"/>
                </a:solidFill>
              </a:rPr>
              <a:t>live position RMSE vs ground truth, 1514 matched samples</a:t>
            </a:r>
            <a:endParaRPr lang="en-US" sz="1250" dirty="0"/>
          </a:p>
        </p:txBody>
      </p:sp>
      <p:sp>
        <p:nvSpPr>
          <p:cNvPr id="13" name="text-259"/>
          <p:cNvSpPr txBox="1"/>
          <p:nvPr/>
        </p:nvSpPr>
        <p:spPr>
          <a:xfrm>
            <a:off x="8275320" y="2880360"/>
            <a:ext cx="3367735" cy="32918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1"/>
                </a:solidFill>
              </a:rPr>
              <a:t>PX4 x500 flying the 11.5 m track at 0.3 m/s, 1.1 m up</a:t>
            </a:r>
            <a:endParaRPr lang="en-US" sz="1300" dirty="0"/>
          </a:p>
          <a:p>
            <a:pPr marL="342900" indent="-342900">
              <a:spcAft>
                <a:spcPts val="700"/>
              </a:spcAft>
              <a:buSzPct val="100000"/>
              <a:buChar char="•"/>
            </a:pPr>
            <a:r>
              <a:rPr lang="en-US" sz="1300" dirty="0">
                <a:solidFill>
                  <a:schemeClr val="tx1"/>
                </a:solidFill>
              </a:rPr>
              <a:t>8 UWB anchors on a 12 m cube, 10 Hz, σ = 5 cm</a:t>
            </a:r>
            <a:endParaRPr lang="en-US" sz="1300" dirty="0"/>
          </a:p>
          <a:p>
            <a:pPr marL="342900" indent="-342900">
              <a:spcAft>
                <a:spcPts val="700"/>
              </a:spcAft>
              <a:buSzPct val="100000"/>
              <a:buChar char="•"/>
            </a:pPr>
            <a:r>
              <a:rPr lang="en-US" sz="1300" dirty="0">
                <a:solidFill>
                  <a:schemeClr val="tx1"/>
                </a:solidFill>
              </a:rPr>
              <a:t>/imu/noisy at 200 Hz with the phone's measured noise</a:t>
            </a:r>
            <a:endParaRPr lang="en-US" sz="1300" dirty="0"/>
          </a:p>
          <a:p>
            <a:pPr marL="342900" indent="-342900">
              <a:spcAft>
                <a:spcPts val="700"/>
              </a:spcAft>
              <a:buSzPct val="100000"/>
              <a:buChar char="•"/>
            </a:pPr>
            <a:r>
              <a:rPr lang="en-US" sz="1300" dirty="0">
                <a:solidFill>
                  <a:schemeClr val="tx1"/>
                </a:solidFill>
              </a:rPr>
              <a:t>22 AprilTags, same layout as our printed track</a:t>
            </a:r>
            <a:endParaRPr lang="en-US" sz="1300" dirty="0"/>
          </a:p>
          <a:p>
            <a:pPr marL="342900" indent="-342900">
              <a:spcAft>
                <a:spcPts val="700"/>
              </a:spcAft>
              <a:buSzPct val="100000"/>
              <a:buChar char="•"/>
            </a:pPr>
            <a:r>
              <a:rPr lang="en-US" sz="1300" dirty="0">
                <a:solidFill>
                  <a:schemeClr val="tx1"/>
                </a:solidFill>
              </a:rPr>
              <a:t>All in Docker: Ubuntu 24.04, PX4 v1.16</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No UWB hardware, so AprilTags became our anchors</a:t>
            </a:r>
            <a:endParaRPr lang="en-US" sz="3000" dirty="0"/>
          </a:p>
        </p:txBody>
      </p:sp>
      <p:sp>
        <p:nvSpPr>
          <p:cNvPr id="4" name="pill-260"/>
          <p:cNvSpPr txBox="1"/>
          <p:nvPr/>
        </p:nvSpPr>
        <p:spPr>
          <a:xfrm>
            <a:off x="548640" y="987552"/>
            <a:ext cx="126617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hardware</a:t>
            </a:r>
            <a:endParaRPr lang="en-US" sz="1050" dirty="0"/>
          </a:p>
        </p:txBody>
      </p:sp>
      <p:sp>
        <p:nvSpPr>
          <p:cNvPr id="5" name="pill-261"/>
          <p:cNvSpPr txBox="1"/>
          <p:nvPr/>
        </p:nvSpPr>
        <p:spPr>
          <a:xfrm>
            <a:off x="1924538" y="987552"/>
            <a:ext cx="1041502"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Whole team</a:t>
            </a:r>
            <a:endParaRPr lang="en-US" sz="1050" dirty="0"/>
          </a:p>
        </p:txBody>
      </p:sp>
      <p:pic>
        <p:nvPicPr>
          <p:cNvPr id="6" name="image-262" descr="Phone camera view of a checkpoint pair of AprilTags on the floor during the walk">    </p:cNvPr>
          <p:cNvPicPr>
            <a:picLocks noChangeAspect="1"/>
          </p:cNvPicPr>
          <p:nvPr/>
        </p:nvPicPr>
        <p:blipFill>
          <a:blip r:embed="rId1"/>
          <a:stretch>
            <a:fillRect/>
          </a:stretch>
        </p:blipFill>
        <p:spPr>
          <a:xfrm>
            <a:off x="548640" y="1417320"/>
            <a:ext cx="5120640" cy="2880360"/>
          </a:xfrm>
          <a:prstGeom prst="rect">
            <a:avLst/>
          </a:prstGeom>
        </p:spPr>
      </p:pic>
      <p:pic>
        <p:nvPicPr>
          <p:cNvPr id="7" name="image-263" descr="First A4 test page with four AprilTags">    </p:cNvPr>
          <p:cNvPicPr>
            <a:picLocks noChangeAspect="1"/>
          </p:cNvPicPr>
          <p:nvPr/>
        </p:nvPicPr>
        <p:blipFill>
          <a:blip r:embed="rId2"/>
          <a:stretch>
            <a:fillRect/>
          </a:stretch>
        </p:blipFill>
        <p:spPr>
          <a:xfrm>
            <a:off x="548640" y="4434840"/>
            <a:ext cx="2491740" cy="1401604"/>
          </a:xfrm>
          <a:prstGeom prst="rect">
            <a:avLst/>
          </a:prstGeom>
        </p:spPr>
      </p:pic>
      <p:pic>
        <p:nvPicPr>
          <p:cNvPr id="8" name="image-264" descr="Start of the walk, AprilTag pair in view">    </p:cNvPr>
          <p:cNvPicPr>
            <a:picLocks noChangeAspect="1"/>
          </p:cNvPicPr>
          <p:nvPr/>
        </p:nvPicPr>
        <p:blipFill>
          <a:blip r:embed="rId3"/>
          <a:stretch>
            <a:fillRect/>
          </a:stretch>
        </p:blipFill>
        <p:spPr>
          <a:xfrm>
            <a:off x="3177540" y="4434840"/>
            <a:ext cx="2491740" cy="1401604"/>
          </a:xfrm>
          <a:prstGeom prst="rect">
            <a:avLst/>
          </a:prstGeom>
        </p:spPr>
      </p:pic>
      <p:sp>
        <p:nvSpPr>
          <p:cNvPr id="9" name="text-265"/>
          <p:cNvSpPr txBox="1"/>
          <p:nvPr/>
        </p:nvSpPr>
        <p:spPr>
          <a:xfrm>
            <a:off x="548640" y="5882164"/>
            <a:ext cx="5120640" cy="411480"/>
          </a:xfrm>
          <a:prstGeom prst="rect">
            <a:avLst/>
          </a:prstGeom>
          <a:noFill/>
          <a:ln/>
        </p:spPr>
        <p:txBody>
          <a:bodyPr wrap="square" lIns="0" tIns="0" rIns="0" bIns="0" rtlCol="0" anchor="t"/>
          <a:lstStyle/>
          <a:p>
            <a:pPr indent="0" marL="0">
              <a:buNone/>
            </a:pPr>
            <a:r>
              <a:rPr lang="en-US" sz="1050" dirty="0">
                <a:solidFill>
                  <a:schemeClr val="accent4"/>
                </a:solidFill>
              </a:rPr>
              <a:t>Frames from the phone's own camera: a checkpoint mid-walk (top), the first A4 test page and the start of the walk</a:t>
            </a:r>
            <a:endParaRPr lang="en-US" sz="1050" dirty="0"/>
          </a:p>
        </p:txBody>
      </p:sp>
      <p:sp>
        <p:nvSpPr>
          <p:cNvPr id="10" name="num-266"/>
          <p:cNvSpPr txBox="1"/>
          <p:nvPr/>
        </p:nvSpPr>
        <p:spPr>
          <a:xfrm>
            <a:off x="6263640" y="14813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267"/>
          <p:cNvSpPr txBox="1"/>
          <p:nvPr/>
        </p:nvSpPr>
        <p:spPr>
          <a:xfrm>
            <a:off x="6766560" y="1463040"/>
            <a:ext cx="4876495" cy="274320"/>
          </a:xfrm>
          <a:prstGeom prst="rect">
            <a:avLst/>
          </a:prstGeom>
          <a:noFill/>
          <a:ln/>
        </p:spPr>
        <p:txBody>
          <a:bodyPr wrap="square" lIns="0" tIns="0" rIns="0" bIns="0" rtlCol="0" anchor="t"/>
          <a:lstStyle/>
          <a:p>
            <a:pPr indent="0" marL="0">
              <a:buNone/>
            </a:pPr>
            <a:r>
              <a:rPr lang="en-US" sz="1400" b="1" dirty="0">
                <a:solidFill>
                  <a:schemeClr val="tx1"/>
                </a:solidFill>
              </a:rPr>
              <a:t>Track</a:t>
            </a:r>
            <a:endParaRPr lang="en-US" sz="1400" dirty="0"/>
          </a:p>
        </p:txBody>
      </p:sp>
      <p:sp>
        <p:nvSpPr>
          <p:cNvPr id="12" name="text-268"/>
          <p:cNvSpPr txBox="1"/>
          <p:nvPr/>
        </p:nvSpPr>
        <p:spPr>
          <a:xfrm>
            <a:off x="6766560" y="1737360"/>
            <a:ext cx="4876495" cy="621792"/>
          </a:xfrm>
          <a:prstGeom prst="rect">
            <a:avLst/>
          </a:prstGeom>
          <a:noFill/>
          <a:ln/>
        </p:spPr>
        <p:txBody>
          <a:bodyPr wrap="square" lIns="0" tIns="0" rIns="0" bIns="0" rtlCol="0" anchor="t"/>
          <a:lstStyle/>
          <a:p>
            <a:pPr indent="0" marL="0">
              <a:buNone/>
            </a:pPr>
            <a:r>
              <a:rPr lang="en-US" sz="1250" dirty="0">
                <a:solidFill>
                  <a:schemeClr val="tx2"/>
                </a:solidFill>
              </a:rPr>
              <a:t>11 checkpoints 1 m apart, a pair of 70 mm tag36h11 tags at each</a:t>
            </a:r>
            <a:endParaRPr lang="en-US" sz="1250" dirty="0"/>
          </a:p>
        </p:txBody>
      </p:sp>
      <p:sp>
        <p:nvSpPr>
          <p:cNvPr id="13" name="num-269"/>
          <p:cNvSpPr txBox="1"/>
          <p:nvPr/>
        </p:nvSpPr>
        <p:spPr>
          <a:xfrm>
            <a:off x="6263640" y="2432304"/>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270"/>
          <p:cNvSpPr txBox="1"/>
          <p:nvPr/>
        </p:nvSpPr>
        <p:spPr>
          <a:xfrm>
            <a:off x="6766560" y="2414016"/>
            <a:ext cx="4876495" cy="274320"/>
          </a:xfrm>
          <a:prstGeom prst="rect">
            <a:avLst/>
          </a:prstGeom>
          <a:noFill/>
          <a:ln/>
        </p:spPr>
        <p:txBody>
          <a:bodyPr wrap="square" lIns="0" tIns="0" rIns="0" bIns="0" rtlCol="0" anchor="t"/>
          <a:lstStyle/>
          <a:p>
            <a:pPr indent="0" marL="0">
              <a:buNone/>
            </a:pPr>
            <a:r>
              <a:rPr lang="en-US" sz="1400" b="1" dirty="0">
                <a:solidFill>
                  <a:schemeClr val="tx1"/>
                </a:solidFill>
              </a:rPr>
              <a:t>Rig</a:t>
            </a:r>
            <a:endParaRPr lang="en-US" sz="1400" dirty="0"/>
          </a:p>
        </p:txBody>
      </p:sp>
      <p:sp>
        <p:nvSpPr>
          <p:cNvPr id="15" name="text-271"/>
          <p:cNvSpPr txBox="1"/>
          <p:nvPr/>
        </p:nvSpPr>
        <p:spPr>
          <a:xfrm>
            <a:off x="6766560" y="2688336"/>
            <a:ext cx="4876495" cy="621792"/>
          </a:xfrm>
          <a:prstGeom prst="rect">
            <a:avLst/>
          </a:prstGeom>
          <a:noFill/>
          <a:ln/>
        </p:spPr>
        <p:txBody>
          <a:bodyPr wrap="square" lIns="0" tIns="0" rIns="0" bIns="0" rtlCol="0" anchor="t"/>
          <a:lstStyle/>
          <a:p>
            <a:pPr indent="0" marL="0">
              <a:buNone/>
            </a:pPr>
            <a:r>
              <a:rPr lang="en-US" sz="1250" dirty="0">
                <a:solidFill>
                  <a:schemeClr val="tx2"/>
                </a:solidFill>
              </a:rPr>
              <a:t>Phone in hand at about 1.0 m, back camera about 67° down; IMU at 395 Hz and 1080p30 video over one USB cable (record_walk.py)</a:t>
            </a:r>
            <a:endParaRPr lang="en-US" sz="1250" dirty="0"/>
          </a:p>
        </p:txBody>
      </p:sp>
      <p:sp>
        <p:nvSpPr>
          <p:cNvPr id="16" name="num-272"/>
          <p:cNvSpPr txBox="1"/>
          <p:nvPr/>
        </p:nvSpPr>
        <p:spPr>
          <a:xfrm>
            <a:off x="6263640" y="3383280"/>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273"/>
          <p:cNvSpPr txBox="1"/>
          <p:nvPr/>
        </p:nvSpPr>
        <p:spPr>
          <a:xfrm>
            <a:off x="6766560" y="3364992"/>
            <a:ext cx="4876495" cy="274320"/>
          </a:xfrm>
          <a:prstGeom prst="rect">
            <a:avLst/>
          </a:prstGeom>
          <a:noFill/>
          <a:ln/>
        </p:spPr>
        <p:txBody>
          <a:bodyPr wrap="square" lIns="0" tIns="0" rIns="0" bIns="0" rtlCol="0" anchor="t"/>
          <a:lstStyle/>
          <a:p>
            <a:pPr indent="0" marL="0">
              <a:buNone/>
            </a:pPr>
            <a:r>
              <a:rPr lang="en-US" sz="1400" b="1" dirty="0">
                <a:solidFill>
                  <a:schemeClr val="tx1"/>
                </a:solidFill>
              </a:rPr>
              <a:t>Camera pose</a:t>
            </a:r>
            <a:endParaRPr lang="en-US" sz="1400" dirty="0"/>
          </a:p>
        </p:txBody>
      </p:sp>
      <p:sp>
        <p:nvSpPr>
          <p:cNvPr id="18" name="text-274"/>
          <p:cNvSpPr txBox="1"/>
          <p:nvPr/>
        </p:nvSpPr>
        <p:spPr>
          <a:xfrm>
            <a:off x="6766560" y="3639312"/>
            <a:ext cx="4876495" cy="621792"/>
          </a:xfrm>
          <a:prstGeom prst="rect">
            <a:avLst/>
          </a:prstGeom>
          <a:noFill/>
          <a:ln/>
        </p:spPr>
        <p:txBody>
          <a:bodyPr wrap="square" lIns="0" tIns="0" rIns="0" bIns="0" rtlCol="0" anchor="t"/>
          <a:lstStyle/>
          <a:p>
            <a:pPr indent="0" marL="0">
              <a:buNone/>
            </a:pPr>
            <a:r>
              <a:rPr lang="en-US" sz="1250" dirty="0">
                <a:solidFill>
                  <a:schemeClr val="tx2"/>
                </a:solidFill>
              </a:rPr>
              <a:t>OpenCV IPPE + Levenberg–Marquardt on the tag corners; fixes worse than 2 mm reprojection are dropped</a:t>
            </a:r>
            <a:endParaRPr lang="en-US" sz="1250" dirty="0"/>
          </a:p>
        </p:txBody>
      </p:sp>
      <p:sp>
        <p:nvSpPr>
          <p:cNvPr id="19" name="num-275"/>
          <p:cNvSpPr txBox="1"/>
          <p:nvPr/>
        </p:nvSpPr>
        <p:spPr>
          <a:xfrm>
            <a:off x="6263640" y="4334256"/>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276"/>
          <p:cNvSpPr txBox="1"/>
          <p:nvPr/>
        </p:nvSpPr>
        <p:spPr>
          <a:xfrm>
            <a:off x="6766560" y="4315968"/>
            <a:ext cx="4876495" cy="274320"/>
          </a:xfrm>
          <a:prstGeom prst="rect">
            <a:avLst/>
          </a:prstGeom>
          <a:noFill/>
          <a:ln/>
        </p:spPr>
        <p:txBody>
          <a:bodyPr wrap="square" lIns="0" tIns="0" rIns="0" bIns="0" rtlCol="0" anchor="t"/>
          <a:lstStyle/>
          <a:p>
            <a:pPr indent="0" marL="0">
              <a:buNone/>
            </a:pPr>
            <a:r>
              <a:rPr lang="en-US" sz="1400" b="1" dirty="0">
                <a:solidFill>
                  <a:schemeClr val="tx1"/>
                </a:solidFill>
              </a:rPr>
              <a:t>Sync</a:t>
            </a:r>
            <a:endParaRPr lang="en-US" sz="1400" dirty="0"/>
          </a:p>
        </p:txBody>
      </p:sp>
      <p:sp>
        <p:nvSpPr>
          <p:cNvPr id="21" name="text-277"/>
          <p:cNvSpPr txBox="1"/>
          <p:nvPr/>
        </p:nvSpPr>
        <p:spPr>
          <a:xfrm>
            <a:off x="6766560" y="4590288"/>
            <a:ext cx="4876495" cy="621792"/>
          </a:xfrm>
          <a:prstGeom prst="rect">
            <a:avLst/>
          </a:prstGeom>
          <a:noFill/>
          <a:ln/>
        </p:spPr>
        <p:txBody>
          <a:bodyPr wrap="square" lIns="0" tIns="0" rIns="0" bIns="0" rtlCol="0" anchor="t"/>
          <a:lstStyle/>
          <a:p>
            <a:pPr indent="0" marL="0">
              <a:buNone/>
            </a:pPr>
            <a:r>
              <a:rPr lang="en-US" sz="1250" dirty="0">
                <a:solidFill>
                  <a:schemeClr val="tx2"/>
                </a:solidFill>
              </a:rPr>
              <a:t>0.3 s windows of camera rotation matched to the integrated gyro: video offset −9 ms; camera-to-IMU rotation is an axis swap</a:t>
            </a:r>
            <a:endParaRPr lang="en-US" sz="1250" dirty="0"/>
          </a:p>
        </p:txBody>
      </p:sp>
      <p:sp>
        <p:nvSpPr>
          <p:cNvPr id="22" name="num-278"/>
          <p:cNvSpPr txBox="1"/>
          <p:nvPr/>
        </p:nvSpPr>
        <p:spPr>
          <a:xfrm>
            <a:off x="6263640" y="5285232"/>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279"/>
          <p:cNvSpPr txBox="1"/>
          <p:nvPr/>
        </p:nvSpPr>
        <p:spPr>
          <a:xfrm>
            <a:off x="6766560" y="5266944"/>
            <a:ext cx="4876495" cy="274320"/>
          </a:xfrm>
          <a:prstGeom prst="rect">
            <a:avLst/>
          </a:prstGeom>
          <a:noFill/>
          <a:ln/>
        </p:spPr>
        <p:txBody>
          <a:bodyPr wrap="square" lIns="0" tIns="0" rIns="0" bIns="0" rtlCol="0" anchor="t"/>
          <a:lstStyle/>
          <a:p>
            <a:pPr indent="0" marL="0">
              <a:buNone/>
            </a:pPr>
            <a:r>
              <a:rPr lang="en-US" sz="1400" b="1" dirty="0">
                <a:solidFill>
                  <a:schemeClr val="tx1"/>
                </a:solidFill>
              </a:rPr>
              <a:t>Why tags</a:t>
            </a:r>
            <a:endParaRPr lang="en-US" sz="1400" dirty="0"/>
          </a:p>
        </p:txBody>
      </p:sp>
      <p:sp>
        <p:nvSpPr>
          <p:cNvPr id="24" name="text-280"/>
          <p:cNvSpPr txBox="1"/>
          <p:nvPr/>
        </p:nvSpPr>
        <p:spPr>
          <a:xfrm>
            <a:off x="6766560" y="5541264"/>
            <a:ext cx="4876495" cy="621792"/>
          </a:xfrm>
          <a:prstGeom prst="rect">
            <a:avLst/>
          </a:prstGeom>
          <a:noFill/>
          <a:ln/>
        </p:spPr>
        <p:txBody>
          <a:bodyPr wrap="square" lIns="0" tIns="0" rIns="0" bIns="0" rtlCol="0" anchor="t"/>
          <a:lstStyle/>
          <a:p>
            <a:pPr indent="0" marL="0">
              <a:buNone/>
            </a:pPr>
            <a:r>
              <a:rPr lang="en-US" sz="1250" dirty="0">
                <a:solidFill>
                  <a:schemeClr val="tx2"/>
                </a:solidFill>
              </a:rPr>
              <a:t>An allowed low-cost aid that gives position and yaw, and doubles as ground truth</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Real walk: 33.8 m, end point 13.5 cm off</a:t>
            </a:r>
            <a:endParaRPr lang="en-US" sz="3000" dirty="0"/>
          </a:p>
        </p:txBody>
      </p:sp>
      <p:sp>
        <p:nvSpPr>
          <p:cNvPr id="4" name="pill-281"/>
          <p:cNvSpPr txBox="1"/>
          <p:nvPr/>
        </p:nvSpPr>
        <p:spPr>
          <a:xfrm>
            <a:off x="548640" y="987552"/>
            <a:ext cx="2015063"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hardware · walk_01</a:t>
            </a:r>
            <a:endParaRPr lang="en-US" sz="1050" dirty="0"/>
          </a:p>
        </p:txBody>
      </p:sp>
      <p:sp>
        <p:nvSpPr>
          <p:cNvPr id="5" name="pill-282"/>
          <p:cNvSpPr txBox="1"/>
          <p:nvPr/>
        </p:nvSpPr>
        <p:spPr>
          <a:xfrm>
            <a:off x="2673431" y="987552"/>
            <a:ext cx="2015063"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Saiprakash · whole team</a:t>
            </a:r>
            <a:endParaRPr lang="en-US" sz="1050" dirty="0"/>
          </a:p>
        </p:txBody>
      </p:sp>
      <p:pic>
        <p:nvPicPr>
          <p:cNvPr id="6" name="image-283" descr="3D trajectory of the ESKF estimate with AprilTag fixes and the IMU-only path">    </p:cNvPr>
          <p:cNvPicPr>
            <a:picLocks noChangeAspect="1"/>
          </p:cNvPicPr>
          <p:nvPr/>
        </p:nvPicPr>
        <p:blipFill>
          <a:blip r:embed="rId1"/>
          <a:stretch>
            <a:fillRect/>
          </a:stretch>
        </p:blipFill>
        <p:spPr>
          <a:xfrm>
            <a:off x="548640" y="1406709"/>
            <a:ext cx="8001000" cy="3358782"/>
          </a:xfrm>
          <a:prstGeom prst="rect">
            <a:avLst/>
          </a:prstGeom>
        </p:spPr>
      </p:pic>
      <p:pic>
        <p:nvPicPr>
          <p:cNvPr id="7" name="image-284" descr="Top view of the ESKF path along the tag track">    </p:cNvPr>
          <p:cNvPicPr>
            <a:picLocks noChangeAspect="1"/>
          </p:cNvPicPr>
          <p:nvPr/>
        </p:nvPicPr>
        <p:blipFill>
          <a:blip r:embed="rId2"/>
          <a:stretch>
            <a:fillRect/>
          </a:stretch>
        </p:blipFill>
        <p:spPr>
          <a:xfrm>
            <a:off x="548640" y="4907294"/>
            <a:ext cx="8001000" cy="905113"/>
          </a:xfrm>
          <a:prstGeom prst="rect">
            <a:avLst/>
          </a:prstGeom>
        </p:spPr>
      </p:pic>
      <p:sp>
        <p:nvSpPr>
          <p:cNvPr id="8" name="text-285"/>
          <p:cNvSpPr txBox="1"/>
          <p:nvPr/>
        </p:nvSpPr>
        <p:spPr>
          <a:xfrm>
            <a:off x="548640" y="5858127"/>
            <a:ext cx="8001000" cy="274320"/>
          </a:xfrm>
          <a:prstGeom prst="rect">
            <a:avLst/>
          </a:prstGeom>
          <a:noFill/>
          <a:ln/>
        </p:spPr>
        <p:txBody>
          <a:bodyPr wrap="square" lIns="0" tIns="0" rIns="0" bIns="0" rtlCol="0" anchor="t"/>
          <a:lstStyle/>
          <a:p>
            <a:pPr indent="0" marL="0">
              <a:buNone/>
            </a:pPr>
            <a:r>
              <a:rPr lang="en-US" sz="1100" dirty="0">
                <a:solidFill>
                  <a:schemeClr val="accent4"/>
                </a:solidFill>
              </a:rPr>
              <a:t>Top view: ESKF (blue line), AprilTag fixes (orange), checkpoints (black)</a:t>
            </a:r>
            <a:endParaRPr lang="en-US" sz="1100" dirty="0"/>
          </a:p>
        </p:txBody>
      </p:sp>
      <p:sp>
        <p:nvSpPr>
          <p:cNvPr id="9" name="card-286"/>
          <p:cNvSpPr/>
          <p:nvPr/>
        </p:nvSpPr>
        <p:spPr>
          <a:xfrm>
            <a:off x="8915400" y="1417320"/>
            <a:ext cx="2727655" cy="868680"/>
          </a:xfrm>
          <a:prstGeom prst="roundRect">
            <a:avLst>
              <a:gd name="adj" fmla="val 8421"/>
            </a:avLst>
          </a:prstGeom>
          <a:solidFill>
            <a:schemeClr val="bg2"/>
          </a:solidFill>
          <a:ln/>
        </p:spPr>
      </p:sp>
      <p:sp>
        <p:nvSpPr>
          <p:cNvPr id="10" name="text-287"/>
          <p:cNvSpPr txBox="1"/>
          <p:nvPr/>
        </p:nvSpPr>
        <p:spPr>
          <a:xfrm>
            <a:off x="9052560" y="1508760"/>
            <a:ext cx="2453335" cy="411480"/>
          </a:xfrm>
          <a:prstGeom prst="rect">
            <a:avLst/>
          </a:prstGeom>
          <a:noFill/>
          <a:ln/>
        </p:spPr>
        <p:txBody>
          <a:bodyPr wrap="square" lIns="0" tIns="0" rIns="0" bIns="0" rtlCol="0" anchor="ctr"/>
          <a:lstStyle/>
          <a:p>
            <a:pPr indent="0" marL="0">
              <a:buNone/>
            </a:pPr>
            <a:r>
              <a:rPr lang="en-US" sz="2200" b="1" dirty="0">
                <a:solidFill>
                  <a:schemeClr val="tx1"/>
                </a:solidFill>
              </a:rPr>
              <a:t>33.8 m</a:t>
            </a:r>
            <a:endParaRPr lang="en-US" sz="2200" dirty="0"/>
          </a:p>
        </p:txBody>
      </p:sp>
      <p:sp>
        <p:nvSpPr>
          <p:cNvPr id="11" name="text-288"/>
          <p:cNvSpPr txBox="1"/>
          <p:nvPr/>
        </p:nvSpPr>
        <p:spPr>
          <a:xfrm>
            <a:off x="9052560" y="1920240"/>
            <a:ext cx="2453335" cy="274320"/>
          </a:xfrm>
          <a:prstGeom prst="rect">
            <a:avLst/>
          </a:prstGeom>
          <a:noFill/>
          <a:ln/>
        </p:spPr>
        <p:txBody>
          <a:bodyPr wrap="square" lIns="0" tIns="0" rIns="0" bIns="0" rtlCol="0" anchor="t"/>
          <a:lstStyle/>
          <a:p>
            <a:pPr indent="0" marL="0">
              <a:buNone/>
            </a:pPr>
            <a:r>
              <a:rPr lang="en-US" sz="1100" dirty="0">
                <a:solidFill>
                  <a:schemeClr val="tx2"/>
                </a:solidFill>
              </a:rPr>
              <a:t>walked in 70.8 s</a:t>
            </a:r>
            <a:endParaRPr lang="en-US" sz="1100" dirty="0"/>
          </a:p>
        </p:txBody>
      </p:sp>
      <p:sp>
        <p:nvSpPr>
          <p:cNvPr id="12" name="card-289"/>
          <p:cNvSpPr/>
          <p:nvPr/>
        </p:nvSpPr>
        <p:spPr>
          <a:xfrm>
            <a:off x="8915400" y="2395728"/>
            <a:ext cx="2727655" cy="868680"/>
          </a:xfrm>
          <a:prstGeom prst="roundRect">
            <a:avLst>
              <a:gd name="adj" fmla="val 8421"/>
            </a:avLst>
          </a:prstGeom>
          <a:solidFill>
            <a:schemeClr val="bg2"/>
          </a:solidFill>
          <a:ln/>
        </p:spPr>
      </p:sp>
      <p:sp>
        <p:nvSpPr>
          <p:cNvPr id="13" name="text-290"/>
          <p:cNvSpPr txBox="1"/>
          <p:nvPr/>
        </p:nvSpPr>
        <p:spPr>
          <a:xfrm>
            <a:off x="9052560" y="2487168"/>
            <a:ext cx="2453335" cy="411480"/>
          </a:xfrm>
          <a:prstGeom prst="rect">
            <a:avLst/>
          </a:prstGeom>
          <a:noFill/>
          <a:ln/>
        </p:spPr>
        <p:txBody>
          <a:bodyPr wrap="square" lIns="0" tIns="0" rIns="0" bIns="0" rtlCol="0" anchor="ctr"/>
          <a:lstStyle/>
          <a:p>
            <a:pPr indent="0" marL="0">
              <a:buNone/>
            </a:pPr>
            <a:r>
              <a:rPr lang="en-US" sz="2200" b="1" dirty="0">
                <a:solidFill>
                  <a:schemeClr val="tx1"/>
                </a:solidFill>
              </a:rPr>
              <a:t>44 %</a:t>
            </a:r>
            <a:endParaRPr lang="en-US" sz="2200" dirty="0"/>
          </a:p>
        </p:txBody>
      </p:sp>
      <p:sp>
        <p:nvSpPr>
          <p:cNvPr id="14" name="text-291"/>
          <p:cNvSpPr txBox="1"/>
          <p:nvPr/>
        </p:nvSpPr>
        <p:spPr>
          <a:xfrm>
            <a:off x="9052560" y="2898648"/>
            <a:ext cx="2453335" cy="274320"/>
          </a:xfrm>
          <a:prstGeom prst="rect">
            <a:avLst/>
          </a:prstGeom>
          <a:noFill/>
          <a:ln/>
        </p:spPr>
        <p:txBody>
          <a:bodyPr wrap="square" lIns="0" tIns="0" rIns="0" bIns="0" rtlCol="0" anchor="t"/>
          <a:lstStyle/>
          <a:p>
            <a:pPr indent="0" marL="0">
              <a:buNone/>
            </a:pPr>
            <a:r>
              <a:rPr lang="en-US" sz="1100" dirty="0">
                <a:solidFill>
                  <a:schemeClr val="tx2"/>
                </a:solidFill>
              </a:rPr>
              <a:t>of video frames see a tag</a:t>
            </a:r>
            <a:endParaRPr lang="en-US" sz="1100" dirty="0"/>
          </a:p>
        </p:txBody>
      </p:sp>
      <p:sp>
        <p:nvSpPr>
          <p:cNvPr id="15" name="card-292"/>
          <p:cNvSpPr/>
          <p:nvPr/>
        </p:nvSpPr>
        <p:spPr>
          <a:xfrm>
            <a:off x="8915400" y="3374136"/>
            <a:ext cx="2727655" cy="868680"/>
          </a:xfrm>
          <a:prstGeom prst="roundRect">
            <a:avLst>
              <a:gd name="adj" fmla="val 8421"/>
            </a:avLst>
          </a:prstGeom>
          <a:solidFill>
            <a:schemeClr val="bg2"/>
          </a:solidFill>
          <a:ln/>
        </p:spPr>
      </p:sp>
      <p:sp>
        <p:nvSpPr>
          <p:cNvPr id="16" name="text-293"/>
          <p:cNvSpPr txBox="1"/>
          <p:nvPr/>
        </p:nvSpPr>
        <p:spPr>
          <a:xfrm>
            <a:off x="9052560" y="3465576"/>
            <a:ext cx="2453335" cy="411480"/>
          </a:xfrm>
          <a:prstGeom prst="rect">
            <a:avLst/>
          </a:prstGeom>
          <a:noFill/>
          <a:ln/>
        </p:spPr>
        <p:txBody>
          <a:bodyPr wrap="square" lIns="0" tIns="0" rIns="0" bIns="0" rtlCol="0" anchor="ctr"/>
          <a:lstStyle/>
          <a:p>
            <a:pPr indent="0" marL="0">
              <a:buNone/>
            </a:pPr>
            <a:r>
              <a:rPr lang="en-US" sz="2200" b="1" dirty="0">
                <a:solidFill>
                  <a:schemeClr val="tx1"/>
                </a:solidFill>
              </a:rPr>
              <a:t>734 / 196</a:t>
            </a:r>
            <a:endParaRPr lang="en-US" sz="2200" dirty="0"/>
          </a:p>
        </p:txBody>
      </p:sp>
      <p:sp>
        <p:nvSpPr>
          <p:cNvPr id="17" name="text-294"/>
          <p:cNvSpPr txBox="1"/>
          <p:nvPr/>
        </p:nvSpPr>
        <p:spPr>
          <a:xfrm>
            <a:off x="9052560" y="3877056"/>
            <a:ext cx="2453335" cy="274320"/>
          </a:xfrm>
          <a:prstGeom prst="rect">
            <a:avLst/>
          </a:prstGeom>
          <a:noFill/>
          <a:ln/>
        </p:spPr>
        <p:txBody>
          <a:bodyPr wrap="square" lIns="0" tIns="0" rIns="0" bIns="0" rtlCol="0" anchor="t"/>
          <a:lstStyle/>
          <a:p>
            <a:pPr indent="0" marL="0">
              <a:buNone/>
            </a:pPr>
            <a:r>
              <a:rPr lang="en-US" sz="1100" dirty="0">
                <a:solidFill>
                  <a:schemeClr val="tx2"/>
                </a:solidFill>
              </a:rPr>
              <a:t>tag fixes used / gated out</a:t>
            </a:r>
            <a:endParaRPr lang="en-US" sz="1100" dirty="0"/>
          </a:p>
        </p:txBody>
      </p:sp>
      <p:sp>
        <p:nvSpPr>
          <p:cNvPr id="18" name="card-295"/>
          <p:cNvSpPr/>
          <p:nvPr/>
        </p:nvSpPr>
        <p:spPr>
          <a:xfrm>
            <a:off x="8915400" y="4352544"/>
            <a:ext cx="2727655" cy="868680"/>
          </a:xfrm>
          <a:prstGeom prst="roundRect">
            <a:avLst>
              <a:gd name="adj" fmla="val 8421"/>
            </a:avLst>
          </a:prstGeom>
          <a:solidFill>
            <a:schemeClr val="bg2"/>
          </a:solidFill>
          <a:ln/>
        </p:spPr>
      </p:sp>
      <p:sp>
        <p:nvSpPr>
          <p:cNvPr id="19" name="text-296"/>
          <p:cNvSpPr txBox="1"/>
          <p:nvPr/>
        </p:nvSpPr>
        <p:spPr>
          <a:xfrm>
            <a:off x="9052560" y="4443984"/>
            <a:ext cx="2453335" cy="411480"/>
          </a:xfrm>
          <a:prstGeom prst="rect">
            <a:avLst/>
          </a:prstGeom>
          <a:noFill/>
          <a:ln/>
        </p:spPr>
        <p:txBody>
          <a:bodyPr wrap="square" lIns="0" tIns="0" rIns="0" bIns="0" rtlCol="0" anchor="ctr"/>
          <a:lstStyle/>
          <a:p>
            <a:pPr indent="0" marL="0">
              <a:buNone/>
            </a:pPr>
            <a:r>
              <a:rPr lang="en-US" sz="2200" b="1" dirty="0">
                <a:solidFill>
                  <a:schemeClr val="accent2"/>
                </a:solidFill>
              </a:rPr>
              <a:t>13.5 cm</a:t>
            </a:r>
            <a:endParaRPr lang="en-US" sz="2200" dirty="0"/>
          </a:p>
        </p:txBody>
      </p:sp>
      <p:sp>
        <p:nvSpPr>
          <p:cNvPr id="20" name="text-297"/>
          <p:cNvSpPr txBox="1"/>
          <p:nvPr/>
        </p:nvSpPr>
        <p:spPr>
          <a:xfrm>
            <a:off x="9052560" y="4855464"/>
            <a:ext cx="2453335" cy="274320"/>
          </a:xfrm>
          <a:prstGeom prst="rect">
            <a:avLst/>
          </a:prstGeom>
          <a:noFill/>
          <a:ln/>
        </p:spPr>
        <p:txBody>
          <a:bodyPr wrap="square" lIns="0" tIns="0" rIns="0" bIns="0" rtlCol="0" anchor="t"/>
          <a:lstStyle/>
          <a:p>
            <a:pPr indent="0" marL="0">
              <a:buNone/>
            </a:pPr>
            <a:r>
              <a:rPr lang="en-US" sz="1100" dirty="0">
                <a:solidFill>
                  <a:schemeClr val="tx2"/>
                </a:solidFill>
              </a:rPr>
              <a:t>end point vs the last AprilTag fix</a:t>
            </a:r>
            <a:endParaRPr lang="en-US" sz="1100" dirty="0"/>
          </a:p>
        </p:txBody>
      </p:sp>
      <p:sp>
        <p:nvSpPr>
          <p:cNvPr id="21" name="card-298"/>
          <p:cNvSpPr/>
          <p:nvPr/>
        </p:nvSpPr>
        <p:spPr>
          <a:xfrm>
            <a:off x="8915400" y="5330952"/>
            <a:ext cx="2727655" cy="868680"/>
          </a:xfrm>
          <a:prstGeom prst="roundRect">
            <a:avLst>
              <a:gd name="adj" fmla="val 8421"/>
            </a:avLst>
          </a:prstGeom>
          <a:solidFill>
            <a:schemeClr val="bg2"/>
          </a:solidFill>
          <a:ln/>
        </p:spPr>
      </p:sp>
      <p:sp>
        <p:nvSpPr>
          <p:cNvPr id="22" name="text-299"/>
          <p:cNvSpPr txBox="1"/>
          <p:nvPr/>
        </p:nvSpPr>
        <p:spPr>
          <a:xfrm>
            <a:off x="9052560" y="5422392"/>
            <a:ext cx="2453335" cy="411480"/>
          </a:xfrm>
          <a:prstGeom prst="rect">
            <a:avLst/>
          </a:prstGeom>
          <a:noFill/>
          <a:ln/>
        </p:spPr>
        <p:txBody>
          <a:bodyPr wrap="square" lIns="0" tIns="0" rIns="0" bIns="0" rtlCol="0" anchor="ctr"/>
          <a:lstStyle/>
          <a:p>
            <a:pPr indent="0" marL="0">
              <a:buNone/>
            </a:pPr>
            <a:r>
              <a:rPr lang="en-US" sz="2200" b="1" dirty="0">
                <a:solidFill>
                  <a:schemeClr val="accent3"/>
                </a:solidFill>
              </a:rPr>
              <a:t>2.9 s</a:t>
            </a:r>
            <a:endParaRPr lang="en-US" sz="2200" dirty="0"/>
          </a:p>
        </p:txBody>
      </p:sp>
      <p:sp>
        <p:nvSpPr>
          <p:cNvPr id="23" name="text-300"/>
          <p:cNvSpPr txBox="1"/>
          <p:nvPr/>
        </p:nvSpPr>
        <p:spPr>
          <a:xfrm>
            <a:off x="9052560" y="5833872"/>
            <a:ext cx="2453335" cy="274320"/>
          </a:xfrm>
          <a:prstGeom prst="rect">
            <a:avLst/>
          </a:prstGeom>
          <a:noFill/>
          <a:ln/>
        </p:spPr>
        <p:txBody>
          <a:bodyPr wrap="square" lIns="0" tIns="0" rIns="0" bIns="0" rtlCol="0" anchor="t"/>
          <a:lstStyle/>
          <a:p>
            <a:pPr indent="0" marL="0">
              <a:buNone/>
            </a:pPr>
            <a:r>
              <a:rPr lang="en-US" sz="1100" dirty="0">
                <a:solidFill>
                  <a:schemeClr val="tx2"/>
                </a:solidFill>
              </a:rPr>
              <a:t>until the bare IMU is 1 m off</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tx1"/>
                </a:solidFill>
              </a:rPr>
              <a:t>Error vs time and distance on the real walk</a:t>
            </a:r>
            <a:endParaRPr lang="en-US" sz="3000" dirty="0"/>
          </a:p>
        </p:txBody>
      </p:sp>
      <p:sp>
        <p:nvSpPr>
          <p:cNvPr id="4" name="pill-301"/>
          <p:cNvSpPr txBox="1"/>
          <p:nvPr/>
        </p:nvSpPr>
        <p:spPr>
          <a:xfrm>
            <a:off x="548640" y="987552"/>
            <a:ext cx="2539289"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Real hardware · error analysis</a:t>
            </a:r>
            <a:endParaRPr lang="en-US" sz="1050" dirty="0"/>
          </a:p>
        </p:txBody>
      </p:sp>
      <p:sp>
        <p:nvSpPr>
          <p:cNvPr id="5" name="pill-302"/>
          <p:cNvSpPr txBox="1"/>
          <p:nvPr/>
        </p:nvSpPr>
        <p:spPr>
          <a:xfrm>
            <a:off x="3197657" y="987552"/>
            <a:ext cx="1865285"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1050" b="1" dirty="0">
                <a:solidFill>
                  <a:schemeClr val="tx2"/>
                </a:solidFill>
              </a:rPr>
              <a:t>Computed from walk_01</a:t>
            </a:r>
            <a:endParaRPr lang="en-US" sz="1050" dirty="0"/>
          </a:p>
        </p:txBody>
      </p:sp>
      <p:pic>
        <p:nvPicPr>
          <p:cNvPr id="6" name="image-303" descr="Position error versus time for the ESKF with tags, the ESKF with the camera blanked, and the bare IMU">    </p:cNvPr>
          <p:cNvPicPr>
            <a:picLocks noChangeAspect="1"/>
          </p:cNvPicPr>
          <p:nvPr/>
        </p:nvPicPr>
        <p:blipFill>
          <a:blip r:embed="rId1"/>
          <a:stretch>
            <a:fillRect/>
          </a:stretch>
        </p:blipFill>
        <p:spPr>
          <a:xfrm>
            <a:off x="548640" y="1494625"/>
            <a:ext cx="5432908" cy="3320110"/>
          </a:xfrm>
          <a:prstGeom prst="rect">
            <a:avLst/>
          </a:prstGeom>
        </p:spPr>
      </p:pic>
      <p:pic>
        <p:nvPicPr>
          <p:cNvPr id="7" name="image-304" descr="Position error versus distance walked, with the Tier 2 three percent line">    </p:cNvPr>
          <p:cNvPicPr>
            <a:picLocks noChangeAspect="1"/>
          </p:cNvPicPr>
          <p:nvPr/>
        </p:nvPicPr>
        <p:blipFill>
          <a:blip r:embed="rId2"/>
          <a:stretch>
            <a:fillRect/>
          </a:stretch>
        </p:blipFill>
        <p:spPr>
          <a:xfrm>
            <a:off x="6210148" y="1494625"/>
            <a:ext cx="5432908" cy="3320110"/>
          </a:xfrm>
          <a:prstGeom prst="rect">
            <a:avLst/>
          </a:prstGeom>
        </p:spPr>
      </p:pic>
      <p:sp>
        <p:nvSpPr>
          <p:cNvPr id="8" name="card-305"/>
          <p:cNvSpPr/>
          <p:nvPr/>
        </p:nvSpPr>
        <p:spPr>
          <a:xfrm>
            <a:off x="548640" y="5074920"/>
            <a:ext cx="2636444" cy="1143000"/>
          </a:xfrm>
          <a:prstGeom prst="roundRect">
            <a:avLst>
              <a:gd name="adj" fmla="val 6400"/>
            </a:avLst>
          </a:prstGeom>
          <a:solidFill>
            <a:schemeClr val="bg2"/>
          </a:solidFill>
          <a:ln/>
        </p:spPr>
      </p:sp>
      <p:sp>
        <p:nvSpPr>
          <p:cNvPr id="9" name="text-306"/>
          <p:cNvSpPr txBox="1"/>
          <p:nvPr/>
        </p:nvSpPr>
        <p:spPr>
          <a:xfrm>
            <a:off x="685800" y="5166360"/>
            <a:ext cx="2362124" cy="438912"/>
          </a:xfrm>
          <a:prstGeom prst="rect">
            <a:avLst/>
          </a:prstGeom>
          <a:noFill/>
          <a:ln/>
        </p:spPr>
        <p:txBody>
          <a:bodyPr wrap="square" lIns="0" tIns="0" rIns="0" bIns="0" rtlCol="0" anchor="ctr"/>
          <a:lstStyle/>
          <a:p>
            <a:pPr indent="0" marL="0">
              <a:buNone/>
            </a:pPr>
            <a:r>
              <a:rPr lang="en-US" sz="2200" b="1" dirty="0">
                <a:solidFill>
                  <a:schemeClr val="accent1"/>
                </a:solidFill>
              </a:rPr>
              <a:t>2.4 cm</a:t>
            </a:r>
            <a:endParaRPr lang="en-US" sz="2200" dirty="0"/>
          </a:p>
        </p:txBody>
      </p:sp>
      <p:sp>
        <p:nvSpPr>
          <p:cNvPr id="10" name="text-307"/>
          <p:cNvSpPr txBox="1"/>
          <p:nvPr/>
        </p:nvSpPr>
        <p:spPr>
          <a:xfrm>
            <a:off x="685800" y="5605272"/>
            <a:ext cx="2362124" cy="521208"/>
          </a:xfrm>
          <a:prstGeom prst="rect">
            <a:avLst/>
          </a:prstGeom>
          <a:noFill/>
          <a:ln/>
        </p:spPr>
        <p:txBody>
          <a:bodyPr wrap="square" lIns="0" tIns="0" rIns="0" bIns="0" rtlCol="0" anchor="t"/>
          <a:lstStyle/>
          <a:p>
            <a:pPr indent="0" marL="0">
              <a:buNone/>
            </a:pPr>
            <a:r>
              <a:rPr lang="en-US" sz="1100" dirty="0">
                <a:solidFill>
                  <a:schemeClr val="tx2"/>
                </a:solidFill>
              </a:rPr>
              <a:t>median ESKF vs tag fix; 90 % under 15 cm (737 fixes)</a:t>
            </a:r>
            <a:endParaRPr lang="en-US" sz="1100" dirty="0"/>
          </a:p>
        </p:txBody>
      </p:sp>
      <p:sp>
        <p:nvSpPr>
          <p:cNvPr id="11" name="card-308"/>
          <p:cNvSpPr/>
          <p:nvPr/>
        </p:nvSpPr>
        <p:spPr>
          <a:xfrm>
            <a:off x="3367964" y="5074920"/>
            <a:ext cx="2636444" cy="1143000"/>
          </a:xfrm>
          <a:prstGeom prst="roundRect">
            <a:avLst>
              <a:gd name="adj" fmla="val 6400"/>
            </a:avLst>
          </a:prstGeom>
          <a:solidFill>
            <a:schemeClr val="bg2"/>
          </a:solidFill>
          <a:ln/>
        </p:spPr>
      </p:sp>
      <p:sp>
        <p:nvSpPr>
          <p:cNvPr id="12" name="text-309"/>
          <p:cNvSpPr txBox="1"/>
          <p:nvPr/>
        </p:nvSpPr>
        <p:spPr>
          <a:xfrm>
            <a:off x="3505124" y="5166360"/>
            <a:ext cx="2362124" cy="438912"/>
          </a:xfrm>
          <a:prstGeom prst="rect">
            <a:avLst/>
          </a:prstGeom>
          <a:noFill/>
          <a:ln/>
        </p:spPr>
        <p:txBody>
          <a:bodyPr wrap="square" lIns="0" tIns="0" rIns="0" bIns="0" rtlCol="0" anchor="ctr"/>
          <a:lstStyle/>
          <a:p>
            <a:pPr indent="0" marL="0">
              <a:buNone/>
            </a:pPr>
            <a:r>
              <a:rPr lang="en-US" sz="2200" b="1" dirty="0">
                <a:solidFill>
                  <a:schemeClr val="accent2"/>
                </a:solidFill>
              </a:rPr>
              <a:t>10.5 cm</a:t>
            </a:r>
            <a:endParaRPr lang="en-US" sz="2200" dirty="0"/>
          </a:p>
        </p:txBody>
      </p:sp>
      <p:sp>
        <p:nvSpPr>
          <p:cNvPr id="13" name="text-310"/>
          <p:cNvSpPr txBox="1"/>
          <p:nvPr/>
        </p:nvSpPr>
        <p:spPr>
          <a:xfrm>
            <a:off x="3505124" y="5605272"/>
            <a:ext cx="2362124" cy="521208"/>
          </a:xfrm>
          <a:prstGeom prst="rect">
            <a:avLst/>
          </a:prstGeom>
          <a:noFill/>
          <a:ln/>
        </p:spPr>
        <p:txBody>
          <a:bodyPr wrap="square" lIns="0" tIns="0" rIns="0" bIns="0" rtlCol="0" anchor="t"/>
          <a:lstStyle/>
          <a:p>
            <a:pPr indent="0" marL="0">
              <a:buNone/>
            </a:pPr>
            <a:r>
              <a:rPr lang="en-US" sz="1100" dirty="0">
                <a:solidFill>
                  <a:schemeClr val="tx2"/>
                </a:solidFill>
              </a:rPr>
              <a:t>median on held-out fixes, camera blanked 2 s in every 4 s</a:t>
            </a:r>
            <a:endParaRPr lang="en-US" sz="1100" dirty="0"/>
          </a:p>
        </p:txBody>
      </p:sp>
      <p:sp>
        <p:nvSpPr>
          <p:cNvPr id="14" name="card-311"/>
          <p:cNvSpPr/>
          <p:nvPr/>
        </p:nvSpPr>
        <p:spPr>
          <a:xfrm>
            <a:off x="6187288" y="5074920"/>
            <a:ext cx="2636444" cy="1143000"/>
          </a:xfrm>
          <a:prstGeom prst="roundRect">
            <a:avLst>
              <a:gd name="adj" fmla="val 6400"/>
            </a:avLst>
          </a:prstGeom>
          <a:solidFill>
            <a:schemeClr val="bg2"/>
          </a:solidFill>
          <a:ln/>
        </p:spPr>
      </p:sp>
      <p:sp>
        <p:nvSpPr>
          <p:cNvPr id="15" name="text-312"/>
          <p:cNvSpPr txBox="1"/>
          <p:nvPr/>
        </p:nvSpPr>
        <p:spPr>
          <a:xfrm>
            <a:off x="6324448" y="5166360"/>
            <a:ext cx="2362124" cy="438912"/>
          </a:xfrm>
          <a:prstGeom prst="rect">
            <a:avLst/>
          </a:prstGeom>
          <a:noFill/>
          <a:ln/>
        </p:spPr>
        <p:txBody>
          <a:bodyPr wrap="square" lIns="0" tIns="0" rIns="0" bIns="0" rtlCol="0" anchor="ctr"/>
          <a:lstStyle/>
          <a:p>
            <a:pPr indent="0" marL="0">
              <a:buNone/>
            </a:pPr>
            <a:r>
              <a:rPr lang="en-US" sz="2200" b="1" dirty="0">
                <a:solidFill>
                  <a:schemeClr val="accent2"/>
                </a:solidFill>
              </a:rPr>
              <a:t>6 → 16 cm</a:t>
            </a:r>
            <a:endParaRPr lang="en-US" sz="2200" dirty="0"/>
          </a:p>
        </p:txBody>
      </p:sp>
      <p:sp>
        <p:nvSpPr>
          <p:cNvPr id="16" name="text-313"/>
          <p:cNvSpPr txBox="1"/>
          <p:nvPr/>
        </p:nvSpPr>
        <p:spPr>
          <a:xfrm>
            <a:off x="6324448" y="5605272"/>
            <a:ext cx="2362124" cy="521208"/>
          </a:xfrm>
          <a:prstGeom prst="rect">
            <a:avLst/>
          </a:prstGeom>
          <a:noFill/>
          <a:ln/>
        </p:spPr>
        <p:txBody>
          <a:bodyPr wrap="square" lIns="0" tIns="0" rIns="0" bIns="0" rtlCol="0" anchor="t"/>
          <a:lstStyle/>
          <a:p>
            <a:pPr indent="0" marL="0">
              <a:buNone/>
            </a:pPr>
            <a:r>
              <a:rPr lang="en-US" sz="1100" dirty="0">
                <a:solidFill>
                  <a:schemeClr val="tx2"/>
                </a:solidFill>
              </a:rPr>
              <a:t>median bridging error, 0.5 s → 2 s after the camera drops</a:t>
            </a:r>
            <a:endParaRPr lang="en-US" sz="1100" dirty="0"/>
          </a:p>
        </p:txBody>
      </p:sp>
      <p:sp>
        <p:nvSpPr>
          <p:cNvPr id="17" name="card-314"/>
          <p:cNvSpPr/>
          <p:nvPr/>
        </p:nvSpPr>
        <p:spPr>
          <a:xfrm>
            <a:off x="9006611" y="5074920"/>
            <a:ext cx="2636444" cy="1143000"/>
          </a:xfrm>
          <a:prstGeom prst="roundRect">
            <a:avLst>
              <a:gd name="adj" fmla="val 6400"/>
            </a:avLst>
          </a:prstGeom>
          <a:solidFill>
            <a:schemeClr val="bg2"/>
          </a:solidFill>
          <a:ln/>
        </p:spPr>
      </p:sp>
      <p:sp>
        <p:nvSpPr>
          <p:cNvPr id="18" name="text-315"/>
          <p:cNvSpPr txBox="1"/>
          <p:nvPr/>
        </p:nvSpPr>
        <p:spPr>
          <a:xfrm>
            <a:off x="9143771" y="5166360"/>
            <a:ext cx="2362124" cy="438912"/>
          </a:xfrm>
          <a:prstGeom prst="rect">
            <a:avLst/>
          </a:prstGeom>
          <a:noFill/>
          <a:ln/>
        </p:spPr>
        <p:txBody>
          <a:bodyPr wrap="square" lIns="0" tIns="0" rIns="0" bIns="0" rtlCol="0" anchor="ctr"/>
          <a:lstStyle/>
          <a:p>
            <a:pPr indent="0" marL="0">
              <a:buNone/>
            </a:pPr>
            <a:r>
              <a:rPr lang="en-US" sz="2200" b="1" dirty="0">
                <a:solidFill>
                  <a:schemeClr val="accent3"/>
                </a:solidFill>
              </a:rPr>
              <a:t>≈ 2 m</a:t>
            </a:r>
            <a:endParaRPr lang="en-US" sz="2200" dirty="0"/>
          </a:p>
        </p:txBody>
      </p:sp>
      <p:sp>
        <p:nvSpPr>
          <p:cNvPr id="19" name="text-316"/>
          <p:cNvSpPr txBox="1"/>
          <p:nvPr/>
        </p:nvSpPr>
        <p:spPr>
          <a:xfrm>
            <a:off x="9143771" y="5605272"/>
            <a:ext cx="2362124" cy="521208"/>
          </a:xfrm>
          <a:prstGeom prst="rect">
            <a:avLst/>
          </a:prstGeom>
          <a:noFill/>
          <a:ln/>
        </p:spPr>
        <p:txBody>
          <a:bodyPr wrap="square" lIns="0" tIns="0" rIns="0" bIns="0" rtlCol="0" anchor="t"/>
          <a:lstStyle/>
          <a:p>
            <a:pPr indent="0" marL="0">
              <a:buNone/>
            </a:pPr>
            <a:r>
              <a:rPr lang="en-US" sz="1100" dirty="0">
                <a:solidFill>
                  <a:schemeClr val="tx2"/>
                </a:solidFill>
              </a:rPr>
              <a:t>worst case: 7 s with no tag at the far-end turnaround</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658368"/>
          </a:xfrm>
          <a:prstGeom prst="rect">
            <a:avLst/>
          </a:prstGeom>
          <a:noFill/>
          <a:ln/>
        </p:spPr>
        <p:txBody>
          <a:bodyPr wrap="square" lIns="0" tIns="0" rIns="0" bIns="0" rtlCol="0" anchor="ctr"/>
          <a:lstStyle/>
          <a:p>
            <a:pPr algn="l" indent="0" marL="0">
              <a:buNone/>
            </a:pPr>
            <a:r>
              <a:rPr lang="en-US" sz="3000" b="1" dirty="0">
                <a:solidFill>
                  <a:schemeClr val="bg1"/>
                </a:solidFill>
              </a:rPr>
              <a:t>Scorecard and what comes next</a:t>
            </a:r>
            <a:endParaRPr lang="en-US" sz="3000" dirty="0"/>
          </a:p>
        </p:txBody>
      </p:sp>
      <p:sp>
        <p:nvSpPr>
          <p:cNvPr id="4" name="pts-317"/>
          <p:cNvSpPr txBox="1"/>
          <p:nvPr/>
        </p:nvSpPr>
        <p:spPr>
          <a:xfrm>
            <a:off x="548640" y="1280160"/>
            <a:ext cx="566928" cy="566928"/>
          </a:xfrm>
          <a:prstGeom prst="ellipse">
            <a:avLst/>
          </a:prstGeom>
          <a:solidFill>
            <a:schemeClr val="tx2"/>
          </a:solidFill>
          <a:ln w="19050">
            <a:solidFill>
              <a:srgbClr val="1B998B"/>
            </a:solidFill>
          </a:ln>
        </p:spPr>
        <p:txBody>
          <a:bodyPr wrap="square" lIns="0" tIns="0" rIns="0" bIns="0" rtlCol="0" anchor="ctr"/>
          <a:lstStyle/>
          <a:p>
            <a:pPr algn="ctr" indent="0" marL="0">
              <a:buNone/>
            </a:pPr>
            <a:r>
              <a:rPr lang="en-US" sz="1500" b="1" dirty="0">
                <a:solidFill>
                  <a:schemeClr val="bg1"/>
                </a:solidFill>
              </a:rPr>
              <a:t>35</a:t>
            </a:r>
            <a:endParaRPr lang="en-US" sz="1500" dirty="0"/>
          </a:p>
        </p:txBody>
      </p:sp>
      <p:sp>
        <p:nvSpPr>
          <p:cNvPr id="5" name="text-318"/>
          <p:cNvSpPr txBox="1"/>
          <p:nvPr/>
        </p:nvSpPr>
        <p:spPr>
          <a:xfrm>
            <a:off x="1280160" y="1234440"/>
            <a:ext cx="5852160" cy="292608"/>
          </a:xfrm>
          <a:prstGeom prst="rect">
            <a:avLst/>
          </a:prstGeom>
          <a:noFill/>
          <a:ln/>
        </p:spPr>
        <p:txBody>
          <a:bodyPr wrap="square" lIns="0" tIns="0" rIns="0" bIns="0" rtlCol="0" anchor="t"/>
          <a:lstStyle/>
          <a:p>
            <a:pPr indent="0" marL="0">
              <a:buNone/>
            </a:pPr>
            <a:r>
              <a:rPr lang="en-US" sz="1500" b="1" dirty="0">
                <a:solidFill>
                  <a:schemeClr val="bg1"/>
                </a:solidFill>
              </a:rPr>
              <a:t>Accuracy</a:t>
            </a:r>
            <a:endParaRPr lang="en-US" sz="1500" dirty="0"/>
          </a:p>
        </p:txBody>
      </p:sp>
      <p:sp>
        <p:nvSpPr>
          <p:cNvPr id="6" name="text-319"/>
          <p:cNvSpPr txBox="1"/>
          <p:nvPr/>
        </p:nvSpPr>
        <p:spPr>
          <a:xfrm>
            <a:off x="1280160" y="1536192"/>
            <a:ext cx="5852160" cy="502920"/>
          </a:xfrm>
          <a:prstGeom prst="rect">
            <a:avLst/>
          </a:prstGeom>
          <a:noFill/>
          <a:ln/>
        </p:spPr>
        <p:txBody>
          <a:bodyPr wrap="square" lIns="0" tIns="0" rIns="0" bIns="0" rtlCol="0" anchor="t"/>
          <a:lstStyle/>
          <a:p>
            <a:pPr indent="0" marL="0">
              <a:buNone/>
            </a:pPr>
            <a:r>
              <a:rPr lang="en-US" sz="1250" dirty="0">
                <a:solidFill>
                  <a:schemeClr val="accent6"/>
                </a:solidFill>
              </a:rPr>
              <a:t>cm-level with an aid on all three test beds: 3.9 cm sim, 13.8 cm i-ASL, 2.4 cm median on the real walk</a:t>
            </a:r>
            <a:endParaRPr lang="en-US" sz="1250" dirty="0"/>
          </a:p>
        </p:txBody>
      </p:sp>
      <p:sp>
        <p:nvSpPr>
          <p:cNvPr id="7" name="pts-320"/>
          <p:cNvSpPr txBox="1"/>
          <p:nvPr/>
        </p:nvSpPr>
        <p:spPr>
          <a:xfrm>
            <a:off x="548640" y="2176272"/>
            <a:ext cx="566928" cy="566928"/>
          </a:xfrm>
          <a:prstGeom prst="ellipse">
            <a:avLst/>
          </a:prstGeom>
          <a:solidFill>
            <a:schemeClr val="tx2"/>
          </a:solidFill>
          <a:ln w="19050">
            <a:solidFill>
              <a:srgbClr val="1B998B"/>
            </a:solidFill>
          </a:ln>
        </p:spPr>
        <p:txBody>
          <a:bodyPr wrap="square" lIns="0" tIns="0" rIns="0" bIns="0" rtlCol="0" anchor="ctr"/>
          <a:lstStyle/>
          <a:p>
            <a:pPr algn="ctr" indent="0" marL="0">
              <a:buNone/>
            </a:pPr>
            <a:r>
              <a:rPr lang="en-US" sz="1500" b="1" dirty="0">
                <a:solidFill>
                  <a:schemeClr val="bg1"/>
                </a:solidFill>
              </a:rPr>
              <a:t>20</a:t>
            </a:r>
            <a:endParaRPr lang="en-US" sz="1500" dirty="0"/>
          </a:p>
        </p:txBody>
      </p:sp>
      <p:sp>
        <p:nvSpPr>
          <p:cNvPr id="8" name="text-321"/>
          <p:cNvSpPr txBox="1"/>
          <p:nvPr/>
        </p:nvSpPr>
        <p:spPr>
          <a:xfrm>
            <a:off x="1280160" y="2130552"/>
            <a:ext cx="5852160" cy="292608"/>
          </a:xfrm>
          <a:prstGeom prst="rect">
            <a:avLst/>
          </a:prstGeom>
          <a:noFill/>
          <a:ln/>
        </p:spPr>
        <p:txBody>
          <a:bodyPr wrap="square" lIns="0" tIns="0" rIns="0" bIns="0" rtlCol="0" anchor="t"/>
          <a:lstStyle/>
          <a:p>
            <a:pPr indent="0" marL="0">
              <a:buNone/>
            </a:pPr>
            <a:r>
              <a:rPr lang="en-US" sz="1500" b="1" dirty="0">
                <a:solidFill>
                  <a:schemeClr val="bg1"/>
                </a:solidFill>
              </a:rPr>
              <a:t>Filter and fusion</a:t>
            </a:r>
            <a:endParaRPr lang="en-US" sz="1500" dirty="0"/>
          </a:p>
        </p:txBody>
      </p:sp>
      <p:sp>
        <p:nvSpPr>
          <p:cNvPr id="9" name="text-322"/>
          <p:cNvSpPr txBox="1"/>
          <p:nvPr/>
        </p:nvSpPr>
        <p:spPr>
          <a:xfrm>
            <a:off x="1280160" y="2432304"/>
            <a:ext cx="5852160" cy="502920"/>
          </a:xfrm>
          <a:prstGeom prst="rect">
            <a:avLst/>
          </a:prstGeom>
          <a:noFill/>
          <a:ln/>
        </p:spPr>
        <p:txBody>
          <a:bodyPr wrap="square" lIns="0" tIns="0" rIns="0" bIns="0" rtlCol="0" anchor="t"/>
          <a:lstStyle/>
          <a:p>
            <a:pPr indent="0" marL="0">
              <a:buNone/>
            </a:pPr>
            <a:r>
              <a:rPr lang="en-US" sz="1250" dirty="0">
                <a:solidFill>
                  <a:schemeClr val="accent6"/>
                </a:solidFill>
              </a:rPr>
              <a:t>one 15-state ESKF: per-anchor UWB, tag pose, gravity, χ² gating, restarts</a:t>
            </a:r>
            <a:endParaRPr lang="en-US" sz="1250" dirty="0"/>
          </a:p>
        </p:txBody>
      </p:sp>
      <p:sp>
        <p:nvSpPr>
          <p:cNvPr id="10" name="pts-323"/>
          <p:cNvSpPr txBox="1"/>
          <p:nvPr/>
        </p:nvSpPr>
        <p:spPr>
          <a:xfrm>
            <a:off x="548640" y="3072384"/>
            <a:ext cx="566928" cy="566928"/>
          </a:xfrm>
          <a:prstGeom prst="ellipse">
            <a:avLst/>
          </a:prstGeom>
          <a:solidFill>
            <a:schemeClr val="tx2"/>
          </a:solidFill>
          <a:ln w="19050">
            <a:solidFill>
              <a:srgbClr val="1B998B"/>
            </a:solidFill>
          </a:ln>
        </p:spPr>
        <p:txBody>
          <a:bodyPr wrap="square" lIns="0" tIns="0" rIns="0" bIns="0" rtlCol="0" anchor="ctr"/>
          <a:lstStyle/>
          <a:p>
            <a:pPr algn="ctr" indent="0" marL="0">
              <a:buNone/>
            </a:pPr>
            <a:r>
              <a:rPr lang="en-US" sz="1500" b="1" dirty="0">
                <a:solidFill>
                  <a:schemeClr val="bg1"/>
                </a:solidFill>
              </a:rPr>
              <a:t>15</a:t>
            </a:r>
            <a:endParaRPr lang="en-US" sz="1500" dirty="0"/>
          </a:p>
        </p:txBody>
      </p:sp>
      <p:sp>
        <p:nvSpPr>
          <p:cNvPr id="11" name="text-324"/>
          <p:cNvSpPr txBox="1"/>
          <p:nvPr/>
        </p:nvSpPr>
        <p:spPr>
          <a:xfrm>
            <a:off x="1280160" y="3026664"/>
            <a:ext cx="5852160" cy="292608"/>
          </a:xfrm>
          <a:prstGeom prst="rect">
            <a:avLst/>
          </a:prstGeom>
          <a:noFill/>
          <a:ln/>
        </p:spPr>
        <p:txBody>
          <a:bodyPr wrap="square" lIns="0" tIns="0" rIns="0" bIns="0" rtlCol="0" anchor="t"/>
          <a:lstStyle/>
          <a:p>
            <a:pPr indent="0" marL="0">
              <a:buNone/>
            </a:pPr>
            <a:r>
              <a:rPr lang="en-US" sz="1500" b="1" dirty="0">
                <a:solidFill>
                  <a:schemeClr val="bg1"/>
                </a:solidFill>
              </a:rPr>
              <a:t>Calibration and drift</a:t>
            </a:r>
            <a:endParaRPr lang="en-US" sz="1500" dirty="0"/>
          </a:p>
        </p:txBody>
      </p:sp>
      <p:sp>
        <p:nvSpPr>
          <p:cNvPr id="12" name="text-325"/>
          <p:cNvSpPr txBox="1"/>
          <p:nvPr/>
        </p:nvSpPr>
        <p:spPr>
          <a:xfrm>
            <a:off x="1280160" y="3328416"/>
            <a:ext cx="5852160" cy="502920"/>
          </a:xfrm>
          <a:prstGeom prst="rect">
            <a:avLst/>
          </a:prstGeom>
          <a:noFill/>
          <a:ln/>
        </p:spPr>
        <p:txBody>
          <a:bodyPr wrap="square" lIns="0" tIns="0" rIns="0" bIns="0" rtlCol="0" anchor="t"/>
          <a:lstStyle/>
          <a:p>
            <a:pPr indent="0" marL="0">
              <a:buNone/>
            </a:pPr>
            <a:r>
              <a:rPr lang="en-US" sz="1250" dirty="0">
                <a:solidFill>
                  <a:schemeClr val="accent6"/>
                </a:solidFill>
              </a:rPr>
              <a:t>1 h Allan noise model, drift predicted vs measured (1.22), bias procedure</a:t>
            </a:r>
            <a:endParaRPr lang="en-US" sz="1250" dirty="0"/>
          </a:p>
        </p:txBody>
      </p:sp>
      <p:sp>
        <p:nvSpPr>
          <p:cNvPr id="13" name="pts-326"/>
          <p:cNvSpPr txBox="1"/>
          <p:nvPr/>
        </p:nvSpPr>
        <p:spPr>
          <a:xfrm>
            <a:off x="548640" y="3968496"/>
            <a:ext cx="566928" cy="566928"/>
          </a:xfrm>
          <a:prstGeom prst="ellipse">
            <a:avLst/>
          </a:prstGeom>
          <a:solidFill>
            <a:schemeClr val="tx2"/>
          </a:solidFill>
          <a:ln w="19050">
            <a:solidFill>
              <a:srgbClr val="1B998B"/>
            </a:solidFill>
          </a:ln>
        </p:spPr>
        <p:txBody>
          <a:bodyPr wrap="square" lIns="0" tIns="0" rIns="0" bIns="0" rtlCol="0" anchor="ctr"/>
          <a:lstStyle/>
          <a:p>
            <a:pPr algn="ctr" indent="0" marL="0">
              <a:buNone/>
            </a:pPr>
            <a:r>
              <a:rPr lang="en-US" sz="1500" b="1" dirty="0">
                <a:solidFill>
                  <a:schemeClr val="bg1"/>
                </a:solidFill>
              </a:rPr>
              <a:t>15</a:t>
            </a:r>
            <a:endParaRPr lang="en-US" sz="1500" dirty="0"/>
          </a:p>
        </p:txBody>
      </p:sp>
      <p:sp>
        <p:nvSpPr>
          <p:cNvPr id="14" name="text-327"/>
          <p:cNvSpPr txBox="1"/>
          <p:nvPr/>
        </p:nvSpPr>
        <p:spPr>
          <a:xfrm>
            <a:off x="1280160" y="3922776"/>
            <a:ext cx="5852160" cy="292608"/>
          </a:xfrm>
          <a:prstGeom prst="rect">
            <a:avLst/>
          </a:prstGeom>
          <a:noFill/>
          <a:ln/>
        </p:spPr>
        <p:txBody>
          <a:bodyPr wrap="square" lIns="0" tIns="0" rIns="0" bIns="0" rtlCol="0" anchor="t"/>
          <a:lstStyle/>
          <a:p>
            <a:pPr indent="0" marL="0">
              <a:buNone/>
            </a:pPr>
            <a:r>
              <a:rPr lang="en-US" sz="1500" b="1" dirty="0">
                <a:solidFill>
                  <a:schemeClr val="bg1"/>
                </a:solidFill>
              </a:rPr>
              <a:t>Real-time</a:t>
            </a:r>
            <a:endParaRPr lang="en-US" sz="1500" dirty="0"/>
          </a:p>
        </p:txBody>
      </p:sp>
      <p:sp>
        <p:nvSpPr>
          <p:cNvPr id="15" name="text-328"/>
          <p:cNvSpPr txBox="1"/>
          <p:nvPr/>
        </p:nvSpPr>
        <p:spPr>
          <a:xfrm>
            <a:off x="1280160" y="4224528"/>
            <a:ext cx="5852160" cy="502920"/>
          </a:xfrm>
          <a:prstGeom prst="rect">
            <a:avLst/>
          </a:prstGeom>
          <a:noFill/>
          <a:ln/>
        </p:spPr>
        <p:txBody>
          <a:bodyPr wrap="square" lIns="0" tIns="0" rIns="0" bIns="0" rtlCol="0" anchor="t"/>
          <a:lstStyle/>
          <a:p>
            <a:pPr indent="0" marL="0">
              <a:buNone/>
            </a:pPr>
            <a:r>
              <a:rPr lang="en-US" sz="1250" dirty="0">
                <a:solidFill>
                  <a:schemeClr val="accent6"/>
                </a:solidFill>
              </a:rPr>
              <a:t>live ROS 2 ESKF on the 200 Hz sim IMU; live phone console at 395 Hz; no MCU port yet</a:t>
            </a:r>
            <a:endParaRPr lang="en-US" sz="1250" dirty="0"/>
          </a:p>
        </p:txBody>
      </p:sp>
      <p:sp>
        <p:nvSpPr>
          <p:cNvPr id="16" name="pts-329"/>
          <p:cNvSpPr txBox="1"/>
          <p:nvPr/>
        </p:nvSpPr>
        <p:spPr>
          <a:xfrm>
            <a:off x="548640" y="4864608"/>
            <a:ext cx="566928" cy="566928"/>
          </a:xfrm>
          <a:prstGeom prst="ellipse">
            <a:avLst/>
          </a:prstGeom>
          <a:solidFill>
            <a:schemeClr val="tx2"/>
          </a:solidFill>
          <a:ln w="19050">
            <a:solidFill>
              <a:srgbClr val="1B998B"/>
            </a:solidFill>
          </a:ln>
        </p:spPr>
        <p:txBody>
          <a:bodyPr wrap="square" lIns="0" tIns="0" rIns="0" bIns="0" rtlCol="0" anchor="ctr"/>
          <a:lstStyle/>
          <a:p>
            <a:pPr algn="ctr" indent="0" marL="0">
              <a:buNone/>
            </a:pPr>
            <a:r>
              <a:rPr lang="en-US" sz="1500" b="1" dirty="0">
                <a:solidFill>
                  <a:schemeClr val="bg1"/>
                </a:solidFill>
              </a:rPr>
              <a:t>15</a:t>
            </a:r>
            <a:endParaRPr lang="en-US" sz="1500" dirty="0"/>
          </a:p>
        </p:txBody>
      </p:sp>
      <p:sp>
        <p:nvSpPr>
          <p:cNvPr id="17" name="text-330"/>
          <p:cNvSpPr txBox="1"/>
          <p:nvPr/>
        </p:nvSpPr>
        <p:spPr>
          <a:xfrm>
            <a:off x="1280160" y="4818888"/>
            <a:ext cx="5852160" cy="292608"/>
          </a:xfrm>
          <a:prstGeom prst="rect">
            <a:avLst/>
          </a:prstGeom>
          <a:noFill/>
          <a:ln/>
        </p:spPr>
        <p:txBody>
          <a:bodyPr wrap="square" lIns="0" tIns="0" rIns="0" bIns="0" rtlCol="0" anchor="t"/>
          <a:lstStyle/>
          <a:p>
            <a:pPr indent="0" marL="0">
              <a:buNone/>
            </a:pPr>
            <a:r>
              <a:rPr lang="en-US" sz="1500" b="1" dirty="0">
                <a:solidFill>
                  <a:schemeClr val="bg1"/>
                </a:solidFill>
              </a:rPr>
              <a:t>Docs and demo</a:t>
            </a:r>
            <a:endParaRPr lang="en-US" sz="1500" dirty="0"/>
          </a:p>
        </p:txBody>
      </p:sp>
      <p:sp>
        <p:nvSpPr>
          <p:cNvPr id="18" name="text-331"/>
          <p:cNvSpPr txBox="1"/>
          <p:nvPr/>
        </p:nvSpPr>
        <p:spPr>
          <a:xfrm>
            <a:off x="1280160" y="5120640"/>
            <a:ext cx="5852160" cy="502920"/>
          </a:xfrm>
          <a:prstGeom prst="rect">
            <a:avLst/>
          </a:prstGeom>
          <a:noFill/>
          <a:ln/>
        </p:spPr>
        <p:txBody>
          <a:bodyPr wrap="square" lIns="0" tIns="0" rIns="0" bIns="0" rtlCol="0" anchor="t"/>
          <a:lstStyle/>
          <a:p>
            <a:pPr indent="0" marL="0">
              <a:buNone/>
            </a:pPr>
            <a:r>
              <a:rPr lang="en-US" sz="1250" dirty="0">
                <a:solidFill>
                  <a:schemeClr val="accent6"/>
                </a:solidFill>
              </a:rPr>
              <a:t>repo with README, automatic drift reports, videos, interactive 3D trajectory page</a:t>
            </a:r>
            <a:endParaRPr lang="en-US" sz="1250" dirty="0"/>
          </a:p>
        </p:txBody>
      </p:sp>
      <p:sp>
        <p:nvSpPr>
          <p:cNvPr id="19" name="card-332"/>
          <p:cNvSpPr/>
          <p:nvPr/>
        </p:nvSpPr>
        <p:spPr>
          <a:xfrm>
            <a:off x="7635240" y="1234440"/>
            <a:ext cx="4007815" cy="4343400"/>
          </a:xfrm>
          <a:prstGeom prst="roundRect">
            <a:avLst>
              <a:gd name="adj" fmla="val 1825"/>
            </a:avLst>
          </a:prstGeom>
          <a:solidFill>
            <a:schemeClr val="tx2"/>
          </a:solidFill>
          <a:ln/>
        </p:spPr>
      </p:sp>
      <p:sp>
        <p:nvSpPr>
          <p:cNvPr id="20" name="text-333"/>
          <p:cNvSpPr txBox="1"/>
          <p:nvPr/>
        </p:nvSpPr>
        <p:spPr>
          <a:xfrm>
            <a:off x="7863840" y="1371600"/>
            <a:ext cx="3550615" cy="384048"/>
          </a:xfrm>
          <a:prstGeom prst="rect">
            <a:avLst/>
          </a:prstGeom>
          <a:noFill/>
          <a:ln/>
        </p:spPr>
        <p:txBody>
          <a:bodyPr wrap="square" lIns="0" tIns="0" rIns="0" bIns="0" rtlCol="0" anchor="t"/>
          <a:lstStyle/>
          <a:p>
            <a:pPr indent="0" marL="0">
              <a:buNone/>
            </a:pPr>
            <a:r>
              <a:rPr lang="en-US" sz="1800" b="1" dirty="0">
                <a:solidFill>
                  <a:schemeClr val="accent2"/>
                </a:solidFill>
              </a:rPr>
              <a:t>Next</a:t>
            </a:r>
            <a:endParaRPr lang="en-US" sz="1800" dirty="0"/>
          </a:p>
        </p:txBody>
      </p:sp>
      <p:sp>
        <p:nvSpPr>
          <p:cNvPr id="21" name="text-334"/>
          <p:cNvSpPr txBox="1"/>
          <p:nvPr/>
        </p:nvSpPr>
        <p:spPr>
          <a:xfrm>
            <a:off x="7863840" y="1828800"/>
            <a:ext cx="3550615" cy="36118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50 m walk (5 × 10 m lengths) for Tier 2</a:t>
            </a:r>
            <a:endParaRPr lang="en-US" sz="1400" dirty="0"/>
          </a:p>
          <a:p>
            <a:pPr marL="342900" indent="-342900">
              <a:spcAft>
                <a:spcPts val="1000"/>
              </a:spcAft>
              <a:buSzPct val="100000"/>
              <a:buChar char="•"/>
            </a:pPr>
            <a:r>
              <a:rPr lang="en-US" sz="1400" dirty="0">
                <a:solidFill>
                  <a:schemeClr val="bg1"/>
                </a:solidFill>
              </a:rPr>
              <a:t>More tags at the turnaround to close the 7 s gap</a:t>
            </a:r>
            <a:endParaRPr lang="en-US" sz="1400" dirty="0"/>
          </a:p>
          <a:p>
            <a:pPr marL="342900" indent="-342900">
              <a:spcAft>
                <a:spcPts val="1000"/>
              </a:spcAft>
              <a:buSzPct val="100000"/>
              <a:buChar char="•"/>
            </a:pPr>
            <a:r>
              <a:rPr lang="en-US" sz="1400" dirty="0">
                <a:solidFill>
                  <a:schemeClr val="bg1"/>
                </a:solidFill>
              </a:rPr>
              <a:t>Checkerboard intrinsics for the phone camera</a:t>
            </a:r>
            <a:endParaRPr lang="en-US" sz="1400" dirty="0"/>
          </a:p>
          <a:p>
            <a:pPr marL="342900" indent="-342900">
              <a:spcAft>
                <a:spcPts val="1000"/>
              </a:spcAft>
              <a:buSzPct val="100000"/>
              <a:buChar char="•"/>
            </a:pPr>
            <a:r>
              <a:rPr lang="en-US" sz="1400" dirty="0">
                <a:solidFill>
                  <a:schemeClr val="bg1"/>
                </a:solidFill>
              </a:rPr>
              <a:t>Multi-position calibration run on the phone</a:t>
            </a:r>
            <a:endParaRPr lang="en-US" sz="1400" dirty="0"/>
          </a:p>
          <a:p>
            <a:pPr marL="342900" indent="-342900">
              <a:spcAft>
                <a:spcPts val="1000"/>
              </a:spcAft>
              <a:buSzPct val="100000"/>
              <a:buChar char="•"/>
            </a:pPr>
            <a:r>
              <a:rPr lang="en-US" sz="1400" dirty="0">
                <a:solidFill>
                  <a:schemeClr val="bg1"/>
                </a:solidFill>
              </a:rPr>
              <a:t>Fixed-point ESKF predict on a microcontroller</a:t>
            </a:r>
            <a:endParaRPr lang="en-US" sz="1400" dirty="0"/>
          </a:p>
        </p:txBody>
      </p:sp>
      <p:sp>
        <p:nvSpPr>
          <p:cNvPr id="22" name="text-335"/>
          <p:cNvSpPr txBox="1"/>
          <p:nvPr/>
        </p:nvSpPr>
        <p:spPr>
          <a:xfrm>
            <a:off x="548640" y="5760720"/>
            <a:ext cx="11094415" cy="548640"/>
          </a:xfrm>
          <a:prstGeom prst="rect">
            <a:avLst/>
          </a:prstGeom>
          <a:noFill/>
          <a:ln/>
        </p:spPr>
        <p:txBody>
          <a:bodyPr wrap="square" lIns="0" tIns="0" rIns="0" bIns="0" rtlCol="0" anchor="ctr"/>
          <a:lstStyle/>
          <a:p>
            <a:pPr indent="0" marL="0">
              <a:buNone/>
            </a:pPr>
            <a:r>
              <a:rPr lang="en-US" sz="1100" b="1" dirty="0">
                <a:solidFill>
                  <a:schemeClr val="accent2"/>
                </a:solidFill>
              </a:rPr>
              <a:t>Tools  </a:t>
            </a:r>
            <a:pPr indent="0" marL="0">
              <a:buNone/>
            </a:pPr>
            <a:r>
              <a:rPr lang="en-US" sz="1100" dirty="0">
                <a:solidFill>
                  <a:schemeClr val="accent6"/>
                </a:solidFill>
              </a:rPr>
              <a:t>Python (NumPy, SciPy, OpenCV, PyAV, Matplotlib, Plotly, Streamlit), ADB + SensorServer, scrcpy, PX4 v1.16 SITL, Gazebo Harmonic, ROS 2 Jazzy, apriltag_ros, Docker.  </a:t>
            </a:r>
            <a:pPr indent="0" marL="0">
              <a:buNone/>
            </a:pPr>
            <a:r>
              <a:rPr lang="en-US" sz="1100" b="1" dirty="0">
                <a:solidFill>
                  <a:schemeClr val="accent2"/>
                </a:solidFill>
              </a:rPr>
              <a:t>Data  </a:t>
            </a:r>
            <a:pPr indent="0" marL="0">
              <a:buNone/>
            </a:pPr>
            <a:r>
              <a:rPr lang="en-US" sz="1100" dirty="0">
                <a:solidFill>
                  <a:schemeClr val="accent6"/>
                </a:solidFill>
              </a:rPr>
              <a:t>our own phone recordings and the public i-ASL dataset.</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AJoRS">
  <a:themeElements>
    <a:clrScheme name="MAJoRS">
      <a:dk1>
        <a:srgbClr val="0F1B2D"/>
      </a:dk1>
      <a:lt1>
        <a:srgbClr val="FFFFFF"/>
      </a:lt1>
      <a:dk2>
        <a:srgbClr val="23344D"/>
      </a:dk2>
      <a:lt2>
        <a:srgbClr val="F1F4F7"/>
      </a:lt2>
      <a:accent1>
        <a:srgbClr val="1B998B"/>
      </a:accent1>
      <a:accent2>
        <a:srgbClr val="F28C28"/>
      </a:accent2>
      <a:accent3>
        <a:srgbClr val="D64545"/>
      </a:accent3>
      <a:accent4>
        <a:srgbClr val="5C6B7A"/>
      </a:accent4>
      <a:accent5>
        <a:srgbClr val="3D5A80"/>
      </a:accent5>
      <a:accent6>
        <a:srgbClr val="9FB3C8"/>
      </a:accent6>
      <a:hlink>
        <a:srgbClr val="1B998B"/>
      </a:hlink>
      <a:folHlink>
        <a:srgbClr val="5C6B7A"/>
      </a:folHlink>
    </a:clrScheme>
    <a:fontScheme name="MAJoRS">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MAJoRS: IMU-based indoor positioning</dc:title>
  <dc:subject>Embien Problem 4, Transfinitte'26</dc:subject>
  <dc:creator>MAJoRS</dc:creator>
  <cp:lastModifiedBy>MAJoRS</cp:lastModifiedBy>
  <cp:revision>1</cp:revision>
  <dcterms:created xsi:type="dcterms:W3CDTF">2026-10-25T06:21:09Z</dcterms:created>
  <dcterms:modified xsi:type="dcterms:W3CDTF">2026-10-25T06:21:09Z</dcterms:modified>
</cp:coreProperties>
</file>