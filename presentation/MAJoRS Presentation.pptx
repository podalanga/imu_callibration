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4"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9C608EA-6A46-4D6E-5C22-B98857BEBB27}">
          <p14:sldIdLst>
            <p14:sldId id="256"/>
          </p14:sldIdLst>
        </p14:section>
        <p14:section name="Overview" id="{6927BC67-B00E-B3D2-20C1-48CC413E6FEC}">
          <p14:sldIdLst>
            <p14:sldId id="257"/>
            <p14:sldId id="258"/>
            <p14:sldId id="259"/>
          </p14:sldIdLst>
        </p14:section>
        <p14:section name="Hours 3 to 9" id="{DF92CC98-1C72-C97C-8DCE-12D09CDE2A70}">
          <p14:sldIdLst>
            <p14:sldId id="260"/>
            <p14:sldId id="261"/>
          </p14:sldIdLst>
        </p14:section>
        <p14:section name="Hours 10 to 24" id="{986104C1-BE14-3CBA-EE3A-4D47E767C80C}">
          <p14:sldIdLst>
            <p14:sldId id="262"/>
            <p14:sldId id="263"/>
            <p14:sldId id="264"/>
            <p14:sldId id="265"/>
          </p14:sldIdLst>
        </p14:section>
        <p14:section name="Hours 24 to 30" id="{8180C2E2-F58D-BFEF-6F66-447BCCCA39C9}">
          <p14:sldIdLst>
            <p14:sldId id="266"/>
            <p14:sldId id="267"/>
            <p14:sldId id="268"/>
          </p14:sldIdLst>
        </p14:section>
        <p14:section name="Hours 30 to 40" id="{5EA98031-EE57-7CF5-4F9F-F6C3480A9628}">
          <p14:sldIdLst>
            <p14:sldId id="269"/>
            <p14:sldId id="270"/>
            <p14:sldId id="271"/>
            <p14:sldId id="272"/>
            <p14:sldId id="273"/>
            <p14:sldId id="275"/>
            <p14:sldId id="274"/>
          </p14:sldIdLst>
        </p14:section>
        <p14:section name="Wrap up" id="{4376E4D5-8E9A-A411-34A8-FDD129D324D2}">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6343A"/>
                </a:solidFill>
                <a:latin typeface="+mn-lt"/>
              </a:defRPr>
            </a:pPr>
            <a:r>
              <a:rPr lang="en-US" sz="1200" b="0" i="0" u="none" strike="noStrike">
                <a:solidFill>
                  <a:srgbClr val="26343A"/>
                </a:solidFill>
                <a:latin typeface="+mn-lt"/>
              </a:rPr>
              <a:t>Attitude RMSE in degrees, 30 s run</a:t>
            </a:r>
          </a:p>
        </c:rich>
      </c:tx>
      <c:overlay val="0"/>
    </c:title>
    <c:autoTitleDeleted val="0"/>
    <c:plotArea>
      <c:layout/>
      <c:barChart>
        <c:barDir val="col"/>
        <c:grouping val="clustered"/>
        <c:varyColors val="0"/>
        <c:ser>
          <c:idx val="0"/>
          <c:order val="0"/>
          <c:tx>
            <c:strRef>
              <c:f>Sheet1!$B$1</c:f>
              <c:strCache>
                <c:ptCount val="1"/>
                <c:pt idx="0">
                  <c:v>EKF</c:v>
                </c:pt>
              </c:strCache>
            </c:strRef>
          </c:tx>
          <c:spPr>
            <a:solidFill>
              <a:srgbClr val="7FA0A8"/>
            </a:solidFill>
            <a:effectLst/>
          </c:spPr>
          <c:invertIfNegative val="0"/>
          <c:dLbls>
            <c:numFmt formatCode="0.00" sourceLinked="0"/>
            <c:spPr>
              <a:noFill/>
              <a:ln>
                <a:noFill/>
              </a:ln>
              <a:effectLst/>
            </c:spPr>
            <c:txPr>
              <a:bodyPr/>
              <a:lstStyle/>
              <a:p>
                <a:pPr>
                  <a:defRPr sz="1000" b="0" i="0" u="none" strike="noStrike">
                    <a:solidFill>
                      <a:srgbClr val="2634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Roll</c:v>
                </c:pt>
                <c:pt idx="1">
                  <c:v>Pitch</c:v>
                </c:pt>
                <c:pt idx="2">
                  <c:v>Yaw</c:v>
                </c:pt>
              </c:strCache>
            </c:strRef>
          </c:cat>
          <c:val>
            <c:numRef>
              <c:f>Sheet1!$B$2:$B$4</c:f>
              <c:numCache>
                <c:formatCode>General</c:formatCode>
                <c:ptCount val="3"/>
                <c:pt idx="0">
                  <c:v>0.36</c:v>
                </c:pt>
                <c:pt idx="1">
                  <c:v>0.3</c:v>
                </c:pt>
                <c:pt idx="2">
                  <c:v>1.24</c:v>
                </c:pt>
              </c:numCache>
            </c:numRef>
          </c:val>
          <c:extLst>
            <c:ext xmlns:c16="http://schemas.microsoft.com/office/drawing/2014/chart" uri="{C3380CC4-5D6E-409C-BE32-E72D297353CC}">
              <c16:uniqueId val="{00000000-770D-4D39-B392-DAAAED0594FB}"/>
            </c:ext>
          </c:extLst>
        </c:ser>
        <c:ser>
          <c:idx val="1"/>
          <c:order val="1"/>
          <c:tx>
            <c:strRef>
              <c:f>Sheet1!$C$1</c:f>
              <c:strCache>
                <c:ptCount val="1"/>
                <c:pt idx="0">
                  <c:v>ESKF before</c:v>
                </c:pt>
              </c:strCache>
            </c:strRef>
          </c:tx>
          <c:spPr>
            <a:solidFill>
              <a:srgbClr val="C58B5A"/>
            </a:solidFill>
            <a:effectLst/>
          </c:spPr>
          <c:invertIfNegative val="0"/>
          <c:dLbls>
            <c:numFmt formatCode="0.00" sourceLinked="0"/>
            <c:spPr>
              <a:noFill/>
              <a:ln>
                <a:noFill/>
              </a:ln>
              <a:effectLst/>
            </c:spPr>
            <c:txPr>
              <a:bodyPr/>
              <a:lstStyle/>
              <a:p>
                <a:pPr>
                  <a:defRPr sz="1000" b="0" i="0" u="none" strike="noStrike">
                    <a:solidFill>
                      <a:srgbClr val="2634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Roll</c:v>
                </c:pt>
                <c:pt idx="1">
                  <c:v>Pitch</c:v>
                </c:pt>
                <c:pt idx="2">
                  <c:v>Yaw</c:v>
                </c:pt>
              </c:strCache>
            </c:strRef>
          </c:cat>
          <c:val>
            <c:numRef>
              <c:f>Sheet1!$C$2:$C$4</c:f>
              <c:numCache>
                <c:formatCode>General</c:formatCode>
                <c:ptCount val="3"/>
                <c:pt idx="0">
                  <c:v>6.6</c:v>
                </c:pt>
                <c:pt idx="1">
                  <c:v>3.95</c:v>
                </c:pt>
                <c:pt idx="2">
                  <c:v>12.9</c:v>
                </c:pt>
              </c:numCache>
            </c:numRef>
          </c:val>
          <c:extLst>
            <c:ext xmlns:c16="http://schemas.microsoft.com/office/drawing/2014/chart" uri="{C3380CC4-5D6E-409C-BE32-E72D297353CC}">
              <c16:uniqueId val="{00000001-770D-4D39-B392-DAAAED0594FB}"/>
            </c:ext>
          </c:extLst>
        </c:ser>
        <c:ser>
          <c:idx val="2"/>
          <c:order val="2"/>
          <c:tx>
            <c:strRef>
              <c:f>Sheet1!$D$1</c:f>
              <c:strCache>
                <c:ptCount val="1"/>
                <c:pt idx="0">
                  <c:v>ESKF after</c:v>
                </c:pt>
              </c:strCache>
            </c:strRef>
          </c:tx>
          <c:spPr>
            <a:solidFill>
              <a:srgbClr val="2F4858"/>
            </a:solidFill>
            <a:effectLst/>
          </c:spPr>
          <c:invertIfNegative val="0"/>
          <c:dLbls>
            <c:numFmt formatCode="0.00" sourceLinked="0"/>
            <c:spPr>
              <a:noFill/>
              <a:ln>
                <a:noFill/>
              </a:ln>
              <a:effectLst/>
            </c:spPr>
            <c:txPr>
              <a:bodyPr/>
              <a:lstStyle/>
              <a:p>
                <a:pPr>
                  <a:defRPr sz="1000" b="0" i="0" u="none" strike="noStrike">
                    <a:solidFill>
                      <a:srgbClr val="2634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Roll</c:v>
                </c:pt>
                <c:pt idx="1">
                  <c:v>Pitch</c:v>
                </c:pt>
                <c:pt idx="2">
                  <c:v>Yaw</c:v>
                </c:pt>
              </c:strCache>
            </c:strRef>
          </c:cat>
          <c:val>
            <c:numRef>
              <c:f>Sheet1!$D$2:$D$4</c:f>
              <c:numCache>
                <c:formatCode>General</c:formatCode>
                <c:ptCount val="3"/>
                <c:pt idx="0">
                  <c:v>0.47</c:v>
                </c:pt>
                <c:pt idx="1">
                  <c:v>0.34</c:v>
                </c:pt>
                <c:pt idx="2">
                  <c:v>1.27</c:v>
                </c:pt>
              </c:numCache>
            </c:numRef>
          </c:val>
          <c:extLst>
            <c:ext xmlns:c16="http://schemas.microsoft.com/office/drawing/2014/chart" uri="{C3380CC4-5D6E-409C-BE32-E72D297353CC}">
              <c16:uniqueId val="{00000002-770D-4D39-B392-DAAAED0594FB}"/>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343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DE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808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634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9255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not the answer. We had forty hours and one problem: a phone grade IMU loses its position in seconds, so how far can a cheap correction sensor pull it back? The picture on the right is our end result, a PX4 drone in Gazebo with two paths drawn on the floor, the true one and our filter's estimate. The rest of the deck is the order in which we earned that picture.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 in one slide: five pieces, each backed by something in the repo. Filters (KF, EKF, ESKF), accelerometer drift analysis, a noise model from real hardware, a simulation with noisy IMU and UWB, and a ground truth versus estimate comparison. Adjust the wording here to match the official problem statement.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read left to right. Lane one is the real phone: we record it for an hour, measure its noise, and turn that into a generator. Lane two is simulation: a Gazebo drone whose IMU carries exactly that noise, plus eight UWB anchors, feeding our ESKF, compared against ground truth. Lane three is the real world proof of concept: we had no UWB hardware, so a phone camera reading AprilTags stands in as the position sensor. Same filter family, three levels of realism.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talk. Six chapters over forty hours. The two orange ones are where the real engineering happened: hours ten to twenty four, where we turned a phone into a measurement instrument, and hours thirty to forty, where we proved the filter in simulation and on a real walk.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Hours three and four were pure argument: phone or hardware, what is the correction sensor, what do we simulate. Hours five to eight, all five of us learned the same ladder of filters, from a complementary filter up through Mahony and Madgwick, the Kalman filter, EKF and finally the error state filter. At hour eight we split the work and ideated again, now with a shared vocabulary.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Aditya took IMU calibration and bias estimation. Joshua found the trick that made the whole project possible, pulling the phone's raw IMU through developer options, ADB and the SensorServer app, and later started the Gazebo drone. Saiprakash took the stream from there: orientation estimation in a GUI, six channel static recordings, noise model and drift analysis. Rahul built the Kalman filters and the synthetic signals, then the ground truth versus estimate in simulation. Michelle replaced the Gaussian assumption with the real Allan deviation noise and found the i-ASL dataset. Michelle and Rahul together did indoor positioning with UWB as the correction sensor.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major piece of work. Joshua's idea: skip extra hardware and use the phone's own IMU. Developer options plus ADB give us a USB tunnel, adb forward on port 8080, to the SensorServer app, which exposes the sensors over a WebSocket. Our first design polled the latest value and dropped about half the samples. The fix was to keep every event with its hardware timestamp, never the laptop arrival time. That gives about 395 Hz with three microseconds of jitter and zero lost samples across a one hour recording, 1.42 million samples. Android's power management is the enemy of a long recording, so the test console checks over adb that the phone is charging, set to stay awake and has the app in the foreground before it lets a run start. The histogram is the time between samples: every interval falls between 2.45 and 2.55 milliseconds.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Gyro spread per second across the hour with the phone flat on a table. The spikes are us bumping the table or the cable, flagged automatically in red and excluded. The analysis uses only the longest undisturbed stretch, about nineteen minutes, for the noise model, and 45 undisturbed one minute segments for the drift statistics. Being honest about disturbed data is what makes the numbers on the next slides trustworthy.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Allan deviation is how you read an IMU's noise: the falling slope is white noise, the flat bottom is bias instability, the rising tail is random walk. One hour of data gave us per axis numbers: gyro bias instability around fifteen degrees per hour on x and y and three on z, gyro white noise about five millidegrees per second per root hertz, accelerometer noise about 114 micro g per root hertz. This curve is the fingerprint we later copy into the simulator.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plot: heading error of 45 one minute segments, measured RMS in blue, our noise model's prediction in red. Right plot: free inertial position error on a log scale. After thirty seconds on a table the phone believes it moved 7.5 metres, our model predicted 5, and almost all of it comes from the gyro bias tilting gravity into the horizontal axes. That is why we estimate and subtract gyro bias, about 0.20, minus 0.35 and 0.09 degrees per second on x, y and z. Integrate for nineteen minutes and the error is 75 kilometres. No aiding means no navigation.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Hours twenty four to thirty: from theory to code. The ESKF keeps a small error state, fifteen numbers, and the IMU does the heavy lifting between corrections. Corrections are whatever the scenario offers: eight UWB ranges in simulation and on the i-ASL dataset, a gravity direction update that fades out during manoeuvres, a magnetometer for heading, zero velocity updates when still, and camera tag fixes in the real walk.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Rahul's first synthetic signals used plain Gaussian noise. Michelle replaced that with the model measured from the Allan plots. The proof is this chart: the dashed synthetic curves lie on top of the real phone's curves from milliseconds to thousands of seconds. Five terms: white noise, Gauss Markov bias instability, bias random walk, a constant turn on bias, and rounding to the sensor's LSB. The generator is a single small file, synth_imu_noise.py, so anyone can reuse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Michelle found the i-ASL UWB plus IMU dataset, a public benchmark with mocap ground truth. Our first result was a humbling 6.6 metre error. Three bugs, in order of size: the ground truth lives in the Qualisys frame, a pure translation of about 4.5 metres, worth about 6.3 metres of apparent error. Second, our anchor table did not match the yaml file, which mirrored the geometry and cost another two metres of real filter error. Third, the mocap clock is out by up to a second, and the IMU CSV had whole second timestamps, which we fixed by reading true stamps from the rosbags. After the fixes the ESKF sits at 0.14 to 0.21 metres across the three scenarios. This is the slide to show that we debug against data, not feelings.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 tuning, hours thirty to forty. Our attitude ESKF was far worse than the plain EKF, with yaw errors of thirteen degrees over thirty seconds. The cause was simple once we looked: the ESKF had no accelerometer gravity measurement, so roll and pitch were never corrected and drifted with gyro bias, which then corrupted the magnetometer heading too. We added a gravity update whose noise inflates when the vehicle accelerates, so it fades out during manoeuvres. Errors dropped to 0.47, 0.34 and 1.27 degrees, within a tenth of a degree of the EKF. A naive fixed noise version doubled position error in an aggressive loop, which is why the adaptive version matters. These numbers are from our synthetic benchmark; real i-ASL position error was unchanged at 0.14 to 0.20 metres.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Joshua started the Gazebo simulation; the drone is a PX4 x500 flying five traversals along a floor of AprilTags at 0.3 metres per second. The sensors are ours: an IMU whose noise comes from our measured phone model through noise_to_gz.py, and eight UWB anchors on the corners of a 12 metre cube. PX4 flies on ground truth as external vision so the physics are real, but the ESKF never sees ground truth, it only gets the noisy IMU and the UWB ranges. Ground truth is used for evaluation only.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Left, RViz: the green line is our ESKF estimate, the red line is the true path, and they are almost on top of each other. Middle, Gazebo with both paths drawn on the floor beneath the drone. Right, the number the live node prints to the terminal: about 0.04 metres position RMSE against ground truth, over more than fourteen hundred matched samples. The filter used only the phone noise IMU and UWB ranges.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recording of the Gazebo run: the drone flying the track while the RViz paths grow. Terminal on the bottom prints the running RMSE.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could not test on real UWB because we did not have the hardware. So for a proof of concept on real motion we used what we did have: tags printed on A4 sheets laid along the floor, and the phone's back camera as the position sensor. One command records the IMU and the video together, with a clock map to sync them, and the camera pose from each visible tag becomes a position update for the same ESKF. Honest framing: the tags are both the correction and the reference here, so this validates the IMU bridging and the fusion, not independent accuracy.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stress test. We switched the camera off for two seconds out of every four. The ESKF bridged the gaps with the IMU alone with 0.52 metres RMSE, worst case 2.2 metres. Compare with the IMU on its own, which leaves the track after 2.9 seconds. This is the whole case for sensor fusion on one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walk along the tag track, five lengths, 33.8 metres. Orange dots are the camera fixes, the coloured line is the ESKF, the red stub is the IMU on its own. The ESKF ends 14 centimetres from the camera's own estimate, and the camera only has a fix 44 percent of the time, the IMU carries the rest.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numbers and be honest about the edge: UWB is validated on a public dataset and in simulation; the real world walk uses a camera as the correction sensor because we did not have UWB hardware. The next step is exactly that: real anchors. Everything, code, plots, videos and the one hour recording, is in the repo.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3F5F4"/>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F485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github.com/podalanga/imu_callibratio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2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7.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github.com/podalanga/imu_callibration"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azebo drone" descr="/tmp/claude-0/-home-claude/754ab589-6f62-5f2f-8c52-b16fa7cef1a3/scratchpad/assets/title_img.png"/>
          <p:cNvPicPr>
            <a:picLocks noChangeAspect="1"/>
          </p:cNvPicPr>
          <p:nvPr/>
        </p:nvPicPr>
        <p:blipFill>
          <a:blip r:embed="rId3"/>
          <a:stretch>
            <a:fillRect/>
          </a:stretch>
        </p:blipFill>
        <p:spPr>
          <a:xfrm>
            <a:off x="5394960" y="0"/>
            <a:ext cx="3749040" cy="5143500"/>
          </a:xfrm>
          <a:prstGeom prst="rect">
            <a:avLst/>
          </a:prstGeom>
        </p:spPr>
      </p:pic>
      <p:sp>
        <p:nvSpPr>
          <p:cNvPr id="3" name="Text 0"/>
          <p:cNvSpPr txBox="1"/>
          <p:nvPr/>
        </p:nvSpPr>
        <p:spPr>
          <a:xfrm>
            <a:off x="548640" y="640080"/>
            <a:ext cx="4572000" cy="274320"/>
          </a:xfrm>
          <a:prstGeom prst="rect">
            <a:avLst/>
          </a:prstGeom>
          <a:noFill/>
          <a:ln/>
        </p:spPr>
        <p:txBody>
          <a:bodyPr wrap="square" lIns="0" tIns="0" rIns="0" bIns="0" rtlCol="0" anchor="t"/>
          <a:lstStyle/>
          <a:p>
            <a:pPr marL="0" indent="0">
              <a:buNone/>
            </a:pPr>
            <a:r>
              <a:rPr lang="en-US" sz="1100" b="1" kern="0" spc="200" dirty="0">
                <a:solidFill>
                  <a:srgbClr val="C58B5A"/>
                </a:solidFill>
                <a:latin typeface="Calibri" pitchFamily="34" charset="0"/>
                <a:ea typeface="Calibri" pitchFamily="34" charset="-122"/>
                <a:cs typeface="Calibri" pitchFamily="34" charset="-120"/>
              </a:rPr>
              <a:t>TRANSFINITTE 26’ ·  IMU SENSOR FUSION</a:t>
            </a:r>
            <a:endParaRPr lang="en-US" sz="1100" dirty="0"/>
          </a:p>
        </p:txBody>
      </p:sp>
      <p:sp>
        <p:nvSpPr>
          <p:cNvPr id="4" name="Title"/>
          <p:cNvSpPr txBox="1"/>
          <p:nvPr/>
        </p:nvSpPr>
        <p:spPr>
          <a:xfrm>
            <a:off x="548640" y="1143000"/>
            <a:ext cx="4572000" cy="173736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IMU Based Position Sensing For Drones and Robots (PS 4)</a:t>
            </a:r>
            <a:endParaRPr lang="en-US" sz="3600" dirty="0"/>
          </a:p>
        </p:txBody>
      </p:sp>
      <p:sp>
        <p:nvSpPr>
          <p:cNvPr id="5" name="Text 2"/>
          <p:cNvSpPr txBox="1"/>
          <p:nvPr/>
        </p:nvSpPr>
        <p:spPr>
          <a:xfrm>
            <a:off x="548640" y="3066757"/>
            <a:ext cx="4480560" cy="731520"/>
          </a:xfrm>
          <a:prstGeom prst="rect">
            <a:avLst/>
          </a:prstGeom>
          <a:noFill/>
          <a:ln/>
        </p:spPr>
        <p:txBody>
          <a:bodyPr wrap="square" lIns="0" tIns="0" rIns="0" bIns="0" rtlCol="0" anchor="t"/>
          <a:lstStyle/>
          <a:p>
            <a:pPr marL="0" indent="0">
              <a:buNone/>
            </a:pPr>
            <a:r>
              <a:rPr lang="en-US" sz="1600" dirty="0">
                <a:solidFill>
                  <a:srgbClr val="BFD0CF"/>
                </a:solidFill>
                <a:latin typeface="Calibri" pitchFamily="34" charset="0"/>
                <a:ea typeface="Calibri" pitchFamily="34" charset="-122"/>
                <a:cs typeface="Calibri" pitchFamily="34" charset="-120"/>
              </a:rPr>
              <a:t>40 hours of IMU and UWB sensor fusion</a:t>
            </a:r>
            <a:endParaRPr lang="en-US" sz="1600" dirty="0"/>
          </a:p>
        </p:txBody>
      </p:sp>
      <p:sp>
        <p:nvSpPr>
          <p:cNvPr id="6" name="Text 3"/>
          <p:cNvSpPr txBox="1"/>
          <p:nvPr/>
        </p:nvSpPr>
        <p:spPr>
          <a:xfrm>
            <a:off x="548640" y="3900267"/>
            <a:ext cx="4663440" cy="457200"/>
          </a:xfrm>
          <a:prstGeom prst="rect">
            <a:avLst/>
          </a:prstGeom>
          <a:noFill/>
          <a:ln/>
        </p:spPr>
        <p:txBody>
          <a:bodyPr wrap="square" lIns="0" tIns="0" rIns="0" bIns="0" rtlCol="0" anchor="t"/>
          <a:lstStyle/>
          <a:p>
            <a:pPr marL="0" indent="0">
              <a:buNone/>
            </a:pPr>
            <a:r>
              <a:rPr lang="en-US" sz="1200" dirty="0">
                <a:solidFill>
                  <a:srgbClr val="BFD0CF"/>
                </a:solidFill>
                <a:latin typeface="Calibri" pitchFamily="34" charset="0"/>
                <a:ea typeface="Calibri" pitchFamily="34" charset="-122"/>
                <a:cs typeface="Calibri" pitchFamily="34" charset="-120"/>
              </a:rPr>
              <a:t>Aditya Ganta  ·  Joshua John  ·  Saiprakash  ·  Michelle  ·  Rahul</a:t>
            </a:r>
            <a:endParaRPr lang="en-US" sz="1200" dirty="0"/>
          </a:p>
        </p:txBody>
      </p:sp>
      <p:sp>
        <p:nvSpPr>
          <p:cNvPr id="8" name="Text 2">
            <a:extLst>
              <a:ext uri="{FF2B5EF4-FFF2-40B4-BE49-F238E27FC236}">
                <a16:creationId xmlns:a16="http://schemas.microsoft.com/office/drawing/2014/main" id="{34B5D78A-8253-A9ED-1F89-AC011E87FB20}"/>
              </a:ext>
            </a:extLst>
          </p:cNvPr>
          <p:cNvSpPr txBox="1"/>
          <p:nvPr/>
        </p:nvSpPr>
        <p:spPr>
          <a:xfrm>
            <a:off x="541606" y="3624777"/>
            <a:ext cx="4480560" cy="731520"/>
          </a:xfrm>
          <a:prstGeom prst="rect">
            <a:avLst/>
          </a:prstGeom>
          <a:noFill/>
          <a:ln/>
        </p:spPr>
        <p:txBody>
          <a:bodyPr wrap="square" lIns="0" tIns="0" rIns="0" bIns="0" rtlCol="0" anchor="t"/>
          <a:lstStyle/>
          <a:p>
            <a:pPr marL="0" indent="0">
              <a:buNone/>
            </a:pPr>
            <a:r>
              <a:rPr lang="en-US" sz="1600" b="1" dirty="0">
                <a:solidFill>
                  <a:srgbClr val="BFD0CF"/>
                </a:solidFill>
                <a:latin typeface="Calibri" pitchFamily="34" charset="0"/>
                <a:ea typeface="Calibri" pitchFamily="34" charset="-122"/>
                <a:cs typeface="Calibri" pitchFamily="34" charset="-120"/>
              </a:rPr>
              <a:t>Team </a:t>
            </a:r>
            <a:r>
              <a:rPr lang="en-US" sz="1600" b="1" dirty="0" err="1">
                <a:solidFill>
                  <a:srgbClr val="BFD0CF"/>
                </a:solidFill>
                <a:latin typeface="Calibri" pitchFamily="34" charset="0"/>
                <a:ea typeface="Calibri" pitchFamily="34" charset="-122"/>
                <a:cs typeface="Calibri" pitchFamily="34" charset="-120"/>
              </a:rPr>
              <a:t>MAJoRS</a:t>
            </a:r>
            <a:endParaRPr lang="en-US" sz="1600" b="1" dirty="0"/>
          </a:p>
        </p:txBody>
      </p:sp>
      <p:sp>
        <p:nvSpPr>
          <p:cNvPr id="12" name="Text 19">
            <a:extLst>
              <a:ext uri="{FF2B5EF4-FFF2-40B4-BE49-F238E27FC236}">
                <a16:creationId xmlns:a16="http://schemas.microsoft.com/office/drawing/2014/main" id="{2C3D6284-22EC-3BAB-E6BC-A2CAB05E5D68}"/>
              </a:ext>
            </a:extLst>
          </p:cNvPr>
          <p:cNvSpPr txBox="1"/>
          <p:nvPr/>
        </p:nvSpPr>
        <p:spPr>
          <a:xfrm>
            <a:off x="541606" y="4719787"/>
            <a:ext cx="11372203" cy="187133"/>
          </a:xfrm>
          <a:prstGeom prst="rect">
            <a:avLst/>
          </a:prstGeom>
          <a:noFill/>
          <a:ln/>
        </p:spPr>
        <p:txBody>
          <a:bodyPr wrap="square" lIns="0" tIns="0" rIns="0" bIns="0" rtlCol="0" anchor="t"/>
          <a:lstStyle/>
          <a:p>
            <a:pPr marL="0" indent="0">
              <a:buNone/>
            </a:pPr>
            <a:r>
              <a:rPr lang="en-US" sz="1400" b="1" dirty="0" err="1">
                <a:solidFill>
                  <a:schemeClr val="accent4">
                    <a:lumMod val="40000"/>
                    <a:lumOff val="60000"/>
                  </a:schemeClr>
                </a:solidFill>
                <a:latin typeface="Calibri" pitchFamily="34" charset="0"/>
                <a:ea typeface="Calibri" pitchFamily="34" charset="-122"/>
                <a:cs typeface="Calibri" pitchFamily="34" charset="-120"/>
                <a:hlinkClick r:id="rId4" action="ppaction://hlinkfile">
                  <a:extLst>
                    <a:ext uri="{A12FA001-AC4F-418D-AE19-62706E023703}">
                      <ahyp:hlinkClr xmlns:ahyp="http://schemas.microsoft.com/office/drawing/2018/hyperlinkcolor" val="tx"/>
                    </a:ext>
                  </a:extLst>
                </a:hlinkClick>
              </a:rPr>
              <a:t>Github</a:t>
            </a:r>
            <a:r>
              <a:rPr lang="en-US" sz="1400" b="1" dirty="0">
                <a:solidFill>
                  <a:schemeClr val="accent4">
                    <a:lumMod val="40000"/>
                    <a:lumOff val="60000"/>
                  </a:schemeClr>
                </a:solidFill>
                <a:latin typeface="Calibri" pitchFamily="34" charset="0"/>
                <a:ea typeface="Calibri" pitchFamily="34" charset="-122"/>
                <a:cs typeface="Calibri" pitchFamily="34" charset="-120"/>
                <a:hlinkClick r:id="rId4" action="ppaction://hlinkfile">
                  <a:extLst>
                    <a:ext uri="{A12FA001-AC4F-418D-AE19-62706E023703}">
                      <ahyp:hlinkClr xmlns:ahyp="http://schemas.microsoft.com/office/drawing/2018/hyperlinkcolor" val="tx"/>
                    </a:ext>
                  </a:extLst>
                </a:hlinkClick>
              </a:rPr>
              <a:t> Repo link</a:t>
            </a:r>
            <a:endParaRPr lang="en-US" sz="1400" dirty="0">
              <a:solidFill>
                <a:schemeClr val="accent4">
                  <a:lumMod val="40000"/>
                  <a:lumOff val="6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82880"/>
            <a:ext cx="54864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OVERVIEW</a:t>
            </a:r>
            <a:endParaRPr lang="en-US" sz="1000" dirty="0"/>
          </a:p>
        </p:txBody>
      </p:sp>
      <p:sp>
        <p:nvSpPr>
          <p:cNvPr id="3" name="Timeline A"/>
          <p:cNvSpPr/>
          <p:nvPr/>
        </p:nvSpPr>
        <p:spPr>
          <a:xfrm>
            <a:off x="457200" y="429768"/>
            <a:ext cx="222422" cy="82296"/>
          </a:xfrm>
          <a:prstGeom prst="roundRect">
            <a:avLst>
              <a:gd name="adj" fmla="val 44444"/>
            </a:avLst>
          </a:prstGeom>
          <a:solidFill>
            <a:srgbClr val="BFD0CF"/>
          </a:solidFill>
          <a:ln w="3175">
            <a:solidFill>
              <a:srgbClr val="BFD0CF"/>
            </a:solidFill>
            <a:prstDash val="solid"/>
          </a:ln>
        </p:spPr>
      </p:sp>
      <p:sp>
        <p:nvSpPr>
          <p:cNvPr id="4" name="Timeline B"/>
          <p:cNvSpPr/>
          <p:nvPr/>
        </p:nvSpPr>
        <p:spPr>
          <a:xfrm>
            <a:off x="902043" y="429768"/>
            <a:ext cx="667265" cy="82296"/>
          </a:xfrm>
          <a:prstGeom prst="roundRect">
            <a:avLst>
              <a:gd name="adj" fmla="val 44444"/>
            </a:avLst>
          </a:prstGeom>
          <a:solidFill>
            <a:srgbClr val="BFD0CF"/>
          </a:solidFill>
          <a:ln w="3175">
            <a:solidFill>
              <a:srgbClr val="BFD0CF"/>
            </a:solidFill>
            <a:prstDash val="solid"/>
          </a:ln>
        </p:spPr>
      </p:sp>
      <p:sp>
        <p:nvSpPr>
          <p:cNvPr id="5" name="Timeline C"/>
          <p:cNvSpPr/>
          <p:nvPr/>
        </p:nvSpPr>
        <p:spPr>
          <a:xfrm>
            <a:off x="1569308" y="429768"/>
            <a:ext cx="222422" cy="82296"/>
          </a:xfrm>
          <a:prstGeom prst="roundRect">
            <a:avLst>
              <a:gd name="adj" fmla="val 44444"/>
            </a:avLst>
          </a:prstGeom>
          <a:solidFill>
            <a:srgbClr val="BFD0CF"/>
          </a:solidFill>
          <a:ln w="3175">
            <a:solidFill>
              <a:srgbClr val="BFD0CF"/>
            </a:solidFill>
            <a:prstDash val="solid"/>
          </a:ln>
        </p:spPr>
      </p:sp>
      <p:sp>
        <p:nvSpPr>
          <p:cNvPr id="6" name="Timeline D"/>
          <p:cNvSpPr/>
          <p:nvPr/>
        </p:nvSpPr>
        <p:spPr>
          <a:xfrm>
            <a:off x="2014151" y="429768"/>
            <a:ext cx="3113903" cy="82296"/>
          </a:xfrm>
          <a:prstGeom prst="roundRect">
            <a:avLst>
              <a:gd name="adj" fmla="val 44444"/>
            </a:avLst>
          </a:prstGeom>
          <a:solidFill>
            <a:srgbClr val="BFD0CF"/>
          </a:solidFill>
          <a:ln w="3175">
            <a:solidFill>
              <a:srgbClr val="BFD0CF"/>
            </a:solidFill>
            <a:prstDash val="solid"/>
          </a:ln>
        </p:spPr>
      </p:sp>
      <p:sp>
        <p:nvSpPr>
          <p:cNvPr id="7" name="Timeline E"/>
          <p:cNvSpPr/>
          <p:nvPr/>
        </p:nvSpPr>
        <p:spPr>
          <a:xfrm>
            <a:off x="5128054" y="429768"/>
            <a:ext cx="1334530" cy="82296"/>
          </a:xfrm>
          <a:prstGeom prst="roundRect">
            <a:avLst>
              <a:gd name="adj" fmla="val 44444"/>
            </a:avLst>
          </a:prstGeom>
          <a:solidFill>
            <a:srgbClr val="BFD0CF"/>
          </a:solidFill>
          <a:ln w="3175">
            <a:solidFill>
              <a:srgbClr val="BFD0CF"/>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What we set out to build</a:t>
            </a:r>
            <a:endParaRPr lang="en-US" sz="2600" dirty="0"/>
          </a:p>
        </p:txBody>
      </p:sp>
      <p:sp>
        <p:nvSpPr>
          <p:cNvPr id="15" name="Card"/>
          <p:cNvSpPr/>
          <p:nvPr/>
        </p:nvSpPr>
        <p:spPr>
          <a:xfrm>
            <a:off x="457200" y="1371600"/>
            <a:ext cx="5120640" cy="566928"/>
          </a:xfrm>
          <a:prstGeom prst="roundRect">
            <a:avLst>
              <a:gd name="adj" fmla="val 12903"/>
            </a:avLst>
          </a:prstGeom>
          <a:solidFill>
            <a:srgbClr val="E3EBEA"/>
          </a:solidFill>
          <a:ln w="6350">
            <a:solidFill>
              <a:srgbClr val="E3EBEA"/>
            </a:solidFill>
            <a:prstDash val="solid"/>
          </a:ln>
        </p:spPr>
      </p:sp>
      <p:sp>
        <p:nvSpPr>
          <p:cNvPr id="16" name="Icon circle"/>
          <p:cNvSpPr/>
          <p:nvPr/>
        </p:nvSpPr>
        <p:spPr>
          <a:xfrm>
            <a:off x="548640" y="1435608"/>
            <a:ext cx="438912" cy="438912"/>
          </a:xfrm>
          <a:prstGeom prst="ellipse">
            <a:avLst/>
          </a:prstGeom>
          <a:solidFill>
            <a:srgbClr val="55808A"/>
          </a:solidFill>
          <a:ln w="6350">
            <a:solidFill>
              <a:srgbClr val="55808A"/>
            </a:solidFill>
            <a:prstDash val="solid"/>
          </a:ln>
        </p:spPr>
      </p:sp>
      <p:pic>
        <p:nvPicPr>
          <p:cNvPr id="17" name="Icon" descr="preencoded.png"/>
          <p:cNvPicPr>
            <a:picLocks noChangeAspect="1"/>
          </p:cNvPicPr>
          <p:nvPr/>
        </p:nvPicPr>
        <p:blipFill>
          <a:blip r:embed="rId3"/>
          <a:stretch>
            <a:fillRect/>
          </a:stretch>
        </p:blipFill>
        <p:spPr>
          <a:xfrm>
            <a:off x="658368" y="1545336"/>
            <a:ext cx="219456" cy="219456"/>
          </a:xfrm>
          <a:prstGeom prst="rect">
            <a:avLst/>
          </a:prstGeom>
        </p:spPr>
      </p:pic>
      <p:sp>
        <p:nvSpPr>
          <p:cNvPr id="18" name="Text 15"/>
          <p:cNvSpPr txBox="1"/>
          <p:nvPr/>
        </p:nvSpPr>
        <p:spPr>
          <a:xfrm>
            <a:off x="1143000" y="1408176"/>
            <a:ext cx="4297680" cy="256032"/>
          </a:xfrm>
          <a:prstGeom prst="rect">
            <a:avLst/>
          </a:prstGeom>
          <a:noFill/>
          <a:ln/>
        </p:spPr>
        <p:txBody>
          <a:bodyPr wrap="square" lIns="0" tIns="0" rIns="0" bIns="0" rtlCol="0" anchor="t"/>
          <a:lstStyle/>
          <a:p>
            <a:pPr marL="0" indent="0">
              <a:buNone/>
            </a:pPr>
            <a:r>
              <a:rPr lang="en-US" sz="1500" b="1" dirty="0">
                <a:solidFill>
                  <a:srgbClr val="2F4858"/>
                </a:solidFill>
                <a:latin typeface="Calibri" pitchFamily="34" charset="0"/>
                <a:ea typeface="Calibri" pitchFamily="34" charset="-122"/>
                <a:cs typeface="Calibri" pitchFamily="34" charset="-120"/>
              </a:rPr>
              <a:t>Filters</a:t>
            </a:r>
            <a:endParaRPr lang="en-US" sz="1500" dirty="0"/>
          </a:p>
        </p:txBody>
      </p:sp>
      <p:sp>
        <p:nvSpPr>
          <p:cNvPr id="19" name="Text 16"/>
          <p:cNvSpPr txBox="1"/>
          <p:nvPr/>
        </p:nvSpPr>
        <p:spPr>
          <a:xfrm>
            <a:off x="1143000" y="1664208"/>
            <a:ext cx="4297680" cy="237744"/>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KF, EKF and ESKF, built and compared</a:t>
            </a:r>
            <a:endParaRPr lang="en-US" sz="1200" dirty="0"/>
          </a:p>
        </p:txBody>
      </p:sp>
      <p:sp>
        <p:nvSpPr>
          <p:cNvPr id="20" name="Card"/>
          <p:cNvSpPr/>
          <p:nvPr/>
        </p:nvSpPr>
        <p:spPr>
          <a:xfrm>
            <a:off x="457200" y="2048256"/>
            <a:ext cx="5120640" cy="566928"/>
          </a:xfrm>
          <a:prstGeom prst="roundRect">
            <a:avLst>
              <a:gd name="adj" fmla="val 12903"/>
            </a:avLst>
          </a:prstGeom>
          <a:solidFill>
            <a:srgbClr val="E3EBEA"/>
          </a:solidFill>
          <a:ln w="6350">
            <a:solidFill>
              <a:srgbClr val="E3EBEA"/>
            </a:solidFill>
            <a:prstDash val="solid"/>
          </a:ln>
        </p:spPr>
      </p:sp>
      <p:sp>
        <p:nvSpPr>
          <p:cNvPr id="21" name="Icon circle"/>
          <p:cNvSpPr/>
          <p:nvPr/>
        </p:nvSpPr>
        <p:spPr>
          <a:xfrm>
            <a:off x="548640" y="2112264"/>
            <a:ext cx="438912" cy="438912"/>
          </a:xfrm>
          <a:prstGeom prst="ellipse">
            <a:avLst/>
          </a:prstGeom>
          <a:solidFill>
            <a:srgbClr val="55808A"/>
          </a:solidFill>
          <a:ln w="6350">
            <a:solidFill>
              <a:srgbClr val="55808A"/>
            </a:solidFill>
            <a:prstDash val="solid"/>
          </a:ln>
        </p:spPr>
      </p:sp>
      <p:pic>
        <p:nvPicPr>
          <p:cNvPr id="22" name="Icon" descr="preencoded.png"/>
          <p:cNvPicPr>
            <a:picLocks noChangeAspect="1"/>
          </p:cNvPicPr>
          <p:nvPr/>
        </p:nvPicPr>
        <p:blipFill>
          <a:blip r:embed="rId4"/>
          <a:stretch>
            <a:fillRect/>
          </a:stretch>
        </p:blipFill>
        <p:spPr>
          <a:xfrm>
            <a:off x="658368" y="2221992"/>
            <a:ext cx="219456" cy="219456"/>
          </a:xfrm>
          <a:prstGeom prst="rect">
            <a:avLst/>
          </a:prstGeom>
        </p:spPr>
      </p:pic>
      <p:sp>
        <p:nvSpPr>
          <p:cNvPr id="23" name="Text 19"/>
          <p:cNvSpPr txBox="1"/>
          <p:nvPr/>
        </p:nvSpPr>
        <p:spPr>
          <a:xfrm>
            <a:off x="1143000" y="2084832"/>
            <a:ext cx="4297680" cy="256032"/>
          </a:xfrm>
          <a:prstGeom prst="rect">
            <a:avLst/>
          </a:prstGeom>
          <a:noFill/>
          <a:ln/>
        </p:spPr>
        <p:txBody>
          <a:bodyPr wrap="square" lIns="0" tIns="0" rIns="0" bIns="0" rtlCol="0" anchor="t"/>
          <a:lstStyle/>
          <a:p>
            <a:pPr marL="0" indent="0">
              <a:buNone/>
            </a:pPr>
            <a:r>
              <a:rPr lang="en-US" sz="1500" b="1" dirty="0">
                <a:solidFill>
                  <a:srgbClr val="2F4858"/>
                </a:solidFill>
                <a:latin typeface="Calibri" pitchFamily="34" charset="0"/>
                <a:ea typeface="Calibri" pitchFamily="34" charset="-122"/>
                <a:cs typeface="Calibri" pitchFamily="34" charset="-120"/>
              </a:rPr>
              <a:t>Accelerometer drift</a:t>
            </a:r>
            <a:endParaRPr lang="en-US" sz="1500" dirty="0"/>
          </a:p>
        </p:txBody>
      </p:sp>
      <p:sp>
        <p:nvSpPr>
          <p:cNvPr id="24" name="Text 20"/>
          <p:cNvSpPr txBox="1"/>
          <p:nvPr/>
        </p:nvSpPr>
        <p:spPr>
          <a:xfrm>
            <a:off x="1143000" y="2340864"/>
            <a:ext cx="4297680" cy="237744"/>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How fast a bare IMU loses its position</a:t>
            </a:r>
            <a:endParaRPr lang="en-US" sz="1200" dirty="0"/>
          </a:p>
        </p:txBody>
      </p:sp>
      <p:sp>
        <p:nvSpPr>
          <p:cNvPr id="25" name="Card"/>
          <p:cNvSpPr/>
          <p:nvPr/>
        </p:nvSpPr>
        <p:spPr>
          <a:xfrm>
            <a:off x="457200" y="2724912"/>
            <a:ext cx="5120640" cy="566928"/>
          </a:xfrm>
          <a:prstGeom prst="roundRect">
            <a:avLst>
              <a:gd name="adj" fmla="val 12903"/>
            </a:avLst>
          </a:prstGeom>
          <a:solidFill>
            <a:srgbClr val="E3EBEA"/>
          </a:solidFill>
          <a:ln w="6350">
            <a:solidFill>
              <a:srgbClr val="E3EBEA"/>
            </a:solidFill>
            <a:prstDash val="solid"/>
          </a:ln>
        </p:spPr>
      </p:sp>
      <p:sp>
        <p:nvSpPr>
          <p:cNvPr id="26" name="Icon circle"/>
          <p:cNvSpPr/>
          <p:nvPr/>
        </p:nvSpPr>
        <p:spPr>
          <a:xfrm>
            <a:off x="548640" y="2788920"/>
            <a:ext cx="438912" cy="438912"/>
          </a:xfrm>
          <a:prstGeom prst="ellipse">
            <a:avLst/>
          </a:prstGeom>
          <a:solidFill>
            <a:srgbClr val="55808A"/>
          </a:solidFill>
          <a:ln w="6350">
            <a:solidFill>
              <a:srgbClr val="55808A"/>
            </a:solidFill>
            <a:prstDash val="solid"/>
          </a:ln>
        </p:spPr>
      </p:sp>
      <p:pic>
        <p:nvPicPr>
          <p:cNvPr id="27" name="Icon" descr="preencoded.png"/>
          <p:cNvPicPr>
            <a:picLocks noChangeAspect="1"/>
          </p:cNvPicPr>
          <p:nvPr/>
        </p:nvPicPr>
        <p:blipFill>
          <a:blip r:embed="rId5"/>
          <a:stretch>
            <a:fillRect/>
          </a:stretch>
        </p:blipFill>
        <p:spPr>
          <a:xfrm>
            <a:off x="658368" y="2898648"/>
            <a:ext cx="219456" cy="219456"/>
          </a:xfrm>
          <a:prstGeom prst="rect">
            <a:avLst/>
          </a:prstGeom>
        </p:spPr>
      </p:pic>
      <p:sp>
        <p:nvSpPr>
          <p:cNvPr id="28" name="Text 23"/>
          <p:cNvSpPr txBox="1"/>
          <p:nvPr/>
        </p:nvSpPr>
        <p:spPr>
          <a:xfrm>
            <a:off x="1143000" y="2761488"/>
            <a:ext cx="4297680" cy="256032"/>
          </a:xfrm>
          <a:prstGeom prst="rect">
            <a:avLst/>
          </a:prstGeom>
          <a:noFill/>
          <a:ln/>
        </p:spPr>
        <p:txBody>
          <a:bodyPr wrap="square" lIns="0" tIns="0" rIns="0" bIns="0" rtlCol="0" anchor="t"/>
          <a:lstStyle/>
          <a:p>
            <a:pPr marL="0" indent="0">
              <a:buNone/>
            </a:pPr>
            <a:r>
              <a:rPr lang="en-US" sz="1500" b="1" dirty="0">
                <a:solidFill>
                  <a:srgbClr val="2F4858"/>
                </a:solidFill>
                <a:latin typeface="Calibri" pitchFamily="34" charset="0"/>
                <a:ea typeface="Calibri" pitchFamily="34" charset="-122"/>
                <a:cs typeface="Calibri" pitchFamily="34" charset="-120"/>
              </a:rPr>
              <a:t>Noise model</a:t>
            </a:r>
            <a:endParaRPr lang="en-US" sz="1500" dirty="0"/>
          </a:p>
        </p:txBody>
      </p:sp>
      <p:sp>
        <p:nvSpPr>
          <p:cNvPr id="29" name="Text 24"/>
          <p:cNvSpPr txBox="1"/>
          <p:nvPr/>
        </p:nvSpPr>
        <p:spPr>
          <a:xfrm>
            <a:off x="1143000" y="3017520"/>
            <a:ext cx="4297680" cy="237744"/>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Measured on real hardware, not assumed</a:t>
            </a:r>
            <a:endParaRPr lang="en-US" sz="1200" dirty="0"/>
          </a:p>
        </p:txBody>
      </p:sp>
      <p:sp>
        <p:nvSpPr>
          <p:cNvPr id="30" name="Card"/>
          <p:cNvSpPr/>
          <p:nvPr/>
        </p:nvSpPr>
        <p:spPr>
          <a:xfrm>
            <a:off x="457200" y="3401568"/>
            <a:ext cx="5120640" cy="566928"/>
          </a:xfrm>
          <a:prstGeom prst="roundRect">
            <a:avLst>
              <a:gd name="adj" fmla="val 12903"/>
            </a:avLst>
          </a:prstGeom>
          <a:solidFill>
            <a:srgbClr val="E3EBEA"/>
          </a:solidFill>
          <a:ln w="6350">
            <a:solidFill>
              <a:srgbClr val="E3EBEA"/>
            </a:solidFill>
            <a:prstDash val="solid"/>
          </a:ln>
        </p:spPr>
      </p:sp>
      <p:sp>
        <p:nvSpPr>
          <p:cNvPr id="31" name="Icon circle"/>
          <p:cNvSpPr/>
          <p:nvPr/>
        </p:nvSpPr>
        <p:spPr>
          <a:xfrm>
            <a:off x="548640" y="3465576"/>
            <a:ext cx="438912" cy="438912"/>
          </a:xfrm>
          <a:prstGeom prst="ellipse">
            <a:avLst/>
          </a:prstGeom>
          <a:solidFill>
            <a:srgbClr val="55808A"/>
          </a:solidFill>
          <a:ln w="6350">
            <a:solidFill>
              <a:srgbClr val="55808A"/>
            </a:solidFill>
            <a:prstDash val="solid"/>
          </a:ln>
        </p:spPr>
      </p:sp>
      <p:pic>
        <p:nvPicPr>
          <p:cNvPr id="32" name="Icon" descr="preencoded.png"/>
          <p:cNvPicPr>
            <a:picLocks noChangeAspect="1"/>
          </p:cNvPicPr>
          <p:nvPr/>
        </p:nvPicPr>
        <p:blipFill>
          <a:blip r:embed="rId6"/>
          <a:stretch>
            <a:fillRect/>
          </a:stretch>
        </p:blipFill>
        <p:spPr>
          <a:xfrm>
            <a:off x="658368" y="3575304"/>
            <a:ext cx="219456" cy="219456"/>
          </a:xfrm>
          <a:prstGeom prst="rect">
            <a:avLst/>
          </a:prstGeom>
        </p:spPr>
      </p:pic>
      <p:sp>
        <p:nvSpPr>
          <p:cNvPr id="33" name="Text 27"/>
          <p:cNvSpPr txBox="1"/>
          <p:nvPr/>
        </p:nvSpPr>
        <p:spPr>
          <a:xfrm>
            <a:off x="1143000" y="3438144"/>
            <a:ext cx="4297680" cy="256032"/>
          </a:xfrm>
          <a:prstGeom prst="rect">
            <a:avLst/>
          </a:prstGeom>
          <a:noFill/>
          <a:ln/>
        </p:spPr>
        <p:txBody>
          <a:bodyPr wrap="square" lIns="0" tIns="0" rIns="0" bIns="0" rtlCol="0" anchor="t"/>
          <a:lstStyle/>
          <a:p>
            <a:pPr marL="0" indent="0">
              <a:buNone/>
            </a:pPr>
            <a:r>
              <a:rPr lang="en-US" sz="1500" b="1" dirty="0">
                <a:solidFill>
                  <a:srgbClr val="2F4858"/>
                </a:solidFill>
                <a:latin typeface="Calibri" pitchFamily="34" charset="0"/>
                <a:ea typeface="Calibri" pitchFamily="34" charset="-122"/>
                <a:cs typeface="Calibri" pitchFamily="34" charset="-120"/>
              </a:rPr>
              <a:t>Simulation</a:t>
            </a:r>
            <a:endParaRPr lang="en-US" sz="1500" dirty="0"/>
          </a:p>
        </p:txBody>
      </p:sp>
      <p:sp>
        <p:nvSpPr>
          <p:cNvPr id="34" name="Text 28"/>
          <p:cNvSpPr txBox="1"/>
          <p:nvPr/>
        </p:nvSpPr>
        <p:spPr>
          <a:xfrm>
            <a:off x="1143000" y="3694176"/>
            <a:ext cx="4297680" cy="237744"/>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A drone in Gazebo with a noisy IMU and UWB</a:t>
            </a:r>
            <a:endParaRPr lang="en-US" sz="1200" dirty="0"/>
          </a:p>
        </p:txBody>
      </p:sp>
      <p:sp>
        <p:nvSpPr>
          <p:cNvPr id="35" name="Card"/>
          <p:cNvSpPr/>
          <p:nvPr/>
        </p:nvSpPr>
        <p:spPr>
          <a:xfrm>
            <a:off x="457200" y="4078224"/>
            <a:ext cx="5120640" cy="566928"/>
          </a:xfrm>
          <a:prstGeom prst="roundRect">
            <a:avLst>
              <a:gd name="adj" fmla="val 12903"/>
            </a:avLst>
          </a:prstGeom>
          <a:solidFill>
            <a:srgbClr val="E3EBEA"/>
          </a:solidFill>
          <a:ln w="6350">
            <a:solidFill>
              <a:srgbClr val="E3EBEA"/>
            </a:solidFill>
            <a:prstDash val="solid"/>
          </a:ln>
        </p:spPr>
      </p:sp>
      <p:sp>
        <p:nvSpPr>
          <p:cNvPr id="36" name="Icon circle"/>
          <p:cNvSpPr/>
          <p:nvPr/>
        </p:nvSpPr>
        <p:spPr>
          <a:xfrm>
            <a:off x="548640" y="4142232"/>
            <a:ext cx="438912" cy="438912"/>
          </a:xfrm>
          <a:prstGeom prst="ellipse">
            <a:avLst/>
          </a:prstGeom>
          <a:solidFill>
            <a:srgbClr val="55808A"/>
          </a:solidFill>
          <a:ln w="6350">
            <a:solidFill>
              <a:srgbClr val="55808A"/>
            </a:solidFill>
            <a:prstDash val="solid"/>
          </a:ln>
        </p:spPr>
      </p:sp>
      <p:pic>
        <p:nvPicPr>
          <p:cNvPr id="37" name="Icon" descr="preencoded.png"/>
          <p:cNvPicPr>
            <a:picLocks noChangeAspect="1"/>
          </p:cNvPicPr>
          <p:nvPr/>
        </p:nvPicPr>
        <p:blipFill>
          <a:blip r:embed="rId7"/>
          <a:stretch>
            <a:fillRect/>
          </a:stretch>
        </p:blipFill>
        <p:spPr>
          <a:xfrm>
            <a:off x="658368" y="4251960"/>
            <a:ext cx="219456" cy="219456"/>
          </a:xfrm>
          <a:prstGeom prst="rect">
            <a:avLst/>
          </a:prstGeom>
        </p:spPr>
      </p:pic>
      <p:sp>
        <p:nvSpPr>
          <p:cNvPr id="38" name="Text 31"/>
          <p:cNvSpPr txBox="1"/>
          <p:nvPr/>
        </p:nvSpPr>
        <p:spPr>
          <a:xfrm>
            <a:off x="1143000" y="4114800"/>
            <a:ext cx="4297680" cy="256032"/>
          </a:xfrm>
          <a:prstGeom prst="rect">
            <a:avLst/>
          </a:prstGeom>
          <a:noFill/>
          <a:ln/>
        </p:spPr>
        <p:txBody>
          <a:bodyPr wrap="square" lIns="0" tIns="0" rIns="0" bIns="0" rtlCol="0" anchor="t"/>
          <a:lstStyle/>
          <a:p>
            <a:pPr marL="0" indent="0">
              <a:buNone/>
            </a:pPr>
            <a:r>
              <a:rPr lang="en-US" sz="1500" b="1" dirty="0">
                <a:solidFill>
                  <a:srgbClr val="2F4858"/>
                </a:solidFill>
                <a:latin typeface="Calibri" pitchFamily="34" charset="0"/>
                <a:ea typeface="Calibri" pitchFamily="34" charset="-122"/>
                <a:cs typeface="Calibri" pitchFamily="34" charset="-120"/>
              </a:rPr>
              <a:t>Ground truth vs estimate</a:t>
            </a:r>
            <a:endParaRPr lang="en-US" sz="1500" dirty="0"/>
          </a:p>
        </p:txBody>
      </p:sp>
      <p:sp>
        <p:nvSpPr>
          <p:cNvPr id="39" name="Text 32"/>
          <p:cNvSpPr txBox="1"/>
          <p:nvPr/>
        </p:nvSpPr>
        <p:spPr>
          <a:xfrm>
            <a:off x="1143000" y="4370832"/>
            <a:ext cx="4297680" cy="237744"/>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Same path, two lines, one error number</a:t>
            </a:r>
            <a:endParaRPr lang="en-US" sz="1200" dirty="0"/>
          </a:p>
        </p:txBody>
      </p:sp>
      <p:sp>
        <p:nvSpPr>
          <p:cNvPr id="40" name="Card"/>
          <p:cNvSpPr/>
          <p:nvPr/>
        </p:nvSpPr>
        <p:spPr>
          <a:xfrm>
            <a:off x="5852160" y="1371600"/>
            <a:ext cx="2834640" cy="3273552"/>
          </a:xfrm>
          <a:prstGeom prst="roundRect">
            <a:avLst>
              <a:gd name="adj" fmla="val 2581"/>
            </a:avLst>
          </a:prstGeom>
          <a:solidFill>
            <a:srgbClr val="2F4858"/>
          </a:solidFill>
          <a:ln w="6350">
            <a:solidFill>
              <a:srgbClr val="2F4858"/>
            </a:solidFill>
            <a:prstDash val="solid"/>
          </a:ln>
        </p:spPr>
      </p:sp>
      <p:sp>
        <p:nvSpPr>
          <p:cNvPr id="41" name="Text 34"/>
          <p:cNvSpPr txBox="1"/>
          <p:nvPr/>
        </p:nvSpPr>
        <p:spPr>
          <a:xfrm>
            <a:off x="6080760" y="1554480"/>
            <a:ext cx="2377440" cy="274320"/>
          </a:xfrm>
          <a:prstGeom prst="rect">
            <a:avLst/>
          </a:prstGeom>
          <a:noFill/>
          <a:ln/>
        </p:spPr>
        <p:txBody>
          <a:bodyPr wrap="square" lIns="0" tIns="0" rIns="0" bIns="0" rtlCol="0" anchor="t"/>
          <a:lstStyle/>
          <a:p>
            <a:pPr marL="0" indent="0">
              <a:buNone/>
            </a:pPr>
            <a:r>
              <a:rPr lang="en-US" sz="1200" b="1" dirty="0">
                <a:solidFill>
                  <a:srgbClr val="C58B5A"/>
                </a:solidFill>
                <a:latin typeface="Calibri" pitchFamily="34" charset="0"/>
                <a:ea typeface="Calibri" pitchFamily="34" charset="-122"/>
                <a:cs typeface="Calibri" pitchFamily="34" charset="-120"/>
              </a:rPr>
              <a:t>The question</a:t>
            </a:r>
            <a:endParaRPr lang="en-US" sz="1200" dirty="0"/>
          </a:p>
        </p:txBody>
      </p:sp>
      <p:sp>
        <p:nvSpPr>
          <p:cNvPr id="42" name="Text 35"/>
          <p:cNvSpPr txBox="1"/>
          <p:nvPr/>
        </p:nvSpPr>
        <p:spPr>
          <a:xfrm>
            <a:off x="6080760" y="1920240"/>
            <a:ext cx="2423160" cy="2560320"/>
          </a:xfrm>
          <a:prstGeom prst="rect">
            <a:avLst/>
          </a:prstGeom>
          <a:noFill/>
          <a:ln/>
        </p:spPr>
        <p:txBody>
          <a:bodyPr wrap="square" lIns="0" tIns="0" rIns="0" bIns="0" rtlCol="0" anchor="t"/>
          <a:lstStyle/>
          <a:p>
            <a:pPr marL="0" indent="0">
              <a:buNone/>
            </a:pPr>
            <a:r>
              <a:rPr lang="en-US" sz="1800" dirty="0">
                <a:solidFill>
                  <a:srgbClr val="FFFFFF"/>
                </a:solidFill>
                <a:latin typeface="Cambria" pitchFamily="34" charset="0"/>
                <a:ea typeface="Cambria" pitchFamily="34" charset="-122"/>
                <a:cs typeface="Cambria" pitchFamily="34" charset="-120"/>
              </a:rPr>
              <a:t>Can a noisy phone IMU plus a sparse position fix track a moving drone, and can we prove it against ground truth?</a:t>
            </a:r>
            <a:endParaRPr lang="en-US" sz="1800" dirty="0"/>
          </a:p>
        </p:txBody>
      </p:sp>
      <p:sp>
        <p:nvSpPr>
          <p:cNvPr id="43"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82880"/>
            <a:ext cx="54864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OVERVIEW</a:t>
            </a:r>
            <a:endParaRPr lang="en-US" sz="1000" dirty="0"/>
          </a:p>
        </p:txBody>
      </p:sp>
      <p:sp>
        <p:nvSpPr>
          <p:cNvPr id="3" name="Timeline A"/>
          <p:cNvSpPr/>
          <p:nvPr/>
        </p:nvSpPr>
        <p:spPr>
          <a:xfrm>
            <a:off x="457200" y="429768"/>
            <a:ext cx="222422" cy="82296"/>
          </a:xfrm>
          <a:prstGeom prst="roundRect">
            <a:avLst>
              <a:gd name="adj" fmla="val 44444"/>
            </a:avLst>
          </a:prstGeom>
          <a:solidFill>
            <a:srgbClr val="BFD0CF"/>
          </a:solidFill>
          <a:ln w="3175">
            <a:solidFill>
              <a:srgbClr val="BFD0CF"/>
            </a:solidFill>
            <a:prstDash val="solid"/>
          </a:ln>
        </p:spPr>
      </p:sp>
      <p:sp>
        <p:nvSpPr>
          <p:cNvPr id="4" name="Timeline B"/>
          <p:cNvSpPr/>
          <p:nvPr/>
        </p:nvSpPr>
        <p:spPr>
          <a:xfrm>
            <a:off x="902043" y="429768"/>
            <a:ext cx="667265" cy="82296"/>
          </a:xfrm>
          <a:prstGeom prst="roundRect">
            <a:avLst>
              <a:gd name="adj" fmla="val 44444"/>
            </a:avLst>
          </a:prstGeom>
          <a:solidFill>
            <a:srgbClr val="BFD0CF"/>
          </a:solidFill>
          <a:ln w="3175">
            <a:solidFill>
              <a:srgbClr val="BFD0CF"/>
            </a:solidFill>
            <a:prstDash val="solid"/>
          </a:ln>
        </p:spPr>
      </p:sp>
      <p:sp>
        <p:nvSpPr>
          <p:cNvPr id="5" name="Timeline C"/>
          <p:cNvSpPr/>
          <p:nvPr/>
        </p:nvSpPr>
        <p:spPr>
          <a:xfrm>
            <a:off x="1569308" y="429768"/>
            <a:ext cx="222422" cy="82296"/>
          </a:xfrm>
          <a:prstGeom prst="roundRect">
            <a:avLst>
              <a:gd name="adj" fmla="val 44444"/>
            </a:avLst>
          </a:prstGeom>
          <a:solidFill>
            <a:srgbClr val="BFD0CF"/>
          </a:solidFill>
          <a:ln w="3175">
            <a:solidFill>
              <a:srgbClr val="BFD0CF"/>
            </a:solidFill>
            <a:prstDash val="solid"/>
          </a:ln>
        </p:spPr>
      </p:sp>
      <p:sp>
        <p:nvSpPr>
          <p:cNvPr id="6" name="Timeline D"/>
          <p:cNvSpPr/>
          <p:nvPr/>
        </p:nvSpPr>
        <p:spPr>
          <a:xfrm>
            <a:off x="2014151" y="429768"/>
            <a:ext cx="3113903" cy="82296"/>
          </a:xfrm>
          <a:prstGeom prst="roundRect">
            <a:avLst>
              <a:gd name="adj" fmla="val 44444"/>
            </a:avLst>
          </a:prstGeom>
          <a:solidFill>
            <a:srgbClr val="BFD0CF"/>
          </a:solidFill>
          <a:ln w="3175">
            <a:solidFill>
              <a:srgbClr val="BFD0CF"/>
            </a:solidFill>
            <a:prstDash val="solid"/>
          </a:ln>
        </p:spPr>
      </p:sp>
      <p:sp>
        <p:nvSpPr>
          <p:cNvPr id="7" name="Timeline E"/>
          <p:cNvSpPr/>
          <p:nvPr/>
        </p:nvSpPr>
        <p:spPr>
          <a:xfrm>
            <a:off x="5128054" y="429768"/>
            <a:ext cx="1334530" cy="82296"/>
          </a:xfrm>
          <a:prstGeom prst="roundRect">
            <a:avLst>
              <a:gd name="adj" fmla="val 44444"/>
            </a:avLst>
          </a:prstGeom>
          <a:solidFill>
            <a:srgbClr val="BFD0CF"/>
          </a:solidFill>
          <a:ln w="3175">
            <a:solidFill>
              <a:srgbClr val="BFD0CF"/>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Our setup at a glance</a:t>
            </a:r>
            <a:endParaRPr lang="en-US" sz="2600" dirty="0"/>
          </a:p>
        </p:txBody>
      </p:sp>
      <p:sp>
        <p:nvSpPr>
          <p:cNvPr id="15" name="Text 13"/>
          <p:cNvSpPr txBox="1"/>
          <p:nvPr/>
        </p:nvSpPr>
        <p:spPr>
          <a:xfrm>
            <a:off x="457200" y="1600200"/>
            <a:ext cx="1051560" cy="457200"/>
          </a:xfrm>
          <a:prstGeom prst="rect">
            <a:avLst/>
          </a:prstGeom>
          <a:noFill/>
          <a:ln/>
        </p:spPr>
        <p:txBody>
          <a:bodyPr wrap="square" lIns="0" tIns="0" rIns="0" bIns="0" rtlCol="0" anchor="ctr"/>
          <a:lstStyle/>
          <a:p>
            <a:pPr marL="0" indent="0">
              <a:buNone/>
            </a:pPr>
            <a:r>
              <a:rPr lang="en-US" sz="1500" b="1" dirty="0">
                <a:solidFill>
                  <a:srgbClr val="2F4858"/>
                </a:solidFill>
                <a:latin typeface="Cambria" pitchFamily="34" charset="0"/>
                <a:ea typeface="Cambria" pitchFamily="34" charset="-122"/>
                <a:cs typeface="Cambria" pitchFamily="34" charset="-120"/>
              </a:rPr>
              <a:t>Real phone</a:t>
            </a:r>
            <a:endParaRPr lang="en-US" sz="1500" dirty="0"/>
          </a:p>
        </p:txBody>
      </p:sp>
      <p:sp>
        <p:nvSpPr>
          <p:cNvPr id="16" name="Flow box"/>
          <p:cNvSpPr/>
          <p:nvPr/>
        </p:nvSpPr>
        <p:spPr>
          <a:xfrm>
            <a:off x="1600200" y="1417320"/>
            <a:ext cx="1463040" cy="822960"/>
          </a:xfrm>
          <a:prstGeom prst="roundRect">
            <a:avLst>
              <a:gd name="adj" fmla="val 8889"/>
            </a:avLst>
          </a:prstGeom>
          <a:solidFill>
            <a:srgbClr val="E3EBEA"/>
          </a:solidFill>
          <a:ln w="9525">
            <a:solidFill>
              <a:srgbClr val="BFD0CF"/>
            </a:solidFill>
            <a:prstDash val="solid"/>
          </a:ln>
        </p:spPr>
      </p:sp>
      <p:sp>
        <p:nvSpPr>
          <p:cNvPr id="17" name="Text 15"/>
          <p:cNvSpPr txBox="1"/>
          <p:nvPr/>
        </p:nvSpPr>
        <p:spPr>
          <a:xfrm>
            <a:off x="1645920" y="1417320"/>
            <a:ext cx="1371600" cy="82296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Phone IMU</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395 Hz</a:t>
            </a:r>
            <a:endParaRPr lang="en-US" sz="1200" dirty="0"/>
          </a:p>
        </p:txBody>
      </p:sp>
      <p:sp>
        <p:nvSpPr>
          <p:cNvPr id="18" name="Arrow"/>
          <p:cNvSpPr/>
          <p:nvPr/>
        </p:nvSpPr>
        <p:spPr>
          <a:xfrm>
            <a:off x="3099816" y="1719072"/>
            <a:ext cx="237744" cy="219456"/>
          </a:xfrm>
          <a:prstGeom prst="rightArrow">
            <a:avLst/>
          </a:prstGeom>
          <a:solidFill>
            <a:srgbClr val="55808A"/>
          </a:solidFill>
          <a:ln w="3175">
            <a:solidFill>
              <a:srgbClr val="55808A"/>
            </a:solidFill>
            <a:prstDash val="solid"/>
          </a:ln>
        </p:spPr>
      </p:sp>
      <p:sp>
        <p:nvSpPr>
          <p:cNvPr id="19" name="Flow box"/>
          <p:cNvSpPr/>
          <p:nvPr/>
        </p:nvSpPr>
        <p:spPr>
          <a:xfrm>
            <a:off x="3383280" y="1417320"/>
            <a:ext cx="1463040" cy="822960"/>
          </a:xfrm>
          <a:prstGeom prst="roundRect">
            <a:avLst>
              <a:gd name="adj" fmla="val 8889"/>
            </a:avLst>
          </a:prstGeom>
          <a:solidFill>
            <a:srgbClr val="E3EBEA"/>
          </a:solidFill>
          <a:ln w="9525">
            <a:solidFill>
              <a:srgbClr val="BFD0CF"/>
            </a:solidFill>
            <a:prstDash val="solid"/>
          </a:ln>
        </p:spPr>
      </p:sp>
      <p:sp>
        <p:nvSpPr>
          <p:cNvPr id="20" name="Text 18"/>
          <p:cNvSpPr txBox="1"/>
          <p:nvPr/>
        </p:nvSpPr>
        <p:spPr>
          <a:xfrm>
            <a:off x="3429000" y="1417320"/>
            <a:ext cx="1371600" cy="82296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1 hour static</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recording</a:t>
            </a:r>
            <a:endParaRPr lang="en-US" sz="1200" dirty="0"/>
          </a:p>
        </p:txBody>
      </p:sp>
      <p:sp>
        <p:nvSpPr>
          <p:cNvPr id="21" name="Arrow"/>
          <p:cNvSpPr/>
          <p:nvPr/>
        </p:nvSpPr>
        <p:spPr>
          <a:xfrm>
            <a:off x="4882896" y="1719072"/>
            <a:ext cx="237744" cy="219456"/>
          </a:xfrm>
          <a:prstGeom prst="rightArrow">
            <a:avLst/>
          </a:prstGeom>
          <a:solidFill>
            <a:srgbClr val="55808A"/>
          </a:solidFill>
          <a:ln w="3175">
            <a:solidFill>
              <a:srgbClr val="55808A"/>
            </a:solidFill>
            <a:prstDash val="solid"/>
          </a:ln>
        </p:spPr>
      </p:sp>
      <p:sp>
        <p:nvSpPr>
          <p:cNvPr id="22" name="Flow box"/>
          <p:cNvSpPr/>
          <p:nvPr/>
        </p:nvSpPr>
        <p:spPr>
          <a:xfrm>
            <a:off x="5166360" y="1417320"/>
            <a:ext cx="1463040" cy="822960"/>
          </a:xfrm>
          <a:prstGeom prst="roundRect">
            <a:avLst>
              <a:gd name="adj" fmla="val 8889"/>
            </a:avLst>
          </a:prstGeom>
          <a:solidFill>
            <a:srgbClr val="E3EBEA"/>
          </a:solidFill>
          <a:ln w="9525">
            <a:solidFill>
              <a:srgbClr val="BFD0CF"/>
            </a:solidFill>
            <a:prstDash val="solid"/>
          </a:ln>
        </p:spPr>
      </p:sp>
      <p:sp>
        <p:nvSpPr>
          <p:cNvPr id="23" name="Text 21"/>
          <p:cNvSpPr txBox="1"/>
          <p:nvPr/>
        </p:nvSpPr>
        <p:spPr>
          <a:xfrm>
            <a:off x="5212080" y="1417320"/>
            <a:ext cx="1371600" cy="82296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Allan noise</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model</a:t>
            </a:r>
            <a:endParaRPr lang="en-US" sz="1200" dirty="0"/>
          </a:p>
        </p:txBody>
      </p:sp>
      <p:sp>
        <p:nvSpPr>
          <p:cNvPr id="24" name="Arrow"/>
          <p:cNvSpPr/>
          <p:nvPr/>
        </p:nvSpPr>
        <p:spPr>
          <a:xfrm>
            <a:off x="6665976" y="1719072"/>
            <a:ext cx="237744" cy="219456"/>
          </a:xfrm>
          <a:prstGeom prst="rightArrow">
            <a:avLst/>
          </a:prstGeom>
          <a:solidFill>
            <a:srgbClr val="55808A"/>
          </a:solidFill>
          <a:ln w="3175">
            <a:solidFill>
              <a:srgbClr val="55808A"/>
            </a:solidFill>
            <a:prstDash val="solid"/>
          </a:ln>
        </p:spPr>
      </p:sp>
      <p:sp>
        <p:nvSpPr>
          <p:cNvPr id="25" name="Flow box"/>
          <p:cNvSpPr/>
          <p:nvPr/>
        </p:nvSpPr>
        <p:spPr>
          <a:xfrm>
            <a:off x="6949440" y="1417320"/>
            <a:ext cx="1463040" cy="822960"/>
          </a:xfrm>
          <a:prstGeom prst="roundRect">
            <a:avLst>
              <a:gd name="adj" fmla="val 8889"/>
            </a:avLst>
          </a:prstGeom>
          <a:solidFill>
            <a:srgbClr val="2F4858"/>
          </a:solidFill>
          <a:ln w="9525">
            <a:solidFill>
              <a:srgbClr val="2F4858"/>
            </a:solidFill>
            <a:prstDash val="solid"/>
          </a:ln>
        </p:spPr>
      </p:sp>
      <p:sp>
        <p:nvSpPr>
          <p:cNvPr id="26" name="Text 24"/>
          <p:cNvSpPr txBox="1"/>
          <p:nvPr/>
        </p:nvSpPr>
        <p:spPr>
          <a:xfrm>
            <a:off x="6995160" y="1417320"/>
            <a:ext cx="137160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Synthetic IMU</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generator</a:t>
            </a:r>
            <a:endParaRPr lang="en-US" sz="1200" dirty="0"/>
          </a:p>
        </p:txBody>
      </p:sp>
      <p:sp>
        <p:nvSpPr>
          <p:cNvPr id="27" name="Text 25"/>
          <p:cNvSpPr txBox="1"/>
          <p:nvPr/>
        </p:nvSpPr>
        <p:spPr>
          <a:xfrm>
            <a:off x="457200" y="2697480"/>
            <a:ext cx="1051560" cy="457200"/>
          </a:xfrm>
          <a:prstGeom prst="rect">
            <a:avLst/>
          </a:prstGeom>
          <a:noFill/>
          <a:ln/>
        </p:spPr>
        <p:txBody>
          <a:bodyPr wrap="square" lIns="0" tIns="0" rIns="0" bIns="0" rtlCol="0" anchor="ctr"/>
          <a:lstStyle/>
          <a:p>
            <a:pPr marL="0" indent="0">
              <a:buNone/>
            </a:pPr>
            <a:r>
              <a:rPr lang="en-US" sz="1500" b="1" dirty="0">
                <a:solidFill>
                  <a:srgbClr val="2F4858"/>
                </a:solidFill>
                <a:latin typeface="Cambria" pitchFamily="34" charset="0"/>
                <a:ea typeface="Cambria" pitchFamily="34" charset="-122"/>
                <a:cs typeface="Cambria" pitchFamily="34" charset="-120"/>
              </a:rPr>
              <a:t>Simulation</a:t>
            </a:r>
            <a:endParaRPr lang="en-US" sz="1500" dirty="0"/>
          </a:p>
        </p:txBody>
      </p:sp>
      <p:sp>
        <p:nvSpPr>
          <p:cNvPr id="28" name="Flow box"/>
          <p:cNvSpPr/>
          <p:nvPr/>
        </p:nvSpPr>
        <p:spPr>
          <a:xfrm>
            <a:off x="1600200" y="2514600"/>
            <a:ext cx="1463040" cy="822960"/>
          </a:xfrm>
          <a:prstGeom prst="roundRect">
            <a:avLst>
              <a:gd name="adj" fmla="val 8889"/>
            </a:avLst>
          </a:prstGeom>
          <a:solidFill>
            <a:srgbClr val="E3EBEA"/>
          </a:solidFill>
          <a:ln w="9525">
            <a:solidFill>
              <a:srgbClr val="BFD0CF"/>
            </a:solidFill>
            <a:prstDash val="solid"/>
          </a:ln>
        </p:spPr>
      </p:sp>
      <p:sp>
        <p:nvSpPr>
          <p:cNvPr id="29" name="Text 27"/>
          <p:cNvSpPr txBox="1"/>
          <p:nvPr/>
        </p:nvSpPr>
        <p:spPr>
          <a:xfrm>
            <a:off x="1645920" y="2514600"/>
            <a:ext cx="1371600" cy="82296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Gazebo drone</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PX4 x500</a:t>
            </a:r>
            <a:endParaRPr lang="en-US" sz="1200" dirty="0"/>
          </a:p>
        </p:txBody>
      </p:sp>
      <p:sp>
        <p:nvSpPr>
          <p:cNvPr id="30" name="Arrow"/>
          <p:cNvSpPr/>
          <p:nvPr/>
        </p:nvSpPr>
        <p:spPr>
          <a:xfrm>
            <a:off x="3099816" y="2816352"/>
            <a:ext cx="237744" cy="219456"/>
          </a:xfrm>
          <a:prstGeom prst="rightArrow">
            <a:avLst/>
          </a:prstGeom>
          <a:solidFill>
            <a:srgbClr val="55808A"/>
          </a:solidFill>
          <a:ln w="3175">
            <a:solidFill>
              <a:srgbClr val="55808A"/>
            </a:solidFill>
            <a:prstDash val="solid"/>
          </a:ln>
        </p:spPr>
      </p:sp>
      <p:sp>
        <p:nvSpPr>
          <p:cNvPr id="31" name="Flow box"/>
          <p:cNvSpPr/>
          <p:nvPr/>
        </p:nvSpPr>
        <p:spPr>
          <a:xfrm>
            <a:off x="3383280" y="2514600"/>
            <a:ext cx="1463040" cy="822960"/>
          </a:xfrm>
          <a:prstGeom prst="roundRect">
            <a:avLst>
              <a:gd name="adj" fmla="val 8889"/>
            </a:avLst>
          </a:prstGeom>
          <a:solidFill>
            <a:srgbClr val="E3EBEA"/>
          </a:solidFill>
          <a:ln w="9525">
            <a:solidFill>
              <a:srgbClr val="BFD0CF"/>
            </a:solidFill>
            <a:prstDash val="solid"/>
          </a:ln>
        </p:spPr>
      </p:sp>
      <p:sp>
        <p:nvSpPr>
          <p:cNvPr id="32" name="Text 30"/>
          <p:cNvSpPr txBox="1"/>
          <p:nvPr/>
        </p:nvSpPr>
        <p:spPr>
          <a:xfrm>
            <a:off x="3429000" y="2514600"/>
            <a:ext cx="1371600" cy="82296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Phone noise IMU</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+ 8 UWB anchors</a:t>
            </a:r>
            <a:endParaRPr lang="en-US" sz="1200" dirty="0"/>
          </a:p>
        </p:txBody>
      </p:sp>
      <p:sp>
        <p:nvSpPr>
          <p:cNvPr id="33" name="Arrow"/>
          <p:cNvSpPr/>
          <p:nvPr/>
        </p:nvSpPr>
        <p:spPr>
          <a:xfrm>
            <a:off x="4882896" y="2816352"/>
            <a:ext cx="237744" cy="219456"/>
          </a:xfrm>
          <a:prstGeom prst="rightArrow">
            <a:avLst/>
          </a:prstGeom>
          <a:solidFill>
            <a:srgbClr val="55808A"/>
          </a:solidFill>
          <a:ln w="3175">
            <a:solidFill>
              <a:srgbClr val="55808A"/>
            </a:solidFill>
            <a:prstDash val="solid"/>
          </a:ln>
        </p:spPr>
      </p:sp>
      <p:sp>
        <p:nvSpPr>
          <p:cNvPr id="34" name="Flow box"/>
          <p:cNvSpPr/>
          <p:nvPr/>
        </p:nvSpPr>
        <p:spPr>
          <a:xfrm>
            <a:off x="5166360" y="2514600"/>
            <a:ext cx="1463040" cy="822960"/>
          </a:xfrm>
          <a:prstGeom prst="roundRect">
            <a:avLst>
              <a:gd name="adj" fmla="val 8889"/>
            </a:avLst>
          </a:prstGeom>
          <a:solidFill>
            <a:srgbClr val="E3EBEA"/>
          </a:solidFill>
          <a:ln w="9525">
            <a:solidFill>
              <a:srgbClr val="BFD0CF"/>
            </a:solidFill>
            <a:prstDash val="solid"/>
          </a:ln>
        </p:spPr>
      </p:sp>
      <p:sp>
        <p:nvSpPr>
          <p:cNvPr id="35" name="Text 33"/>
          <p:cNvSpPr txBox="1"/>
          <p:nvPr/>
        </p:nvSpPr>
        <p:spPr>
          <a:xfrm>
            <a:off x="5212080" y="2514600"/>
            <a:ext cx="1371600" cy="82296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15 state</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ESKF</a:t>
            </a:r>
            <a:endParaRPr lang="en-US" sz="1200" dirty="0"/>
          </a:p>
        </p:txBody>
      </p:sp>
      <p:sp>
        <p:nvSpPr>
          <p:cNvPr id="36" name="Arrow"/>
          <p:cNvSpPr/>
          <p:nvPr/>
        </p:nvSpPr>
        <p:spPr>
          <a:xfrm>
            <a:off x="6665976" y="2816352"/>
            <a:ext cx="237744" cy="219456"/>
          </a:xfrm>
          <a:prstGeom prst="rightArrow">
            <a:avLst/>
          </a:prstGeom>
          <a:solidFill>
            <a:srgbClr val="55808A"/>
          </a:solidFill>
          <a:ln w="3175">
            <a:solidFill>
              <a:srgbClr val="55808A"/>
            </a:solidFill>
            <a:prstDash val="solid"/>
          </a:ln>
        </p:spPr>
      </p:sp>
      <p:sp>
        <p:nvSpPr>
          <p:cNvPr id="37" name="Flow box"/>
          <p:cNvSpPr/>
          <p:nvPr/>
        </p:nvSpPr>
        <p:spPr>
          <a:xfrm>
            <a:off x="6949440" y="2514600"/>
            <a:ext cx="1463040" cy="822960"/>
          </a:xfrm>
          <a:prstGeom prst="roundRect">
            <a:avLst>
              <a:gd name="adj" fmla="val 8889"/>
            </a:avLst>
          </a:prstGeom>
          <a:solidFill>
            <a:srgbClr val="2F4858"/>
          </a:solidFill>
          <a:ln w="9525">
            <a:solidFill>
              <a:srgbClr val="2F4858"/>
            </a:solidFill>
            <a:prstDash val="solid"/>
          </a:ln>
        </p:spPr>
      </p:sp>
      <p:sp>
        <p:nvSpPr>
          <p:cNvPr id="38" name="Text 36"/>
          <p:cNvSpPr txBox="1"/>
          <p:nvPr/>
        </p:nvSpPr>
        <p:spPr>
          <a:xfrm>
            <a:off x="6995160" y="2514600"/>
            <a:ext cx="137160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Estimate vs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ground truth</a:t>
            </a:r>
            <a:endParaRPr lang="en-US" sz="1200" dirty="0"/>
          </a:p>
        </p:txBody>
      </p:sp>
      <p:sp>
        <p:nvSpPr>
          <p:cNvPr id="39" name="Text 37"/>
          <p:cNvSpPr txBox="1"/>
          <p:nvPr/>
        </p:nvSpPr>
        <p:spPr>
          <a:xfrm>
            <a:off x="457200" y="3794760"/>
            <a:ext cx="1051560" cy="457200"/>
          </a:xfrm>
          <a:prstGeom prst="rect">
            <a:avLst/>
          </a:prstGeom>
          <a:noFill/>
          <a:ln/>
        </p:spPr>
        <p:txBody>
          <a:bodyPr wrap="square" lIns="0" tIns="0" rIns="0" bIns="0" rtlCol="0" anchor="ctr"/>
          <a:lstStyle/>
          <a:p>
            <a:pPr marL="0" indent="0">
              <a:buNone/>
            </a:pPr>
            <a:r>
              <a:rPr lang="en-US" sz="1500" b="1" dirty="0">
                <a:solidFill>
                  <a:srgbClr val="2F4858"/>
                </a:solidFill>
                <a:latin typeface="Cambria" pitchFamily="34" charset="0"/>
                <a:ea typeface="Cambria" pitchFamily="34" charset="-122"/>
                <a:cs typeface="Cambria" pitchFamily="34" charset="-120"/>
              </a:rPr>
              <a:t>Real motion</a:t>
            </a:r>
            <a:endParaRPr lang="en-US" sz="1500" dirty="0"/>
          </a:p>
        </p:txBody>
      </p:sp>
      <p:sp>
        <p:nvSpPr>
          <p:cNvPr id="40" name="Flow box"/>
          <p:cNvSpPr/>
          <p:nvPr/>
        </p:nvSpPr>
        <p:spPr>
          <a:xfrm>
            <a:off x="1600200" y="3611880"/>
            <a:ext cx="1463040" cy="822960"/>
          </a:xfrm>
          <a:prstGeom prst="roundRect">
            <a:avLst>
              <a:gd name="adj" fmla="val 8889"/>
            </a:avLst>
          </a:prstGeom>
          <a:solidFill>
            <a:srgbClr val="E3EBEA"/>
          </a:solidFill>
          <a:ln w="9525">
            <a:solidFill>
              <a:srgbClr val="BFD0CF"/>
            </a:solidFill>
            <a:prstDash val="solid"/>
          </a:ln>
        </p:spPr>
      </p:sp>
      <p:sp>
        <p:nvSpPr>
          <p:cNvPr id="41" name="Text 39"/>
          <p:cNvSpPr txBox="1"/>
          <p:nvPr/>
        </p:nvSpPr>
        <p:spPr>
          <a:xfrm>
            <a:off x="1645920" y="3611880"/>
            <a:ext cx="1371600" cy="82296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Phone IMU</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 back camera</a:t>
            </a:r>
            <a:endParaRPr lang="en-US" sz="1200" dirty="0"/>
          </a:p>
        </p:txBody>
      </p:sp>
      <p:sp>
        <p:nvSpPr>
          <p:cNvPr id="42" name="Arrow"/>
          <p:cNvSpPr/>
          <p:nvPr/>
        </p:nvSpPr>
        <p:spPr>
          <a:xfrm>
            <a:off x="3099816" y="3913632"/>
            <a:ext cx="237744" cy="219456"/>
          </a:xfrm>
          <a:prstGeom prst="rightArrow">
            <a:avLst/>
          </a:prstGeom>
          <a:solidFill>
            <a:srgbClr val="55808A"/>
          </a:solidFill>
          <a:ln w="3175">
            <a:solidFill>
              <a:srgbClr val="55808A"/>
            </a:solidFill>
            <a:prstDash val="solid"/>
          </a:ln>
        </p:spPr>
      </p:sp>
      <p:sp>
        <p:nvSpPr>
          <p:cNvPr id="43" name="Flow box"/>
          <p:cNvSpPr/>
          <p:nvPr/>
        </p:nvSpPr>
        <p:spPr>
          <a:xfrm>
            <a:off x="3383280" y="3611880"/>
            <a:ext cx="1463040" cy="822960"/>
          </a:xfrm>
          <a:prstGeom prst="roundRect">
            <a:avLst>
              <a:gd name="adj" fmla="val 8889"/>
            </a:avLst>
          </a:prstGeom>
          <a:solidFill>
            <a:srgbClr val="E3EBEA"/>
          </a:solidFill>
          <a:ln w="9525">
            <a:solidFill>
              <a:srgbClr val="BFD0CF"/>
            </a:solidFill>
            <a:prstDash val="solid"/>
          </a:ln>
        </p:spPr>
      </p:sp>
      <p:sp>
        <p:nvSpPr>
          <p:cNvPr id="44" name="Text 42"/>
          <p:cNvSpPr txBox="1"/>
          <p:nvPr/>
        </p:nvSpPr>
        <p:spPr>
          <a:xfrm>
            <a:off x="3429000" y="3611880"/>
            <a:ext cx="1371600" cy="82296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AprilTag track</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on the floor</a:t>
            </a:r>
            <a:endParaRPr lang="en-US" sz="1200" dirty="0"/>
          </a:p>
        </p:txBody>
      </p:sp>
      <p:sp>
        <p:nvSpPr>
          <p:cNvPr id="45" name="Arrow"/>
          <p:cNvSpPr/>
          <p:nvPr/>
        </p:nvSpPr>
        <p:spPr>
          <a:xfrm>
            <a:off x="4882896" y="3913632"/>
            <a:ext cx="237744" cy="219456"/>
          </a:xfrm>
          <a:prstGeom prst="rightArrow">
            <a:avLst/>
          </a:prstGeom>
          <a:solidFill>
            <a:srgbClr val="55808A"/>
          </a:solidFill>
          <a:ln w="3175">
            <a:solidFill>
              <a:srgbClr val="55808A"/>
            </a:solidFill>
            <a:prstDash val="solid"/>
          </a:ln>
        </p:spPr>
      </p:sp>
      <p:sp>
        <p:nvSpPr>
          <p:cNvPr id="46" name="Flow box"/>
          <p:cNvSpPr/>
          <p:nvPr/>
        </p:nvSpPr>
        <p:spPr>
          <a:xfrm>
            <a:off x="5166360" y="3611880"/>
            <a:ext cx="1463040" cy="822960"/>
          </a:xfrm>
          <a:prstGeom prst="roundRect">
            <a:avLst>
              <a:gd name="adj" fmla="val 8889"/>
            </a:avLst>
          </a:prstGeom>
          <a:solidFill>
            <a:srgbClr val="E3EBEA"/>
          </a:solidFill>
          <a:ln w="9525">
            <a:solidFill>
              <a:srgbClr val="BFD0CF"/>
            </a:solidFill>
            <a:prstDash val="solid"/>
          </a:ln>
        </p:spPr>
      </p:sp>
      <p:sp>
        <p:nvSpPr>
          <p:cNvPr id="47" name="Text 45"/>
          <p:cNvSpPr txBox="1"/>
          <p:nvPr/>
        </p:nvSpPr>
        <p:spPr>
          <a:xfrm>
            <a:off x="5212080" y="3611880"/>
            <a:ext cx="1371600" cy="82296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ESKF with</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camera fixes</a:t>
            </a:r>
            <a:endParaRPr lang="en-US" sz="1200" dirty="0"/>
          </a:p>
        </p:txBody>
      </p:sp>
      <p:sp>
        <p:nvSpPr>
          <p:cNvPr id="48" name="Arrow"/>
          <p:cNvSpPr/>
          <p:nvPr/>
        </p:nvSpPr>
        <p:spPr>
          <a:xfrm>
            <a:off x="6665976" y="3913632"/>
            <a:ext cx="237744" cy="219456"/>
          </a:xfrm>
          <a:prstGeom prst="rightArrow">
            <a:avLst/>
          </a:prstGeom>
          <a:solidFill>
            <a:srgbClr val="55808A"/>
          </a:solidFill>
          <a:ln w="3175">
            <a:solidFill>
              <a:srgbClr val="55808A"/>
            </a:solidFill>
            <a:prstDash val="solid"/>
          </a:ln>
        </p:spPr>
      </p:sp>
      <p:sp>
        <p:nvSpPr>
          <p:cNvPr id="49" name="Flow box"/>
          <p:cNvSpPr/>
          <p:nvPr/>
        </p:nvSpPr>
        <p:spPr>
          <a:xfrm>
            <a:off x="6949440" y="3611880"/>
            <a:ext cx="1463040" cy="822960"/>
          </a:xfrm>
          <a:prstGeom prst="roundRect">
            <a:avLst>
              <a:gd name="adj" fmla="val 8889"/>
            </a:avLst>
          </a:prstGeom>
          <a:solidFill>
            <a:srgbClr val="2F4858"/>
          </a:solidFill>
          <a:ln w="9525">
            <a:solidFill>
              <a:srgbClr val="2F4858"/>
            </a:solidFill>
            <a:prstDash val="solid"/>
          </a:ln>
        </p:spPr>
      </p:sp>
      <p:sp>
        <p:nvSpPr>
          <p:cNvPr id="50" name="Text 48"/>
          <p:cNvSpPr txBox="1"/>
          <p:nvPr/>
        </p:nvSpPr>
        <p:spPr>
          <a:xfrm>
            <a:off x="6995160" y="3611880"/>
            <a:ext cx="137160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Path vs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tag positions</a:t>
            </a:r>
            <a:endParaRPr lang="en-US" sz="1200" dirty="0"/>
          </a:p>
        </p:txBody>
      </p:sp>
      <p:sp>
        <p:nvSpPr>
          <p:cNvPr id="51" name="Text 49"/>
          <p:cNvSpPr txBox="1"/>
          <p:nvPr/>
        </p:nvSpPr>
        <p:spPr>
          <a:xfrm>
            <a:off x="1600200" y="4617720"/>
            <a:ext cx="6858000" cy="274320"/>
          </a:xfrm>
          <a:prstGeom prst="rect">
            <a:avLst/>
          </a:prstGeom>
          <a:noFill/>
          <a:ln/>
        </p:spPr>
        <p:txBody>
          <a:bodyPr wrap="square" lIns="0" tIns="0" rIns="0" bIns="0" rtlCol="0" anchor="t"/>
          <a:lstStyle/>
          <a:p>
            <a:pPr marL="0" indent="0">
              <a:buNone/>
            </a:pPr>
            <a:r>
              <a:rPr lang="en-US" sz="1200" dirty="0">
                <a:solidFill>
                  <a:srgbClr val="55808A"/>
                </a:solidFill>
                <a:latin typeface="Calibri" pitchFamily="34" charset="0"/>
                <a:ea typeface="Calibri" pitchFamily="34" charset="-122"/>
                <a:cs typeface="Calibri" pitchFamily="34" charset="-120"/>
              </a:rPr>
              <a:t>The noise model from lane one is what makes the simulated IMU behave like our phone.</a:t>
            </a:r>
            <a:endParaRPr lang="en-US" sz="1200" dirty="0"/>
          </a:p>
        </p:txBody>
      </p:sp>
      <p:sp>
        <p:nvSpPr>
          <p:cNvPr id="52"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82880"/>
            <a:ext cx="54864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THE 40 HOUR STORY</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55808A"/>
          </a:solidFill>
          <a:ln w="3175">
            <a:solidFill>
              <a:srgbClr val="55808A"/>
            </a:solidFill>
            <a:prstDash val="solid"/>
          </a:ln>
        </p:spPr>
      </p:sp>
      <p:sp>
        <p:nvSpPr>
          <p:cNvPr id="8" name="Timeline F"/>
          <p:cNvSpPr/>
          <p:nvPr/>
        </p:nvSpPr>
        <p:spPr>
          <a:xfrm>
            <a:off x="6462584" y="429768"/>
            <a:ext cx="2224216" cy="82296"/>
          </a:xfrm>
          <a:prstGeom prst="roundRect">
            <a:avLst>
              <a:gd name="adj" fmla="val 44444"/>
            </a:avLst>
          </a:prstGeom>
          <a:solidFill>
            <a:srgbClr val="55808A"/>
          </a:solidFill>
          <a:ln w="3175">
            <a:solidFill>
              <a:srgbClr val="55808A"/>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Forty hours, Six chapters – Our Timeline</a:t>
            </a:r>
            <a:endParaRPr lang="en-US" sz="2600" dirty="0"/>
          </a:p>
        </p:txBody>
      </p:sp>
      <p:sp>
        <p:nvSpPr>
          <p:cNvPr id="15" name="Bar A"/>
          <p:cNvSpPr/>
          <p:nvPr/>
        </p:nvSpPr>
        <p:spPr>
          <a:xfrm>
            <a:off x="457200" y="1371600"/>
            <a:ext cx="222422" cy="182880"/>
          </a:xfrm>
          <a:prstGeom prst="roundRect">
            <a:avLst>
              <a:gd name="adj" fmla="val 25000"/>
            </a:avLst>
          </a:prstGeom>
          <a:solidFill>
            <a:srgbClr val="55808A"/>
          </a:solidFill>
          <a:ln w="6350">
            <a:solidFill>
              <a:srgbClr val="F3F5F4"/>
            </a:solidFill>
            <a:prstDash val="solid"/>
          </a:ln>
        </p:spPr>
      </p:sp>
      <p:sp>
        <p:nvSpPr>
          <p:cNvPr id="16" name="Bar B"/>
          <p:cNvSpPr/>
          <p:nvPr/>
        </p:nvSpPr>
        <p:spPr>
          <a:xfrm>
            <a:off x="902043" y="1371600"/>
            <a:ext cx="667265" cy="182880"/>
          </a:xfrm>
          <a:prstGeom prst="roundRect">
            <a:avLst>
              <a:gd name="adj" fmla="val 25000"/>
            </a:avLst>
          </a:prstGeom>
          <a:solidFill>
            <a:srgbClr val="55808A"/>
          </a:solidFill>
          <a:ln w="6350">
            <a:solidFill>
              <a:srgbClr val="F3F5F4"/>
            </a:solidFill>
            <a:prstDash val="solid"/>
          </a:ln>
        </p:spPr>
      </p:sp>
      <p:sp>
        <p:nvSpPr>
          <p:cNvPr id="17" name="Bar C"/>
          <p:cNvSpPr/>
          <p:nvPr/>
        </p:nvSpPr>
        <p:spPr>
          <a:xfrm>
            <a:off x="1569308" y="1371600"/>
            <a:ext cx="222422" cy="182880"/>
          </a:xfrm>
          <a:prstGeom prst="roundRect">
            <a:avLst>
              <a:gd name="adj" fmla="val 25000"/>
            </a:avLst>
          </a:prstGeom>
          <a:solidFill>
            <a:srgbClr val="55808A"/>
          </a:solidFill>
          <a:ln w="6350">
            <a:solidFill>
              <a:srgbClr val="F3F5F4"/>
            </a:solidFill>
            <a:prstDash val="solid"/>
          </a:ln>
        </p:spPr>
      </p:sp>
      <p:sp>
        <p:nvSpPr>
          <p:cNvPr id="18" name="Bar D"/>
          <p:cNvSpPr/>
          <p:nvPr/>
        </p:nvSpPr>
        <p:spPr>
          <a:xfrm>
            <a:off x="2014151" y="1371600"/>
            <a:ext cx="3113903" cy="182880"/>
          </a:xfrm>
          <a:prstGeom prst="roundRect">
            <a:avLst>
              <a:gd name="adj" fmla="val 25000"/>
            </a:avLst>
          </a:prstGeom>
          <a:solidFill>
            <a:srgbClr val="C58B5A"/>
          </a:solidFill>
          <a:ln w="6350">
            <a:solidFill>
              <a:srgbClr val="F3F5F4"/>
            </a:solidFill>
            <a:prstDash val="solid"/>
          </a:ln>
        </p:spPr>
      </p:sp>
      <p:sp>
        <p:nvSpPr>
          <p:cNvPr id="19" name="Bar E"/>
          <p:cNvSpPr/>
          <p:nvPr/>
        </p:nvSpPr>
        <p:spPr>
          <a:xfrm>
            <a:off x="5128054" y="1371600"/>
            <a:ext cx="1334530" cy="182880"/>
          </a:xfrm>
          <a:prstGeom prst="roundRect">
            <a:avLst>
              <a:gd name="adj" fmla="val 25000"/>
            </a:avLst>
          </a:prstGeom>
          <a:solidFill>
            <a:srgbClr val="55808A"/>
          </a:solidFill>
          <a:ln w="6350">
            <a:solidFill>
              <a:srgbClr val="F3F5F4"/>
            </a:solidFill>
            <a:prstDash val="solid"/>
          </a:ln>
        </p:spPr>
      </p:sp>
      <p:sp>
        <p:nvSpPr>
          <p:cNvPr id="20" name="Bar F"/>
          <p:cNvSpPr/>
          <p:nvPr/>
        </p:nvSpPr>
        <p:spPr>
          <a:xfrm>
            <a:off x="6462584" y="1371600"/>
            <a:ext cx="2224216" cy="182880"/>
          </a:xfrm>
          <a:prstGeom prst="roundRect">
            <a:avLst>
              <a:gd name="adj" fmla="val 25000"/>
            </a:avLst>
          </a:prstGeom>
          <a:solidFill>
            <a:srgbClr val="C58B5A"/>
          </a:solidFill>
          <a:ln w="6350">
            <a:solidFill>
              <a:srgbClr val="F3F5F4"/>
            </a:solidFill>
            <a:prstDash val="solid"/>
          </a:ln>
        </p:spPr>
      </p:sp>
      <p:sp>
        <p:nvSpPr>
          <p:cNvPr id="21" name="Text 19"/>
          <p:cNvSpPr txBox="1"/>
          <p:nvPr/>
        </p:nvSpPr>
        <p:spPr>
          <a:xfrm>
            <a:off x="457200" y="1627632"/>
            <a:ext cx="8229600" cy="228600"/>
          </a:xfrm>
          <a:prstGeom prst="rect">
            <a:avLst/>
          </a:prstGeom>
          <a:noFill/>
          <a:ln/>
        </p:spPr>
        <p:txBody>
          <a:bodyPr wrap="square" lIns="0" tIns="0" rIns="0" bIns="0" rtlCol="0" anchor="t"/>
          <a:lstStyle/>
          <a:p>
            <a:pPr marL="0" indent="0">
              <a:buNone/>
            </a:pPr>
            <a:r>
              <a:rPr lang="en-US" sz="1200" dirty="0">
                <a:solidFill>
                  <a:srgbClr val="55808A"/>
                </a:solidFill>
                <a:latin typeface="Calibri" pitchFamily="34" charset="0"/>
                <a:ea typeface="Calibri" pitchFamily="34" charset="-122"/>
                <a:cs typeface="Calibri" pitchFamily="34" charset="-120"/>
              </a:rPr>
              <a:t>Width of each bar is hours spent. Orange chapters are where most of the work landed.</a:t>
            </a:r>
            <a:endParaRPr lang="en-US" sz="1200" dirty="0"/>
          </a:p>
        </p:txBody>
      </p:sp>
      <p:sp>
        <p:nvSpPr>
          <p:cNvPr id="22" name="Card"/>
          <p:cNvSpPr/>
          <p:nvPr/>
        </p:nvSpPr>
        <p:spPr>
          <a:xfrm>
            <a:off x="457200" y="2057400"/>
            <a:ext cx="1280160" cy="2606040"/>
          </a:xfrm>
          <a:prstGeom prst="roundRect">
            <a:avLst>
              <a:gd name="adj" fmla="val 5714"/>
            </a:avLst>
          </a:prstGeom>
          <a:solidFill>
            <a:srgbClr val="E3EBEA"/>
          </a:solidFill>
          <a:ln w="6350">
            <a:solidFill>
              <a:srgbClr val="E3EBEA"/>
            </a:solidFill>
            <a:prstDash val="solid"/>
          </a:ln>
        </p:spPr>
      </p:sp>
      <p:sp>
        <p:nvSpPr>
          <p:cNvPr id="23" name="Icon circle"/>
          <p:cNvSpPr/>
          <p:nvPr/>
        </p:nvSpPr>
        <p:spPr>
          <a:xfrm>
            <a:off x="868680" y="2212848"/>
            <a:ext cx="457200" cy="457200"/>
          </a:xfrm>
          <a:prstGeom prst="ellipse">
            <a:avLst/>
          </a:prstGeom>
          <a:solidFill>
            <a:srgbClr val="55808A"/>
          </a:solidFill>
          <a:ln w="6350">
            <a:solidFill>
              <a:srgbClr val="55808A"/>
            </a:solidFill>
            <a:prstDash val="solid"/>
          </a:ln>
        </p:spPr>
      </p:sp>
      <p:pic>
        <p:nvPicPr>
          <p:cNvPr id="24" name="Icon" descr="preencoded.png"/>
          <p:cNvPicPr>
            <a:picLocks noChangeAspect="1"/>
          </p:cNvPicPr>
          <p:nvPr/>
        </p:nvPicPr>
        <p:blipFill>
          <a:blip r:embed="rId3"/>
          <a:stretch>
            <a:fillRect/>
          </a:stretch>
        </p:blipFill>
        <p:spPr>
          <a:xfrm>
            <a:off x="982980" y="2327148"/>
            <a:ext cx="228600" cy="228600"/>
          </a:xfrm>
          <a:prstGeom prst="rect">
            <a:avLst/>
          </a:prstGeom>
        </p:spPr>
      </p:pic>
      <p:sp>
        <p:nvSpPr>
          <p:cNvPr id="25" name="Text 22"/>
          <p:cNvSpPr txBox="1"/>
          <p:nvPr/>
        </p:nvSpPr>
        <p:spPr>
          <a:xfrm>
            <a:off x="548640" y="2816352"/>
            <a:ext cx="1097280" cy="256032"/>
          </a:xfrm>
          <a:prstGeom prst="rect">
            <a:avLst/>
          </a:prstGeom>
          <a:noFill/>
          <a:ln/>
        </p:spPr>
        <p:txBody>
          <a:bodyPr wrap="square" lIns="0" tIns="0" rIns="0" bIns="0" rtlCol="0" anchor="t"/>
          <a:lstStyle/>
          <a:p>
            <a:pPr marL="0" indent="0" algn="ctr">
              <a:buNone/>
            </a:pPr>
            <a:r>
              <a:rPr lang="en-US" sz="1400" b="1" dirty="0">
                <a:solidFill>
                  <a:srgbClr val="C58B5A"/>
                </a:solidFill>
                <a:latin typeface="Calibri" pitchFamily="34" charset="0"/>
                <a:ea typeface="Calibri" pitchFamily="34" charset="-122"/>
                <a:cs typeface="Calibri" pitchFamily="34" charset="-120"/>
              </a:rPr>
              <a:t>H3 to 4</a:t>
            </a:r>
            <a:endParaRPr lang="en-US" sz="1400" dirty="0"/>
          </a:p>
        </p:txBody>
      </p:sp>
      <p:sp>
        <p:nvSpPr>
          <p:cNvPr id="26" name="Text 23"/>
          <p:cNvSpPr txBox="1"/>
          <p:nvPr/>
        </p:nvSpPr>
        <p:spPr>
          <a:xfrm>
            <a:off x="548640" y="3154680"/>
            <a:ext cx="1097280" cy="777240"/>
          </a:xfrm>
          <a:prstGeom prst="rect">
            <a:avLst/>
          </a:prstGeom>
          <a:noFill/>
          <a:ln/>
        </p:spPr>
        <p:txBody>
          <a:bodyPr wrap="square" lIns="0" tIns="0" rIns="0" bIns="0" rtlCol="0" anchor="t"/>
          <a:lstStyle/>
          <a:p>
            <a:pPr marL="0" indent="0" algn="ctr">
              <a:buNone/>
            </a:pPr>
            <a:r>
              <a:rPr lang="en-US" sz="1500" b="1" dirty="0">
                <a:solidFill>
                  <a:srgbClr val="2F4858"/>
                </a:solidFill>
                <a:latin typeface="Cambria" pitchFamily="34" charset="0"/>
                <a:ea typeface="Cambria" pitchFamily="34" charset="-122"/>
                <a:cs typeface="Cambria" pitchFamily="34" charset="-120"/>
              </a:rPr>
              <a:t>Ideate</a:t>
            </a:r>
            <a:endParaRPr lang="en-US" sz="1500" dirty="0"/>
          </a:p>
        </p:txBody>
      </p:sp>
      <p:sp>
        <p:nvSpPr>
          <p:cNvPr id="27" name="Text 24"/>
          <p:cNvSpPr txBox="1"/>
          <p:nvPr/>
        </p:nvSpPr>
        <p:spPr>
          <a:xfrm>
            <a:off x="548640" y="3977640"/>
            <a:ext cx="1097280" cy="594360"/>
          </a:xfrm>
          <a:prstGeom prst="rect">
            <a:avLst/>
          </a:prstGeom>
          <a:noFill/>
          <a:ln/>
        </p:spPr>
        <p:txBody>
          <a:bodyPr wrap="square" lIns="0" tIns="0" rIns="0" bIns="0" rtlCol="0" anchor="t"/>
          <a:lstStyle/>
          <a:p>
            <a:pPr marL="0" indent="0" algn="ctr">
              <a:buNone/>
            </a:pPr>
            <a:r>
              <a:rPr lang="en-US" sz="1200" dirty="0">
                <a:solidFill>
                  <a:srgbClr val="26343A"/>
                </a:solidFill>
                <a:latin typeface="Calibri" pitchFamily="34" charset="0"/>
                <a:ea typeface="Calibri" pitchFamily="34" charset="-122"/>
                <a:cs typeface="Calibri" pitchFamily="34" charset="-120"/>
              </a:rPr>
              <a:t>What to build and measure</a:t>
            </a:r>
            <a:endParaRPr lang="en-US" sz="1200" dirty="0"/>
          </a:p>
        </p:txBody>
      </p:sp>
      <p:sp>
        <p:nvSpPr>
          <p:cNvPr id="28" name="Card"/>
          <p:cNvSpPr/>
          <p:nvPr/>
        </p:nvSpPr>
        <p:spPr>
          <a:xfrm>
            <a:off x="1828800" y="2057400"/>
            <a:ext cx="1280160" cy="2606040"/>
          </a:xfrm>
          <a:prstGeom prst="roundRect">
            <a:avLst>
              <a:gd name="adj" fmla="val 5714"/>
            </a:avLst>
          </a:prstGeom>
          <a:solidFill>
            <a:srgbClr val="E3EBEA"/>
          </a:solidFill>
          <a:ln w="6350">
            <a:solidFill>
              <a:srgbClr val="E3EBEA"/>
            </a:solidFill>
            <a:prstDash val="solid"/>
          </a:ln>
        </p:spPr>
      </p:sp>
      <p:sp>
        <p:nvSpPr>
          <p:cNvPr id="29" name="Icon circle"/>
          <p:cNvSpPr/>
          <p:nvPr/>
        </p:nvSpPr>
        <p:spPr>
          <a:xfrm>
            <a:off x="2240280" y="2212848"/>
            <a:ext cx="457200" cy="457200"/>
          </a:xfrm>
          <a:prstGeom prst="ellipse">
            <a:avLst/>
          </a:prstGeom>
          <a:solidFill>
            <a:srgbClr val="55808A"/>
          </a:solidFill>
          <a:ln w="6350">
            <a:solidFill>
              <a:srgbClr val="55808A"/>
            </a:solidFill>
            <a:prstDash val="solid"/>
          </a:ln>
        </p:spPr>
      </p:sp>
      <p:pic>
        <p:nvPicPr>
          <p:cNvPr id="30" name="Icon" descr="preencoded.png"/>
          <p:cNvPicPr>
            <a:picLocks noChangeAspect="1"/>
          </p:cNvPicPr>
          <p:nvPr/>
        </p:nvPicPr>
        <p:blipFill>
          <a:blip r:embed="rId4"/>
          <a:stretch>
            <a:fillRect/>
          </a:stretch>
        </p:blipFill>
        <p:spPr>
          <a:xfrm>
            <a:off x="2354580" y="2327148"/>
            <a:ext cx="228600" cy="228600"/>
          </a:xfrm>
          <a:prstGeom prst="rect">
            <a:avLst/>
          </a:prstGeom>
        </p:spPr>
      </p:pic>
      <p:sp>
        <p:nvSpPr>
          <p:cNvPr id="31" name="Text 27"/>
          <p:cNvSpPr txBox="1"/>
          <p:nvPr/>
        </p:nvSpPr>
        <p:spPr>
          <a:xfrm>
            <a:off x="1920240" y="2816352"/>
            <a:ext cx="1097280" cy="256032"/>
          </a:xfrm>
          <a:prstGeom prst="rect">
            <a:avLst/>
          </a:prstGeom>
          <a:noFill/>
          <a:ln/>
        </p:spPr>
        <p:txBody>
          <a:bodyPr wrap="square" lIns="0" tIns="0" rIns="0" bIns="0" rtlCol="0" anchor="t"/>
          <a:lstStyle/>
          <a:p>
            <a:pPr marL="0" indent="0" algn="ctr">
              <a:buNone/>
            </a:pPr>
            <a:r>
              <a:rPr lang="en-US" sz="1400" b="1" dirty="0">
                <a:solidFill>
                  <a:srgbClr val="C58B5A"/>
                </a:solidFill>
                <a:latin typeface="Calibri" pitchFamily="34" charset="0"/>
                <a:ea typeface="Calibri" pitchFamily="34" charset="-122"/>
                <a:cs typeface="Calibri" pitchFamily="34" charset="-120"/>
              </a:rPr>
              <a:t>H5 to 8</a:t>
            </a:r>
            <a:endParaRPr lang="en-US" sz="1400" dirty="0"/>
          </a:p>
        </p:txBody>
      </p:sp>
      <p:sp>
        <p:nvSpPr>
          <p:cNvPr id="32" name="Text 28"/>
          <p:cNvSpPr txBox="1"/>
          <p:nvPr/>
        </p:nvSpPr>
        <p:spPr>
          <a:xfrm>
            <a:off x="1920240" y="3154680"/>
            <a:ext cx="1097280" cy="777240"/>
          </a:xfrm>
          <a:prstGeom prst="rect">
            <a:avLst/>
          </a:prstGeom>
          <a:noFill/>
          <a:ln/>
        </p:spPr>
        <p:txBody>
          <a:bodyPr wrap="square" lIns="0" tIns="0" rIns="0" bIns="0" rtlCol="0" anchor="t"/>
          <a:lstStyle/>
          <a:p>
            <a:pPr marL="0" indent="0" algn="ctr">
              <a:buNone/>
            </a:pPr>
            <a:r>
              <a:rPr lang="en-US" sz="1500" b="1" dirty="0">
                <a:solidFill>
                  <a:srgbClr val="2F4858"/>
                </a:solidFill>
                <a:latin typeface="Cambria" pitchFamily="34" charset="0"/>
                <a:ea typeface="Cambria" pitchFamily="34" charset="-122"/>
                <a:cs typeface="Cambria" pitchFamily="34" charset="-120"/>
              </a:rPr>
              <a:t>Learn every filter</a:t>
            </a:r>
            <a:endParaRPr lang="en-US" sz="1500" dirty="0"/>
          </a:p>
        </p:txBody>
      </p:sp>
      <p:sp>
        <p:nvSpPr>
          <p:cNvPr id="33" name="Text 29"/>
          <p:cNvSpPr txBox="1"/>
          <p:nvPr/>
        </p:nvSpPr>
        <p:spPr>
          <a:xfrm>
            <a:off x="1920240" y="3977640"/>
            <a:ext cx="1097280" cy="594360"/>
          </a:xfrm>
          <a:prstGeom prst="rect">
            <a:avLst/>
          </a:prstGeom>
          <a:noFill/>
          <a:ln/>
        </p:spPr>
        <p:txBody>
          <a:bodyPr wrap="square" lIns="0" tIns="0" rIns="0" bIns="0" rtlCol="0" anchor="t"/>
          <a:lstStyle/>
          <a:p>
            <a:pPr marL="0" indent="0" algn="ctr">
              <a:buNone/>
            </a:pPr>
            <a:r>
              <a:rPr lang="en-US" sz="1200" dirty="0">
                <a:solidFill>
                  <a:srgbClr val="26343A"/>
                </a:solidFill>
                <a:latin typeface="Calibri" pitchFamily="34" charset="0"/>
                <a:ea typeface="Calibri" pitchFamily="34" charset="-122"/>
                <a:cs typeface="Calibri" pitchFamily="34" charset="-120"/>
              </a:rPr>
              <a:t>Complementary up to ESKF</a:t>
            </a:r>
            <a:endParaRPr lang="en-US" sz="1200" dirty="0"/>
          </a:p>
        </p:txBody>
      </p:sp>
      <p:sp>
        <p:nvSpPr>
          <p:cNvPr id="34" name="Card"/>
          <p:cNvSpPr/>
          <p:nvPr/>
        </p:nvSpPr>
        <p:spPr>
          <a:xfrm>
            <a:off x="3200400" y="2057400"/>
            <a:ext cx="1280160" cy="2606040"/>
          </a:xfrm>
          <a:prstGeom prst="roundRect">
            <a:avLst>
              <a:gd name="adj" fmla="val 5714"/>
            </a:avLst>
          </a:prstGeom>
          <a:solidFill>
            <a:srgbClr val="E3EBEA"/>
          </a:solidFill>
          <a:ln w="6350">
            <a:solidFill>
              <a:srgbClr val="E3EBEA"/>
            </a:solidFill>
            <a:prstDash val="solid"/>
          </a:ln>
        </p:spPr>
      </p:sp>
      <p:sp>
        <p:nvSpPr>
          <p:cNvPr id="35" name="Icon circle"/>
          <p:cNvSpPr/>
          <p:nvPr/>
        </p:nvSpPr>
        <p:spPr>
          <a:xfrm>
            <a:off x="3611880" y="2212848"/>
            <a:ext cx="457200" cy="457200"/>
          </a:xfrm>
          <a:prstGeom prst="ellipse">
            <a:avLst/>
          </a:prstGeom>
          <a:solidFill>
            <a:srgbClr val="55808A"/>
          </a:solidFill>
          <a:ln w="6350">
            <a:solidFill>
              <a:srgbClr val="55808A"/>
            </a:solidFill>
            <a:prstDash val="solid"/>
          </a:ln>
        </p:spPr>
      </p:sp>
      <p:pic>
        <p:nvPicPr>
          <p:cNvPr id="36" name="Icon" descr="preencoded.png"/>
          <p:cNvPicPr>
            <a:picLocks noChangeAspect="1"/>
          </p:cNvPicPr>
          <p:nvPr/>
        </p:nvPicPr>
        <p:blipFill>
          <a:blip r:embed="rId5"/>
          <a:stretch>
            <a:fillRect/>
          </a:stretch>
        </p:blipFill>
        <p:spPr>
          <a:xfrm>
            <a:off x="3726180" y="2327148"/>
            <a:ext cx="228600" cy="228600"/>
          </a:xfrm>
          <a:prstGeom prst="rect">
            <a:avLst/>
          </a:prstGeom>
        </p:spPr>
      </p:pic>
      <p:sp>
        <p:nvSpPr>
          <p:cNvPr id="37" name="Text 32"/>
          <p:cNvSpPr txBox="1"/>
          <p:nvPr/>
        </p:nvSpPr>
        <p:spPr>
          <a:xfrm>
            <a:off x="3291840" y="2816352"/>
            <a:ext cx="1097280" cy="256032"/>
          </a:xfrm>
          <a:prstGeom prst="rect">
            <a:avLst/>
          </a:prstGeom>
          <a:noFill/>
          <a:ln/>
        </p:spPr>
        <p:txBody>
          <a:bodyPr wrap="square" lIns="0" tIns="0" rIns="0" bIns="0" rtlCol="0" anchor="t"/>
          <a:lstStyle/>
          <a:p>
            <a:pPr marL="0" indent="0" algn="ctr">
              <a:buNone/>
            </a:pPr>
            <a:r>
              <a:rPr lang="en-US" sz="1400" b="1" dirty="0">
                <a:solidFill>
                  <a:srgbClr val="C58B5A"/>
                </a:solidFill>
                <a:latin typeface="Calibri" pitchFamily="34" charset="0"/>
                <a:ea typeface="Calibri" pitchFamily="34" charset="-122"/>
                <a:cs typeface="Calibri" pitchFamily="34" charset="-120"/>
              </a:rPr>
              <a:t>H8 to 9</a:t>
            </a:r>
            <a:endParaRPr lang="en-US" sz="1400" dirty="0"/>
          </a:p>
        </p:txBody>
      </p:sp>
      <p:sp>
        <p:nvSpPr>
          <p:cNvPr id="38" name="Text 33"/>
          <p:cNvSpPr txBox="1"/>
          <p:nvPr/>
        </p:nvSpPr>
        <p:spPr>
          <a:xfrm>
            <a:off x="3291840" y="3154680"/>
            <a:ext cx="1097280" cy="777240"/>
          </a:xfrm>
          <a:prstGeom prst="rect">
            <a:avLst/>
          </a:prstGeom>
          <a:noFill/>
          <a:ln/>
        </p:spPr>
        <p:txBody>
          <a:bodyPr wrap="square" lIns="0" tIns="0" rIns="0" bIns="0" rtlCol="0" anchor="t"/>
          <a:lstStyle/>
          <a:p>
            <a:pPr marL="0" indent="0" algn="ctr">
              <a:buNone/>
            </a:pPr>
            <a:r>
              <a:rPr lang="en-US" sz="1500" b="1" dirty="0">
                <a:solidFill>
                  <a:srgbClr val="2F4858"/>
                </a:solidFill>
                <a:latin typeface="Cambria" pitchFamily="34" charset="0"/>
                <a:ea typeface="Cambria" pitchFamily="34" charset="-122"/>
                <a:cs typeface="Cambria" pitchFamily="34" charset="-120"/>
              </a:rPr>
              <a:t>Split the work</a:t>
            </a:r>
            <a:endParaRPr lang="en-US" sz="1500" dirty="0"/>
          </a:p>
        </p:txBody>
      </p:sp>
      <p:sp>
        <p:nvSpPr>
          <p:cNvPr id="39" name="Text 34"/>
          <p:cNvSpPr txBox="1"/>
          <p:nvPr/>
        </p:nvSpPr>
        <p:spPr>
          <a:xfrm>
            <a:off x="3291840" y="3977640"/>
            <a:ext cx="1097280" cy="594360"/>
          </a:xfrm>
          <a:prstGeom prst="rect">
            <a:avLst/>
          </a:prstGeom>
          <a:noFill/>
          <a:ln/>
        </p:spPr>
        <p:txBody>
          <a:bodyPr wrap="square" lIns="0" tIns="0" rIns="0" bIns="0" rtlCol="0" anchor="t"/>
          <a:lstStyle/>
          <a:p>
            <a:pPr marL="0" indent="0" algn="ctr">
              <a:buNone/>
            </a:pPr>
            <a:r>
              <a:rPr lang="en-US" sz="1200" dirty="0">
                <a:solidFill>
                  <a:srgbClr val="26343A"/>
                </a:solidFill>
                <a:latin typeface="Calibri" pitchFamily="34" charset="0"/>
                <a:ea typeface="Calibri" pitchFamily="34" charset="-122"/>
                <a:cs typeface="Calibri" pitchFamily="34" charset="-120"/>
              </a:rPr>
              <a:t>Five lanes, one repo</a:t>
            </a:r>
            <a:endParaRPr lang="en-US" sz="1200" dirty="0"/>
          </a:p>
        </p:txBody>
      </p:sp>
      <p:sp>
        <p:nvSpPr>
          <p:cNvPr id="40" name="Card"/>
          <p:cNvSpPr/>
          <p:nvPr/>
        </p:nvSpPr>
        <p:spPr>
          <a:xfrm>
            <a:off x="4572000" y="2057400"/>
            <a:ext cx="1280160" cy="2606040"/>
          </a:xfrm>
          <a:prstGeom prst="roundRect">
            <a:avLst>
              <a:gd name="adj" fmla="val 5714"/>
            </a:avLst>
          </a:prstGeom>
          <a:solidFill>
            <a:srgbClr val="E3EBEA"/>
          </a:solidFill>
          <a:ln w="6350">
            <a:solidFill>
              <a:srgbClr val="E3EBEA"/>
            </a:solidFill>
            <a:prstDash val="solid"/>
          </a:ln>
        </p:spPr>
      </p:sp>
      <p:sp>
        <p:nvSpPr>
          <p:cNvPr id="41" name="Icon circle"/>
          <p:cNvSpPr/>
          <p:nvPr/>
        </p:nvSpPr>
        <p:spPr>
          <a:xfrm>
            <a:off x="4983480" y="2212848"/>
            <a:ext cx="457200" cy="457200"/>
          </a:xfrm>
          <a:prstGeom prst="ellipse">
            <a:avLst/>
          </a:prstGeom>
          <a:solidFill>
            <a:srgbClr val="C58B5A"/>
          </a:solidFill>
          <a:ln w="6350">
            <a:solidFill>
              <a:srgbClr val="C58B5A"/>
            </a:solidFill>
            <a:prstDash val="solid"/>
          </a:ln>
        </p:spPr>
      </p:sp>
      <p:pic>
        <p:nvPicPr>
          <p:cNvPr id="42" name="Icon" descr="preencoded.png"/>
          <p:cNvPicPr>
            <a:picLocks noChangeAspect="1"/>
          </p:cNvPicPr>
          <p:nvPr/>
        </p:nvPicPr>
        <p:blipFill>
          <a:blip r:embed="rId6"/>
          <a:stretch>
            <a:fillRect/>
          </a:stretch>
        </p:blipFill>
        <p:spPr>
          <a:xfrm>
            <a:off x="5097780" y="2327148"/>
            <a:ext cx="228600" cy="228600"/>
          </a:xfrm>
          <a:prstGeom prst="rect">
            <a:avLst/>
          </a:prstGeom>
        </p:spPr>
      </p:pic>
      <p:sp>
        <p:nvSpPr>
          <p:cNvPr id="43" name="Text 37"/>
          <p:cNvSpPr txBox="1"/>
          <p:nvPr/>
        </p:nvSpPr>
        <p:spPr>
          <a:xfrm>
            <a:off x="4663440" y="2816352"/>
            <a:ext cx="1097280" cy="256032"/>
          </a:xfrm>
          <a:prstGeom prst="rect">
            <a:avLst/>
          </a:prstGeom>
          <a:noFill/>
          <a:ln/>
        </p:spPr>
        <p:txBody>
          <a:bodyPr wrap="square" lIns="0" tIns="0" rIns="0" bIns="0" rtlCol="0" anchor="t"/>
          <a:lstStyle/>
          <a:p>
            <a:pPr marL="0" indent="0" algn="ctr">
              <a:buNone/>
            </a:pPr>
            <a:r>
              <a:rPr lang="en-US" sz="1400" b="1" dirty="0">
                <a:solidFill>
                  <a:srgbClr val="C58B5A"/>
                </a:solidFill>
                <a:latin typeface="Calibri" pitchFamily="34" charset="0"/>
                <a:ea typeface="Calibri" pitchFamily="34" charset="-122"/>
                <a:cs typeface="Calibri" pitchFamily="34" charset="-120"/>
              </a:rPr>
              <a:t>H10 to 24</a:t>
            </a:r>
            <a:endParaRPr lang="en-US" sz="1400" dirty="0"/>
          </a:p>
        </p:txBody>
      </p:sp>
      <p:sp>
        <p:nvSpPr>
          <p:cNvPr id="44" name="Text 38"/>
          <p:cNvSpPr txBox="1"/>
          <p:nvPr/>
        </p:nvSpPr>
        <p:spPr>
          <a:xfrm>
            <a:off x="4663440" y="3154680"/>
            <a:ext cx="1097280" cy="777240"/>
          </a:xfrm>
          <a:prstGeom prst="rect">
            <a:avLst/>
          </a:prstGeom>
          <a:noFill/>
          <a:ln/>
        </p:spPr>
        <p:txBody>
          <a:bodyPr wrap="square" lIns="0" tIns="0" rIns="0" bIns="0" rtlCol="0" anchor="t"/>
          <a:lstStyle/>
          <a:p>
            <a:pPr marL="0" indent="0" algn="ctr">
              <a:buNone/>
            </a:pPr>
            <a:r>
              <a:rPr lang="en-US" sz="1500" b="1" dirty="0">
                <a:solidFill>
                  <a:srgbClr val="2F4858"/>
                </a:solidFill>
                <a:latin typeface="Cambria" pitchFamily="34" charset="0"/>
                <a:ea typeface="Cambria" pitchFamily="34" charset="-122"/>
                <a:cs typeface="Cambria" pitchFamily="34" charset="-120"/>
              </a:rPr>
              <a:t>Phone IMU, drift, noise</a:t>
            </a:r>
            <a:endParaRPr lang="en-US" sz="1500" dirty="0"/>
          </a:p>
        </p:txBody>
      </p:sp>
      <p:sp>
        <p:nvSpPr>
          <p:cNvPr id="45" name="Text 39"/>
          <p:cNvSpPr txBox="1"/>
          <p:nvPr/>
        </p:nvSpPr>
        <p:spPr>
          <a:xfrm>
            <a:off x="4663440" y="3977640"/>
            <a:ext cx="1097280" cy="594360"/>
          </a:xfrm>
          <a:prstGeom prst="rect">
            <a:avLst/>
          </a:prstGeom>
          <a:noFill/>
          <a:ln/>
        </p:spPr>
        <p:txBody>
          <a:bodyPr wrap="square" lIns="0" tIns="0" rIns="0" bIns="0" rtlCol="0" anchor="t"/>
          <a:lstStyle/>
          <a:p>
            <a:pPr marL="0" indent="0" algn="ctr">
              <a:buNone/>
            </a:pPr>
            <a:r>
              <a:rPr lang="en-US" sz="1200" dirty="0">
                <a:solidFill>
                  <a:srgbClr val="26343A"/>
                </a:solidFill>
                <a:latin typeface="Calibri" pitchFamily="34" charset="0"/>
                <a:ea typeface="Calibri" pitchFamily="34" charset="-122"/>
                <a:cs typeface="Calibri" pitchFamily="34" charset="-120"/>
              </a:rPr>
              <a:t>ADB stream, Allan, bias</a:t>
            </a:r>
            <a:endParaRPr lang="en-US" sz="1200" dirty="0"/>
          </a:p>
        </p:txBody>
      </p:sp>
      <p:sp>
        <p:nvSpPr>
          <p:cNvPr id="46" name="Card"/>
          <p:cNvSpPr/>
          <p:nvPr/>
        </p:nvSpPr>
        <p:spPr>
          <a:xfrm>
            <a:off x="5943600" y="2057400"/>
            <a:ext cx="1280160" cy="2606040"/>
          </a:xfrm>
          <a:prstGeom prst="roundRect">
            <a:avLst>
              <a:gd name="adj" fmla="val 5714"/>
            </a:avLst>
          </a:prstGeom>
          <a:solidFill>
            <a:srgbClr val="E3EBEA"/>
          </a:solidFill>
          <a:ln w="6350">
            <a:solidFill>
              <a:srgbClr val="E3EBEA"/>
            </a:solidFill>
            <a:prstDash val="solid"/>
          </a:ln>
        </p:spPr>
      </p:sp>
      <p:sp>
        <p:nvSpPr>
          <p:cNvPr id="47" name="Icon circle"/>
          <p:cNvSpPr/>
          <p:nvPr/>
        </p:nvSpPr>
        <p:spPr>
          <a:xfrm>
            <a:off x="6355080" y="2212848"/>
            <a:ext cx="457200" cy="457200"/>
          </a:xfrm>
          <a:prstGeom prst="ellipse">
            <a:avLst/>
          </a:prstGeom>
          <a:solidFill>
            <a:srgbClr val="55808A"/>
          </a:solidFill>
          <a:ln w="6350">
            <a:solidFill>
              <a:srgbClr val="55808A"/>
            </a:solidFill>
            <a:prstDash val="solid"/>
          </a:ln>
        </p:spPr>
      </p:sp>
      <p:pic>
        <p:nvPicPr>
          <p:cNvPr id="48" name="Icon" descr="preencoded.png"/>
          <p:cNvPicPr>
            <a:picLocks noChangeAspect="1"/>
          </p:cNvPicPr>
          <p:nvPr/>
        </p:nvPicPr>
        <p:blipFill>
          <a:blip r:embed="rId7"/>
          <a:stretch>
            <a:fillRect/>
          </a:stretch>
        </p:blipFill>
        <p:spPr>
          <a:xfrm>
            <a:off x="6469380" y="2327148"/>
            <a:ext cx="228600" cy="228600"/>
          </a:xfrm>
          <a:prstGeom prst="rect">
            <a:avLst/>
          </a:prstGeom>
        </p:spPr>
      </p:pic>
      <p:sp>
        <p:nvSpPr>
          <p:cNvPr id="49" name="Text 42"/>
          <p:cNvSpPr txBox="1"/>
          <p:nvPr/>
        </p:nvSpPr>
        <p:spPr>
          <a:xfrm>
            <a:off x="6035040" y="2816352"/>
            <a:ext cx="1097280" cy="256032"/>
          </a:xfrm>
          <a:prstGeom prst="rect">
            <a:avLst/>
          </a:prstGeom>
          <a:noFill/>
          <a:ln/>
        </p:spPr>
        <p:txBody>
          <a:bodyPr wrap="square" lIns="0" tIns="0" rIns="0" bIns="0" rtlCol="0" anchor="t"/>
          <a:lstStyle/>
          <a:p>
            <a:pPr marL="0" indent="0" algn="ctr">
              <a:buNone/>
            </a:pPr>
            <a:r>
              <a:rPr lang="en-US" sz="1400" b="1" dirty="0">
                <a:solidFill>
                  <a:srgbClr val="C58B5A"/>
                </a:solidFill>
                <a:latin typeface="Calibri" pitchFamily="34" charset="0"/>
                <a:ea typeface="Calibri" pitchFamily="34" charset="-122"/>
                <a:cs typeface="Calibri" pitchFamily="34" charset="-120"/>
              </a:rPr>
              <a:t>H24 to 30</a:t>
            </a:r>
            <a:endParaRPr lang="en-US" sz="1400" dirty="0"/>
          </a:p>
        </p:txBody>
      </p:sp>
      <p:sp>
        <p:nvSpPr>
          <p:cNvPr id="50" name="Text 43"/>
          <p:cNvSpPr txBox="1"/>
          <p:nvPr/>
        </p:nvSpPr>
        <p:spPr>
          <a:xfrm>
            <a:off x="6035040" y="3154680"/>
            <a:ext cx="1097280" cy="777240"/>
          </a:xfrm>
          <a:prstGeom prst="rect">
            <a:avLst/>
          </a:prstGeom>
          <a:noFill/>
          <a:ln/>
        </p:spPr>
        <p:txBody>
          <a:bodyPr wrap="square" lIns="0" tIns="0" rIns="0" bIns="0" rtlCol="0" anchor="t"/>
          <a:lstStyle/>
          <a:p>
            <a:pPr marL="0" indent="0" algn="ctr">
              <a:buNone/>
            </a:pPr>
            <a:r>
              <a:rPr lang="en-US" sz="1500" b="1" dirty="0">
                <a:solidFill>
                  <a:srgbClr val="2F4858"/>
                </a:solidFill>
                <a:latin typeface="Cambria" pitchFamily="34" charset="0"/>
                <a:ea typeface="Cambria" pitchFamily="34" charset="-122"/>
                <a:cs typeface="Cambria" pitchFamily="34" charset="-120"/>
              </a:rPr>
              <a:t>ESKF with UWB</a:t>
            </a:r>
            <a:endParaRPr lang="en-US" sz="1500" dirty="0"/>
          </a:p>
        </p:txBody>
      </p:sp>
      <p:sp>
        <p:nvSpPr>
          <p:cNvPr id="51" name="Text 44"/>
          <p:cNvSpPr txBox="1"/>
          <p:nvPr/>
        </p:nvSpPr>
        <p:spPr>
          <a:xfrm>
            <a:off x="6035040" y="3977640"/>
            <a:ext cx="1097280" cy="594360"/>
          </a:xfrm>
          <a:prstGeom prst="rect">
            <a:avLst/>
          </a:prstGeom>
          <a:noFill/>
          <a:ln/>
        </p:spPr>
        <p:txBody>
          <a:bodyPr wrap="square" lIns="0" tIns="0" rIns="0" bIns="0" rtlCol="0" anchor="t"/>
          <a:lstStyle/>
          <a:p>
            <a:pPr marL="0" indent="0" algn="ctr">
              <a:buNone/>
            </a:pPr>
            <a:r>
              <a:rPr lang="en-US" sz="1200" dirty="0">
                <a:solidFill>
                  <a:srgbClr val="26343A"/>
                </a:solidFill>
                <a:latin typeface="Calibri" pitchFamily="34" charset="0"/>
                <a:ea typeface="Calibri" pitchFamily="34" charset="-122"/>
                <a:cs typeface="Calibri" pitchFamily="34" charset="-120"/>
              </a:rPr>
              <a:t>Code, i-ASL, synthetic noise</a:t>
            </a:r>
            <a:endParaRPr lang="en-US" sz="1200" dirty="0"/>
          </a:p>
        </p:txBody>
      </p:sp>
      <p:sp>
        <p:nvSpPr>
          <p:cNvPr id="52" name="Card"/>
          <p:cNvSpPr/>
          <p:nvPr/>
        </p:nvSpPr>
        <p:spPr>
          <a:xfrm>
            <a:off x="7315200" y="2057400"/>
            <a:ext cx="1280160" cy="2606040"/>
          </a:xfrm>
          <a:prstGeom prst="roundRect">
            <a:avLst>
              <a:gd name="adj" fmla="val 5714"/>
            </a:avLst>
          </a:prstGeom>
          <a:solidFill>
            <a:srgbClr val="E3EBEA"/>
          </a:solidFill>
          <a:ln w="6350">
            <a:solidFill>
              <a:srgbClr val="E3EBEA"/>
            </a:solidFill>
            <a:prstDash val="solid"/>
          </a:ln>
        </p:spPr>
      </p:sp>
      <p:sp>
        <p:nvSpPr>
          <p:cNvPr id="53" name="Icon circle"/>
          <p:cNvSpPr/>
          <p:nvPr/>
        </p:nvSpPr>
        <p:spPr>
          <a:xfrm>
            <a:off x="7726680" y="2212848"/>
            <a:ext cx="457200" cy="457200"/>
          </a:xfrm>
          <a:prstGeom prst="ellipse">
            <a:avLst/>
          </a:prstGeom>
          <a:solidFill>
            <a:srgbClr val="C58B5A"/>
          </a:solidFill>
          <a:ln w="6350">
            <a:solidFill>
              <a:srgbClr val="C58B5A"/>
            </a:solidFill>
            <a:prstDash val="solid"/>
          </a:ln>
        </p:spPr>
      </p:sp>
      <p:pic>
        <p:nvPicPr>
          <p:cNvPr id="54" name="Icon" descr="preencoded.png"/>
          <p:cNvPicPr>
            <a:picLocks noChangeAspect="1"/>
          </p:cNvPicPr>
          <p:nvPr/>
        </p:nvPicPr>
        <p:blipFill>
          <a:blip r:embed="rId8"/>
          <a:stretch>
            <a:fillRect/>
          </a:stretch>
        </p:blipFill>
        <p:spPr>
          <a:xfrm>
            <a:off x="7840980" y="2327148"/>
            <a:ext cx="228600" cy="228600"/>
          </a:xfrm>
          <a:prstGeom prst="rect">
            <a:avLst/>
          </a:prstGeom>
        </p:spPr>
      </p:pic>
      <p:sp>
        <p:nvSpPr>
          <p:cNvPr id="55" name="Text 47"/>
          <p:cNvSpPr txBox="1"/>
          <p:nvPr/>
        </p:nvSpPr>
        <p:spPr>
          <a:xfrm>
            <a:off x="7406640" y="2816352"/>
            <a:ext cx="1097280" cy="256032"/>
          </a:xfrm>
          <a:prstGeom prst="rect">
            <a:avLst/>
          </a:prstGeom>
          <a:noFill/>
          <a:ln/>
        </p:spPr>
        <p:txBody>
          <a:bodyPr wrap="square" lIns="0" tIns="0" rIns="0" bIns="0" rtlCol="0" anchor="t"/>
          <a:lstStyle/>
          <a:p>
            <a:pPr marL="0" indent="0" algn="ctr">
              <a:buNone/>
            </a:pPr>
            <a:r>
              <a:rPr lang="en-US" sz="1400" b="1" dirty="0">
                <a:solidFill>
                  <a:srgbClr val="C58B5A"/>
                </a:solidFill>
                <a:latin typeface="Calibri" pitchFamily="34" charset="0"/>
                <a:ea typeface="Calibri" pitchFamily="34" charset="-122"/>
                <a:cs typeface="Calibri" pitchFamily="34" charset="-120"/>
              </a:rPr>
              <a:t>H30 to 40</a:t>
            </a:r>
            <a:endParaRPr lang="en-US" sz="1400" dirty="0"/>
          </a:p>
        </p:txBody>
      </p:sp>
      <p:sp>
        <p:nvSpPr>
          <p:cNvPr id="56" name="Text 48"/>
          <p:cNvSpPr txBox="1"/>
          <p:nvPr/>
        </p:nvSpPr>
        <p:spPr>
          <a:xfrm>
            <a:off x="7406640" y="3154680"/>
            <a:ext cx="1097280" cy="777240"/>
          </a:xfrm>
          <a:prstGeom prst="rect">
            <a:avLst/>
          </a:prstGeom>
          <a:noFill/>
          <a:ln/>
        </p:spPr>
        <p:txBody>
          <a:bodyPr wrap="square" lIns="0" tIns="0" rIns="0" bIns="0" rtlCol="0" anchor="t"/>
          <a:lstStyle/>
          <a:p>
            <a:pPr marL="0" indent="0" algn="ctr">
              <a:buNone/>
            </a:pPr>
            <a:r>
              <a:rPr lang="en-US" sz="1500" b="1" dirty="0">
                <a:solidFill>
                  <a:srgbClr val="2F4858"/>
                </a:solidFill>
                <a:latin typeface="Cambria" pitchFamily="34" charset="0"/>
                <a:ea typeface="Cambria" pitchFamily="34" charset="-122"/>
                <a:cs typeface="Cambria" pitchFamily="34" charset="-120"/>
              </a:rPr>
              <a:t>Simulate and prove</a:t>
            </a:r>
            <a:endParaRPr lang="en-US" sz="1500" dirty="0"/>
          </a:p>
        </p:txBody>
      </p:sp>
      <p:sp>
        <p:nvSpPr>
          <p:cNvPr id="57" name="Text 49"/>
          <p:cNvSpPr txBox="1"/>
          <p:nvPr/>
        </p:nvSpPr>
        <p:spPr>
          <a:xfrm>
            <a:off x="7406640" y="3977640"/>
            <a:ext cx="1097280" cy="594360"/>
          </a:xfrm>
          <a:prstGeom prst="rect">
            <a:avLst/>
          </a:prstGeom>
          <a:noFill/>
          <a:ln/>
        </p:spPr>
        <p:txBody>
          <a:bodyPr wrap="square" lIns="0" tIns="0" rIns="0" bIns="0" rtlCol="0" anchor="t"/>
          <a:lstStyle/>
          <a:p>
            <a:pPr marL="0" indent="0" algn="ctr">
              <a:buNone/>
            </a:pPr>
            <a:r>
              <a:rPr lang="en-US" sz="1200" dirty="0">
                <a:solidFill>
                  <a:srgbClr val="26343A"/>
                </a:solidFill>
                <a:latin typeface="Calibri" pitchFamily="34" charset="0"/>
                <a:ea typeface="Calibri" pitchFamily="34" charset="-122"/>
                <a:cs typeface="Calibri" pitchFamily="34" charset="-120"/>
              </a:rPr>
              <a:t>Gazebo and a real walk</a:t>
            </a:r>
            <a:endParaRPr lang="en-US" sz="1200" dirty="0"/>
          </a:p>
        </p:txBody>
      </p:sp>
      <p:sp>
        <p:nvSpPr>
          <p:cNvPr id="58"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3 TO 9  IDEATE, LEARN, SPLIT</a:t>
            </a:r>
            <a:endParaRPr lang="en-US" sz="1000" dirty="0"/>
          </a:p>
        </p:txBody>
      </p:sp>
      <p:sp>
        <p:nvSpPr>
          <p:cNvPr id="3" name="Timeline A"/>
          <p:cNvSpPr/>
          <p:nvPr/>
        </p:nvSpPr>
        <p:spPr>
          <a:xfrm>
            <a:off x="457200" y="429768"/>
            <a:ext cx="222422" cy="82296"/>
          </a:xfrm>
          <a:prstGeom prst="roundRect">
            <a:avLst>
              <a:gd name="adj" fmla="val 44444"/>
            </a:avLst>
          </a:prstGeom>
          <a:solidFill>
            <a:srgbClr val="C58B5A"/>
          </a:solidFill>
          <a:ln w="3175">
            <a:solidFill>
              <a:srgbClr val="C58B5A"/>
            </a:solidFill>
            <a:prstDash val="solid"/>
          </a:ln>
        </p:spPr>
      </p:sp>
      <p:sp>
        <p:nvSpPr>
          <p:cNvPr id="4" name="Timeline B"/>
          <p:cNvSpPr/>
          <p:nvPr/>
        </p:nvSpPr>
        <p:spPr>
          <a:xfrm>
            <a:off x="902043" y="429768"/>
            <a:ext cx="667265" cy="82296"/>
          </a:xfrm>
          <a:prstGeom prst="roundRect">
            <a:avLst>
              <a:gd name="adj" fmla="val 44444"/>
            </a:avLst>
          </a:prstGeom>
          <a:solidFill>
            <a:srgbClr val="C58B5A"/>
          </a:solidFill>
          <a:ln w="3175">
            <a:solidFill>
              <a:srgbClr val="C58B5A"/>
            </a:solidFill>
            <a:prstDash val="solid"/>
          </a:ln>
        </p:spPr>
      </p:sp>
      <p:sp>
        <p:nvSpPr>
          <p:cNvPr id="5" name="Timeline C"/>
          <p:cNvSpPr/>
          <p:nvPr/>
        </p:nvSpPr>
        <p:spPr>
          <a:xfrm>
            <a:off x="1569308" y="429768"/>
            <a:ext cx="222422" cy="82296"/>
          </a:xfrm>
          <a:prstGeom prst="roundRect">
            <a:avLst>
              <a:gd name="adj" fmla="val 44444"/>
            </a:avLst>
          </a:prstGeom>
          <a:solidFill>
            <a:srgbClr val="C58B5A"/>
          </a:solidFill>
          <a:ln w="3175">
            <a:solidFill>
              <a:srgbClr val="C58B5A"/>
            </a:solidFill>
            <a:prstDash val="solid"/>
          </a:ln>
        </p:spPr>
      </p:sp>
      <p:sp>
        <p:nvSpPr>
          <p:cNvPr id="6" name="Timeline D"/>
          <p:cNvSpPr/>
          <p:nvPr/>
        </p:nvSpPr>
        <p:spPr>
          <a:xfrm>
            <a:off x="2014151" y="429768"/>
            <a:ext cx="3113903" cy="82296"/>
          </a:xfrm>
          <a:prstGeom prst="roundRect">
            <a:avLst>
              <a:gd name="adj" fmla="val 44444"/>
            </a:avLst>
          </a:prstGeom>
          <a:solidFill>
            <a:srgbClr val="BFD0CF"/>
          </a:solidFill>
          <a:ln w="3175">
            <a:solidFill>
              <a:srgbClr val="BFD0CF"/>
            </a:solidFill>
            <a:prstDash val="solid"/>
          </a:ln>
        </p:spPr>
      </p:sp>
      <p:sp>
        <p:nvSpPr>
          <p:cNvPr id="7" name="Timeline E"/>
          <p:cNvSpPr/>
          <p:nvPr/>
        </p:nvSpPr>
        <p:spPr>
          <a:xfrm>
            <a:off x="5128054" y="429768"/>
            <a:ext cx="1334530" cy="82296"/>
          </a:xfrm>
          <a:prstGeom prst="roundRect">
            <a:avLst>
              <a:gd name="adj" fmla="val 44444"/>
            </a:avLst>
          </a:prstGeom>
          <a:solidFill>
            <a:srgbClr val="BFD0CF"/>
          </a:solidFill>
          <a:ln w="3175">
            <a:solidFill>
              <a:srgbClr val="BFD0CF"/>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Hours 3 to 9: Brainstorm</a:t>
            </a:r>
            <a:endParaRPr lang="en-US" sz="2600" dirty="0"/>
          </a:p>
        </p:txBody>
      </p:sp>
      <p:sp>
        <p:nvSpPr>
          <p:cNvPr id="15" name="Card"/>
          <p:cNvSpPr/>
          <p:nvPr/>
        </p:nvSpPr>
        <p:spPr>
          <a:xfrm>
            <a:off x="457200" y="1325880"/>
            <a:ext cx="2651760" cy="1371600"/>
          </a:xfrm>
          <a:prstGeom prst="roundRect">
            <a:avLst>
              <a:gd name="adj" fmla="val 5333"/>
            </a:avLst>
          </a:prstGeom>
          <a:solidFill>
            <a:srgbClr val="E3EBEA"/>
          </a:solidFill>
          <a:ln w="6350">
            <a:solidFill>
              <a:srgbClr val="E3EBEA"/>
            </a:solidFill>
            <a:prstDash val="solid"/>
          </a:ln>
        </p:spPr>
      </p:sp>
      <p:sp>
        <p:nvSpPr>
          <p:cNvPr id="16" name="Text 14"/>
          <p:cNvSpPr txBox="1"/>
          <p:nvPr/>
        </p:nvSpPr>
        <p:spPr>
          <a:xfrm>
            <a:off x="594360" y="1417320"/>
            <a:ext cx="2377440" cy="228600"/>
          </a:xfrm>
          <a:prstGeom prst="rect">
            <a:avLst/>
          </a:prstGeom>
          <a:noFill/>
          <a:ln/>
        </p:spPr>
        <p:txBody>
          <a:bodyPr wrap="square" lIns="0" tIns="0" rIns="0" bIns="0" rtlCol="0" anchor="t"/>
          <a:lstStyle/>
          <a:p>
            <a:pPr marL="0" indent="0">
              <a:buNone/>
            </a:pPr>
            <a:r>
              <a:rPr lang="en-US" sz="1200" b="1" dirty="0">
                <a:solidFill>
                  <a:srgbClr val="C58B5A"/>
                </a:solidFill>
                <a:latin typeface="Calibri" pitchFamily="34" charset="0"/>
                <a:ea typeface="Calibri" pitchFamily="34" charset="-122"/>
                <a:cs typeface="Calibri" pitchFamily="34" charset="-120"/>
              </a:rPr>
              <a:t>H3 to 4</a:t>
            </a:r>
            <a:endParaRPr lang="en-US" sz="1200" dirty="0"/>
          </a:p>
        </p:txBody>
      </p:sp>
      <p:sp>
        <p:nvSpPr>
          <p:cNvPr id="17" name="Text 15"/>
          <p:cNvSpPr txBox="1"/>
          <p:nvPr/>
        </p:nvSpPr>
        <p:spPr>
          <a:xfrm>
            <a:off x="594360" y="1645920"/>
            <a:ext cx="2377440" cy="502920"/>
          </a:xfrm>
          <a:prstGeom prst="rect">
            <a:avLst/>
          </a:prstGeom>
          <a:noFill/>
          <a:ln/>
        </p:spPr>
        <p:txBody>
          <a:bodyPr wrap="square" lIns="0" tIns="0" rIns="0" bIns="0" rtlCol="0" anchor="t"/>
          <a:lstStyle/>
          <a:p>
            <a:pPr marL="0" indent="0">
              <a:buNone/>
            </a:pPr>
            <a:r>
              <a:rPr lang="en-US" sz="1500" b="1" dirty="0">
                <a:solidFill>
                  <a:srgbClr val="2F4858"/>
                </a:solidFill>
                <a:latin typeface="Cambria" pitchFamily="34" charset="0"/>
                <a:ea typeface="Cambria" pitchFamily="34" charset="-122"/>
                <a:cs typeface="Cambria" pitchFamily="34" charset="-120"/>
              </a:rPr>
              <a:t>Ideation and discussion</a:t>
            </a:r>
            <a:endParaRPr lang="en-US" sz="1500" dirty="0"/>
          </a:p>
        </p:txBody>
      </p:sp>
      <p:sp>
        <p:nvSpPr>
          <p:cNvPr id="18" name="Text 16"/>
          <p:cNvSpPr txBox="1"/>
          <p:nvPr/>
        </p:nvSpPr>
        <p:spPr>
          <a:xfrm>
            <a:off x="594360" y="2176272"/>
            <a:ext cx="2377440" cy="45720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What to build, what to measure, what to simulate</a:t>
            </a:r>
            <a:endParaRPr lang="en-US" sz="1200" dirty="0"/>
          </a:p>
        </p:txBody>
      </p:sp>
      <p:sp>
        <p:nvSpPr>
          <p:cNvPr id="19" name="Card"/>
          <p:cNvSpPr/>
          <p:nvPr/>
        </p:nvSpPr>
        <p:spPr>
          <a:xfrm>
            <a:off x="3246120" y="1325880"/>
            <a:ext cx="2651760" cy="1371600"/>
          </a:xfrm>
          <a:prstGeom prst="roundRect">
            <a:avLst>
              <a:gd name="adj" fmla="val 5333"/>
            </a:avLst>
          </a:prstGeom>
          <a:solidFill>
            <a:srgbClr val="E3EBEA"/>
          </a:solidFill>
          <a:ln w="6350">
            <a:solidFill>
              <a:srgbClr val="E3EBEA"/>
            </a:solidFill>
            <a:prstDash val="solid"/>
          </a:ln>
        </p:spPr>
      </p:sp>
      <p:sp>
        <p:nvSpPr>
          <p:cNvPr id="20" name="Text 18"/>
          <p:cNvSpPr txBox="1"/>
          <p:nvPr/>
        </p:nvSpPr>
        <p:spPr>
          <a:xfrm>
            <a:off x="3383280" y="1417320"/>
            <a:ext cx="2377440" cy="228600"/>
          </a:xfrm>
          <a:prstGeom prst="rect">
            <a:avLst/>
          </a:prstGeom>
          <a:noFill/>
          <a:ln/>
        </p:spPr>
        <p:txBody>
          <a:bodyPr wrap="square" lIns="0" tIns="0" rIns="0" bIns="0" rtlCol="0" anchor="t"/>
          <a:lstStyle/>
          <a:p>
            <a:pPr marL="0" indent="0">
              <a:buNone/>
            </a:pPr>
            <a:r>
              <a:rPr lang="en-US" sz="1200" b="1" dirty="0">
                <a:solidFill>
                  <a:srgbClr val="C58B5A"/>
                </a:solidFill>
                <a:latin typeface="Calibri" pitchFamily="34" charset="0"/>
                <a:ea typeface="Calibri" pitchFamily="34" charset="-122"/>
                <a:cs typeface="Calibri" pitchFamily="34" charset="-120"/>
              </a:rPr>
              <a:t>H5 to 8</a:t>
            </a:r>
            <a:endParaRPr lang="en-US" sz="1200" dirty="0"/>
          </a:p>
        </p:txBody>
      </p:sp>
      <p:sp>
        <p:nvSpPr>
          <p:cNvPr id="21" name="Text 19"/>
          <p:cNvSpPr txBox="1"/>
          <p:nvPr/>
        </p:nvSpPr>
        <p:spPr>
          <a:xfrm>
            <a:off x="3383280" y="1645920"/>
            <a:ext cx="2377440" cy="502920"/>
          </a:xfrm>
          <a:prstGeom prst="rect">
            <a:avLst/>
          </a:prstGeom>
          <a:noFill/>
          <a:ln/>
        </p:spPr>
        <p:txBody>
          <a:bodyPr wrap="square" lIns="0" tIns="0" rIns="0" bIns="0" rtlCol="0" anchor="t"/>
          <a:lstStyle/>
          <a:p>
            <a:pPr marL="0" indent="0">
              <a:buNone/>
            </a:pPr>
            <a:r>
              <a:rPr lang="en-US" sz="1500" b="1" dirty="0">
                <a:solidFill>
                  <a:srgbClr val="2F4858"/>
                </a:solidFill>
                <a:latin typeface="Cambria" pitchFamily="34" charset="0"/>
                <a:ea typeface="Cambria" pitchFamily="34" charset="-122"/>
                <a:cs typeface="Cambria" pitchFamily="34" charset="-120"/>
              </a:rPr>
              <a:t>Everyone learns every filter</a:t>
            </a:r>
            <a:endParaRPr lang="en-US" sz="1500" dirty="0"/>
          </a:p>
        </p:txBody>
      </p:sp>
      <p:sp>
        <p:nvSpPr>
          <p:cNvPr id="22" name="Text 20"/>
          <p:cNvSpPr txBox="1"/>
          <p:nvPr/>
        </p:nvSpPr>
        <p:spPr>
          <a:xfrm>
            <a:off x="3383280" y="2176272"/>
            <a:ext cx="2377440" cy="45720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Nobody specialised until everyone could read the maths</a:t>
            </a:r>
            <a:endParaRPr lang="en-US" sz="1200" dirty="0"/>
          </a:p>
        </p:txBody>
      </p:sp>
      <p:sp>
        <p:nvSpPr>
          <p:cNvPr id="23" name="Card"/>
          <p:cNvSpPr/>
          <p:nvPr/>
        </p:nvSpPr>
        <p:spPr>
          <a:xfrm>
            <a:off x="6035040" y="1325880"/>
            <a:ext cx="2651760" cy="1371600"/>
          </a:xfrm>
          <a:prstGeom prst="roundRect">
            <a:avLst>
              <a:gd name="adj" fmla="val 5333"/>
            </a:avLst>
          </a:prstGeom>
          <a:solidFill>
            <a:srgbClr val="E3EBEA"/>
          </a:solidFill>
          <a:ln w="6350">
            <a:solidFill>
              <a:srgbClr val="E3EBEA"/>
            </a:solidFill>
            <a:prstDash val="solid"/>
          </a:ln>
        </p:spPr>
      </p:sp>
      <p:sp>
        <p:nvSpPr>
          <p:cNvPr id="24" name="Text 22"/>
          <p:cNvSpPr txBox="1"/>
          <p:nvPr/>
        </p:nvSpPr>
        <p:spPr>
          <a:xfrm>
            <a:off x="6172200" y="1417320"/>
            <a:ext cx="2377440" cy="228600"/>
          </a:xfrm>
          <a:prstGeom prst="rect">
            <a:avLst/>
          </a:prstGeom>
          <a:noFill/>
          <a:ln/>
        </p:spPr>
        <p:txBody>
          <a:bodyPr wrap="square" lIns="0" tIns="0" rIns="0" bIns="0" rtlCol="0" anchor="t"/>
          <a:lstStyle/>
          <a:p>
            <a:pPr marL="0" indent="0">
              <a:buNone/>
            </a:pPr>
            <a:r>
              <a:rPr lang="en-US" sz="1200" b="1" dirty="0">
                <a:solidFill>
                  <a:srgbClr val="C58B5A"/>
                </a:solidFill>
                <a:latin typeface="Calibri" pitchFamily="34" charset="0"/>
                <a:ea typeface="Calibri" pitchFamily="34" charset="-122"/>
                <a:cs typeface="Calibri" pitchFamily="34" charset="-120"/>
              </a:rPr>
              <a:t>H8 to 9</a:t>
            </a:r>
            <a:endParaRPr lang="en-US" sz="1200" dirty="0"/>
          </a:p>
        </p:txBody>
      </p:sp>
      <p:sp>
        <p:nvSpPr>
          <p:cNvPr id="25" name="Text 23"/>
          <p:cNvSpPr txBox="1"/>
          <p:nvPr/>
        </p:nvSpPr>
        <p:spPr>
          <a:xfrm>
            <a:off x="6172200" y="1645920"/>
            <a:ext cx="2377440" cy="502920"/>
          </a:xfrm>
          <a:prstGeom prst="rect">
            <a:avLst/>
          </a:prstGeom>
          <a:noFill/>
          <a:ln/>
        </p:spPr>
        <p:txBody>
          <a:bodyPr wrap="square" lIns="0" tIns="0" rIns="0" bIns="0" rtlCol="0" anchor="t"/>
          <a:lstStyle/>
          <a:p>
            <a:pPr marL="0" indent="0">
              <a:buNone/>
            </a:pPr>
            <a:r>
              <a:rPr lang="en-US" sz="1500" b="1" dirty="0">
                <a:solidFill>
                  <a:srgbClr val="2F4858"/>
                </a:solidFill>
                <a:latin typeface="Cambria" pitchFamily="34" charset="0"/>
                <a:ea typeface="Cambria" pitchFamily="34" charset="-122"/>
                <a:cs typeface="Cambria" pitchFamily="34" charset="-120"/>
              </a:rPr>
              <a:t>Split the work and ideate again</a:t>
            </a:r>
            <a:endParaRPr lang="en-US" sz="1500" dirty="0"/>
          </a:p>
        </p:txBody>
      </p:sp>
      <p:sp>
        <p:nvSpPr>
          <p:cNvPr id="26" name="Text 24"/>
          <p:cNvSpPr txBox="1"/>
          <p:nvPr/>
        </p:nvSpPr>
        <p:spPr>
          <a:xfrm>
            <a:off x="6172200" y="2176272"/>
            <a:ext cx="2377440" cy="45720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Five lanes, one shared repo</a:t>
            </a:r>
            <a:endParaRPr lang="en-US" sz="1200" dirty="0"/>
          </a:p>
        </p:txBody>
      </p:sp>
      <p:sp>
        <p:nvSpPr>
          <p:cNvPr id="27" name="Text 25"/>
          <p:cNvSpPr txBox="1"/>
          <p:nvPr/>
        </p:nvSpPr>
        <p:spPr>
          <a:xfrm>
            <a:off x="457200" y="2834640"/>
            <a:ext cx="3657600" cy="256032"/>
          </a:xfrm>
          <a:prstGeom prst="rect">
            <a:avLst/>
          </a:prstGeom>
          <a:noFill/>
          <a:ln/>
        </p:spPr>
        <p:txBody>
          <a:bodyPr wrap="square" lIns="0" tIns="0" rIns="0" bIns="0" rtlCol="0" anchor="t"/>
          <a:lstStyle/>
          <a:p>
            <a:pPr marL="0" indent="0">
              <a:buNone/>
            </a:pPr>
            <a:r>
              <a:rPr lang="en-US" sz="1200" b="1" dirty="0">
                <a:solidFill>
                  <a:srgbClr val="55808A"/>
                </a:solidFill>
                <a:latin typeface="Calibri" pitchFamily="34" charset="0"/>
                <a:ea typeface="Calibri" pitchFamily="34" charset="-122"/>
                <a:cs typeface="Calibri" pitchFamily="34" charset="-120"/>
              </a:rPr>
              <a:t>Steps we took</a:t>
            </a:r>
            <a:endParaRPr lang="en-US" sz="1200" dirty="0"/>
          </a:p>
        </p:txBody>
      </p:sp>
      <p:sp>
        <p:nvSpPr>
          <p:cNvPr id="28" name="Ladder 1"/>
          <p:cNvSpPr/>
          <p:nvPr/>
        </p:nvSpPr>
        <p:spPr>
          <a:xfrm>
            <a:off x="457200" y="4114800"/>
            <a:ext cx="1554480" cy="640080"/>
          </a:xfrm>
          <a:prstGeom prst="roundRect">
            <a:avLst>
              <a:gd name="adj" fmla="val 8571"/>
            </a:avLst>
          </a:prstGeom>
          <a:solidFill>
            <a:srgbClr val="55808A"/>
          </a:solidFill>
          <a:ln w="6350">
            <a:solidFill>
              <a:srgbClr val="F3F5F4"/>
            </a:solidFill>
            <a:prstDash val="solid"/>
          </a:ln>
        </p:spPr>
      </p:sp>
      <p:sp>
        <p:nvSpPr>
          <p:cNvPr id="29" name="Text 27"/>
          <p:cNvSpPr txBox="1"/>
          <p:nvPr/>
        </p:nvSpPr>
        <p:spPr>
          <a:xfrm>
            <a:off x="502920" y="4114800"/>
            <a:ext cx="14630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Complementary</a:t>
            </a:r>
            <a:endParaRPr lang="en-US" sz="1300" dirty="0"/>
          </a:p>
        </p:txBody>
      </p:sp>
      <p:sp>
        <p:nvSpPr>
          <p:cNvPr id="30" name="Ladder 2"/>
          <p:cNvSpPr/>
          <p:nvPr/>
        </p:nvSpPr>
        <p:spPr>
          <a:xfrm>
            <a:off x="2125980" y="3858768"/>
            <a:ext cx="1554480" cy="896112"/>
          </a:xfrm>
          <a:prstGeom prst="roundRect">
            <a:avLst>
              <a:gd name="adj" fmla="val 6122"/>
            </a:avLst>
          </a:prstGeom>
          <a:solidFill>
            <a:srgbClr val="55808A"/>
          </a:solidFill>
          <a:ln w="6350">
            <a:solidFill>
              <a:srgbClr val="F3F5F4"/>
            </a:solidFill>
            <a:prstDash val="solid"/>
          </a:ln>
        </p:spPr>
      </p:sp>
      <p:sp>
        <p:nvSpPr>
          <p:cNvPr id="31" name="Text 29"/>
          <p:cNvSpPr txBox="1"/>
          <p:nvPr/>
        </p:nvSpPr>
        <p:spPr>
          <a:xfrm>
            <a:off x="2171700" y="3858768"/>
            <a:ext cx="14630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Mahony and Madgwick</a:t>
            </a:r>
            <a:endParaRPr lang="en-US" sz="1300" dirty="0"/>
          </a:p>
        </p:txBody>
      </p:sp>
      <p:sp>
        <p:nvSpPr>
          <p:cNvPr id="32" name="Ladder 3"/>
          <p:cNvSpPr/>
          <p:nvPr/>
        </p:nvSpPr>
        <p:spPr>
          <a:xfrm>
            <a:off x="3794760" y="3602736"/>
            <a:ext cx="1554480" cy="1152144"/>
          </a:xfrm>
          <a:prstGeom prst="roundRect">
            <a:avLst>
              <a:gd name="adj" fmla="val 4762"/>
            </a:avLst>
          </a:prstGeom>
          <a:solidFill>
            <a:srgbClr val="55808A"/>
          </a:solidFill>
          <a:ln w="6350">
            <a:solidFill>
              <a:srgbClr val="F3F5F4"/>
            </a:solidFill>
            <a:prstDash val="solid"/>
          </a:ln>
        </p:spPr>
      </p:sp>
      <p:sp>
        <p:nvSpPr>
          <p:cNvPr id="33" name="Text 31"/>
          <p:cNvSpPr txBox="1"/>
          <p:nvPr/>
        </p:nvSpPr>
        <p:spPr>
          <a:xfrm>
            <a:off x="3840480" y="3602736"/>
            <a:ext cx="14630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Kalman filter</a:t>
            </a:r>
            <a:endParaRPr lang="en-US" sz="1300" dirty="0"/>
          </a:p>
        </p:txBody>
      </p:sp>
      <p:sp>
        <p:nvSpPr>
          <p:cNvPr id="34" name="Ladder 4"/>
          <p:cNvSpPr/>
          <p:nvPr/>
        </p:nvSpPr>
        <p:spPr>
          <a:xfrm>
            <a:off x="5463540" y="3346704"/>
            <a:ext cx="1554480" cy="1408176"/>
          </a:xfrm>
          <a:prstGeom prst="roundRect">
            <a:avLst>
              <a:gd name="adj" fmla="val 3896"/>
            </a:avLst>
          </a:prstGeom>
          <a:solidFill>
            <a:srgbClr val="2F4858"/>
          </a:solidFill>
          <a:ln w="6350">
            <a:solidFill>
              <a:srgbClr val="F3F5F4"/>
            </a:solidFill>
            <a:prstDash val="solid"/>
          </a:ln>
        </p:spPr>
      </p:sp>
      <p:sp>
        <p:nvSpPr>
          <p:cNvPr id="35" name="Text 33"/>
          <p:cNvSpPr txBox="1"/>
          <p:nvPr/>
        </p:nvSpPr>
        <p:spPr>
          <a:xfrm>
            <a:off x="5509260" y="3346704"/>
            <a:ext cx="14630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EKF</a:t>
            </a:r>
            <a:endParaRPr lang="en-US" sz="1300" dirty="0"/>
          </a:p>
        </p:txBody>
      </p:sp>
      <p:sp>
        <p:nvSpPr>
          <p:cNvPr id="36" name="Ladder 5"/>
          <p:cNvSpPr/>
          <p:nvPr/>
        </p:nvSpPr>
        <p:spPr>
          <a:xfrm>
            <a:off x="7132320" y="3090672"/>
            <a:ext cx="1554480" cy="1664208"/>
          </a:xfrm>
          <a:prstGeom prst="roundRect">
            <a:avLst>
              <a:gd name="adj" fmla="val 3529"/>
            </a:avLst>
          </a:prstGeom>
          <a:solidFill>
            <a:srgbClr val="C58B5A"/>
          </a:solidFill>
          <a:ln w="6350">
            <a:solidFill>
              <a:srgbClr val="F3F5F4"/>
            </a:solidFill>
            <a:prstDash val="solid"/>
          </a:ln>
        </p:spPr>
      </p:sp>
      <p:sp>
        <p:nvSpPr>
          <p:cNvPr id="37" name="Text 35"/>
          <p:cNvSpPr txBox="1"/>
          <p:nvPr/>
        </p:nvSpPr>
        <p:spPr>
          <a:xfrm>
            <a:off x="7178040" y="3090672"/>
            <a:ext cx="14630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ESKF</a:t>
            </a:r>
            <a:endParaRPr lang="en-US" sz="1300" dirty="0"/>
          </a:p>
        </p:txBody>
      </p:sp>
      <p:sp>
        <p:nvSpPr>
          <p:cNvPr id="38"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8 TO 9  SPLITTING THE WORK</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C58B5A"/>
          </a:solidFill>
          <a:ln w="3175">
            <a:solidFill>
              <a:srgbClr val="C58B5A"/>
            </a:solidFill>
            <a:prstDash val="solid"/>
          </a:ln>
        </p:spPr>
      </p:sp>
      <p:sp>
        <p:nvSpPr>
          <p:cNvPr id="6" name="Timeline D"/>
          <p:cNvSpPr/>
          <p:nvPr/>
        </p:nvSpPr>
        <p:spPr>
          <a:xfrm>
            <a:off x="2014151" y="429768"/>
            <a:ext cx="3113903" cy="82296"/>
          </a:xfrm>
          <a:prstGeom prst="roundRect">
            <a:avLst>
              <a:gd name="adj" fmla="val 44444"/>
            </a:avLst>
          </a:prstGeom>
          <a:solidFill>
            <a:srgbClr val="BFD0CF"/>
          </a:solidFill>
          <a:ln w="3175">
            <a:solidFill>
              <a:srgbClr val="BFD0CF"/>
            </a:solidFill>
            <a:prstDash val="solid"/>
          </a:ln>
        </p:spPr>
      </p:sp>
      <p:sp>
        <p:nvSpPr>
          <p:cNvPr id="7" name="Timeline E"/>
          <p:cNvSpPr/>
          <p:nvPr/>
        </p:nvSpPr>
        <p:spPr>
          <a:xfrm>
            <a:off x="5128054" y="429768"/>
            <a:ext cx="1334530" cy="82296"/>
          </a:xfrm>
          <a:prstGeom prst="roundRect">
            <a:avLst>
              <a:gd name="adj" fmla="val 44444"/>
            </a:avLst>
          </a:prstGeom>
          <a:solidFill>
            <a:srgbClr val="BFD0CF"/>
          </a:solidFill>
          <a:ln w="3175">
            <a:solidFill>
              <a:srgbClr val="BFD0CF"/>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Five people, five lanes</a:t>
            </a:r>
            <a:endParaRPr lang="en-US" sz="2600" dirty="0"/>
          </a:p>
        </p:txBody>
      </p:sp>
      <p:sp>
        <p:nvSpPr>
          <p:cNvPr id="15" name="Card"/>
          <p:cNvSpPr/>
          <p:nvPr/>
        </p:nvSpPr>
        <p:spPr>
          <a:xfrm>
            <a:off x="457200" y="1371600"/>
            <a:ext cx="2651760" cy="1600200"/>
          </a:xfrm>
          <a:prstGeom prst="roundRect">
            <a:avLst>
              <a:gd name="adj" fmla="val 4571"/>
            </a:avLst>
          </a:prstGeom>
          <a:solidFill>
            <a:srgbClr val="E3EBEA"/>
          </a:solidFill>
          <a:ln w="6350">
            <a:solidFill>
              <a:srgbClr val="E3EBEA"/>
            </a:solidFill>
            <a:prstDash val="solid"/>
          </a:ln>
        </p:spPr>
      </p:sp>
      <p:sp>
        <p:nvSpPr>
          <p:cNvPr id="16" name="Avatar"/>
          <p:cNvSpPr/>
          <p:nvPr/>
        </p:nvSpPr>
        <p:spPr>
          <a:xfrm>
            <a:off x="594360" y="1508760"/>
            <a:ext cx="548640" cy="548640"/>
          </a:xfrm>
          <a:prstGeom prst="ellipse">
            <a:avLst/>
          </a:prstGeom>
          <a:solidFill>
            <a:srgbClr val="55808A"/>
          </a:solidFill>
          <a:ln w="6350">
            <a:solidFill>
              <a:srgbClr val="55808A"/>
            </a:solidFill>
            <a:prstDash val="solid"/>
          </a:ln>
        </p:spPr>
      </p:sp>
      <p:sp>
        <p:nvSpPr>
          <p:cNvPr id="17" name="Text 15"/>
          <p:cNvSpPr txBox="1"/>
          <p:nvPr/>
        </p:nvSpPr>
        <p:spPr>
          <a:xfrm>
            <a:off x="594360" y="15087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AG</a:t>
            </a:r>
            <a:endParaRPr lang="en-US" sz="1600" dirty="0"/>
          </a:p>
        </p:txBody>
      </p:sp>
      <p:sp>
        <p:nvSpPr>
          <p:cNvPr id="18" name="Text 16"/>
          <p:cNvSpPr txBox="1"/>
          <p:nvPr/>
        </p:nvSpPr>
        <p:spPr>
          <a:xfrm>
            <a:off x="1280160" y="1508760"/>
            <a:ext cx="1737360" cy="548640"/>
          </a:xfrm>
          <a:prstGeom prst="rect">
            <a:avLst/>
          </a:prstGeom>
          <a:noFill/>
          <a:ln/>
        </p:spPr>
        <p:txBody>
          <a:bodyPr wrap="square" lIns="0" tIns="0" rIns="0" bIns="0" rtlCol="0" anchor="ctr"/>
          <a:lstStyle/>
          <a:p>
            <a:pPr marL="0" indent="0">
              <a:buNone/>
            </a:pPr>
            <a:r>
              <a:rPr lang="en-US" sz="1700" b="1" dirty="0">
                <a:solidFill>
                  <a:srgbClr val="2F4858"/>
                </a:solidFill>
                <a:latin typeface="Cambria" pitchFamily="34" charset="0"/>
                <a:ea typeface="Cambria" pitchFamily="34" charset="-122"/>
                <a:cs typeface="Cambria" pitchFamily="34" charset="-120"/>
              </a:rPr>
              <a:t>Aditya Ganta</a:t>
            </a:r>
            <a:endParaRPr lang="en-US" sz="1700" dirty="0"/>
          </a:p>
        </p:txBody>
      </p:sp>
      <p:sp>
        <p:nvSpPr>
          <p:cNvPr id="19" name="Text 17"/>
          <p:cNvSpPr txBox="1"/>
          <p:nvPr/>
        </p:nvSpPr>
        <p:spPr>
          <a:xfrm>
            <a:off x="594360" y="2176272"/>
            <a:ext cx="2377440" cy="731520"/>
          </a:xfrm>
          <a:prstGeom prst="rect">
            <a:avLst/>
          </a:prstGeom>
          <a:noFill/>
          <a:ln/>
        </p:spPr>
        <p:txBody>
          <a:bodyPr wrap="square" lIns="0" tIns="0" rIns="0" bIns="0" rtlCol="0" anchor="t"/>
          <a:lstStyle/>
          <a:p>
            <a:pPr marL="0" indent="0">
              <a:buNone/>
            </a:pPr>
            <a:r>
              <a:rPr lang="en-US" sz="1400" dirty="0">
                <a:solidFill>
                  <a:srgbClr val="26343A"/>
                </a:solidFill>
                <a:latin typeface="Calibri" pitchFamily="34" charset="0"/>
                <a:ea typeface="Calibri" pitchFamily="34" charset="-122"/>
                <a:cs typeface="Calibri" pitchFamily="34" charset="-120"/>
              </a:rPr>
              <a:t>IMU calibration and bias estimation</a:t>
            </a:r>
            <a:endParaRPr lang="en-US" sz="1400" dirty="0"/>
          </a:p>
        </p:txBody>
      </p:sp>
      <p:sp>
        <p:nvSpPr>
          <p:cNvPr id="20" name="Card"/>
          <p:cNvSpPr/>
          <p:nvPr/>
        </p:nvSpPr>
        <p:spPr>
          <a:xfrm>
            <a:off x="3246120" y="1371600"/>
            <a:ext cx="2651760" cy="1600200"/>
          </a:xfrm>
          <a:prstGeom prst="roundRect">
            <a:avLst>
              <a:gd name="adj" fmla="val 4571"/>
            </a:avLst>
          </a:prstGeom>
          <a:solidFill>
            <a:srgbClr val="E3EBEA"/>
          </a:solidFill>
          <a:ln w="6350">
            <a:solidFill>
              <a:srgbClr val="E3EBEA"/>
            </a:solidFill>
            <a:prstDash val="solid"/>
          </a:ln>
        </p:spPr>
      </p:sp>
      <p:sp>
        <p:nvSpPr>
          <p:cNvPr id="21" name="Avatar"/>
          <p:cNvSpPr/>
          <p:nvPr/>
        </p:nvSpPr>
        <p:spPr>
          <a:xfrm>
            <a:off x="3383280" y="1508760"/>
            <a:ext cx="548640" cy="548640"/>
          </a:xfrm>
          <a:prstGeom prst="ellipse">
            <a:avLst/>
          </a:prstGeom>
          <a:solidFill>
            <a:srgbClr val="55808A"/>
          </a:solidFill>
          <a:ln w="6350">
            <a:solidFill>
              <a:srgbClr val="55808A"/>
            </a:solidFill>
            <a:prstDash val="solid"/>
          </a:ln>
        </p:spPr>
      </p:sp>
      <p:sp>
        <p:nvSpPr>
          <p:cNvPr id="22" name="Text 20"/>
          <p:cNvSpPr txBox="1"/>
          <p:nvPr/>
        </p:nvSpPr>
        <p:spPr>
          <a:xfrm>
            <a:off x="3383280" y="15087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JJ</a:t>
            </a:r>
            <a:endParaRPr lang="en-US" sz="1600" dirty="0"/>
          </a:p>
        </p:txBody>
      </p:sp>
      <p:sp>
        <p:nvSpPr>
          <p:cNvPr id="23" name="Text 21"/>
          <p:cNvSpPr txBox="1"/>
          <p:nvPr/>
        </p:nvSpPr>
        <p:spPr>
          <a:xfrm>
            <a:off x="4069080" y="1508760"/>
            <a:ext cx="1737360" cy="548640"/>
          </a:xfrm>
          <a:prstGeom prst="rect">
            <a:avLst/>
          </a:prstGeom>
          <a:noFill/>
          <a:ln/>
        </p:spPr>
        <p:txBody>
          <a:bodyPr wrap="square" lIns="0" tIns="0" rIns="0" bIns="0" rtlCol="0" anchor="ctr"/>
          <a:lstStyle/>
          <a:p>
            <a:pPr marL="0" indent="0">
              <a:buNone/>
            </a:pPr>
            <a:r>
              <a:rPr lang="en-US" sz="1700" b="1" dirty="0">
                <a:solidFill>
                  <a:srgbClr val="2F4858"/>
                </a:solidFill>
                <a:latin typeface="Cambria" pitchFamily="34" charset="0"/>
                <a:ea typeface="Cambria" pitchFamily="34" charset="-122"/>
                <a:cs typeface="Cambria" pitchFamily="34" charset="-120"/>
              </a:rPr>
              <a:t>Joshua John</a:t>
            </a:r>
            <a:endParaRPr lang="en-US" sz="1700" dirty="0"/>
          </a:p>
        </p:txBody>
      </p:sp>
      <p:sp>
        <p:nvSpPr>
          <p:cNvPr id="24" name="Text 22"/>
          <p:cNvSpPr txBox="1"/>
          <p:nvPr/>
        </p:nvSpPr>
        <p:spPr>
          <a:xfrm>
            <a:off x="3383280" y="2176272"/>
            <a:ext cx="2377440" cy="731520"/>
          </a:xfrm>
          <a:prstGeom prst="rect">
            <a:avLst/>
          </a:prstGeom>
          <a:noFill/>
          <a:ln/>
        </p:spPr>
        <p:txBody>
          <a:bodyPr wrap="square" lIns="0" tIns="0" rIns="0" bIns="0" rtlCol="0" anchor="t"/>
          <a:lstStyle/>
          <a:p>
            <a:pPr marL="0" indent="0">
              <a:buNone/>
            </a:pPr>
            <a:r>
              <a:rPr lang="en-US" sz="1400" dirty="0">
                <a:solidFill>
                  <a:srgbClr val="26343A"/>
                </a:solidFill>
                <a:latin typeface="Calibri" pitchFamily="34" charset="0"/>
                <a:ea typeface="Calibri" pitchFamily="34" charset="-122"/>
                <a:cs typeface="Calibri" pitchFamily="34" charset="-120"/>
              </a:rPr>
              <a:t>Phone IMU over ADB and SensorServer. Gazebo drone with UWB</a:t>
            </a:r>
            <a:endParaRPr lang="en-US" sz="1400" dirty="0"/>
          </a:p>
        </p:txBody>
      </p:sp>
      <p:sp>
        <p:nvSpPr>
          <p:cNvPr id="25" name="Card"/>
          <p:cNvSpPr/>
          <p:nvPr/>
        </p:nvSpPr>
        <p:spPr>
          <a:xfrm>
            <a:off x="6035040" y="1371600"/>
            <a:ext cx="2651760" cy="1600200"/>
          </a:xfrm>
          <a:prstGeom prst="roundRect">
            <a:avLst>
              <a:gd name="adj" fmla="val 4571"/>
            </a:avLst>
          </a:prstGeom>
          <a:solidFill>
            <a:srgbClr val="E3EBEA"/>
          </a:solidFill>
          <a:ln w="6350">
            <a:solidFill>
              <a:srgbClr val="E3EBEA"/>
            </a:solidFill>
            <a:prstDash val="solid"/>
          </a:ln>
        </p:spPr>
      </p:sp>
      <p:sp>
        <p:nvSpPr>
          <p:cNvPr id="26" name="Avatar"/>
          <p:cNvSpPr/>
          <p:nvPr/>
        </p:nvSpPr>
        <p:spPr>
          <a:xfrm>
            <a:off x="6172200" y="1508760"/>
            <a:ext cx="548640" cy="548640"/>
          </a:xfrm>
          <a:prstGeom prst="ellipse">
            <a:avLst/>
          </a:prstGeom>
          <a:solidFill>
            <a:srgbClr val="55808A"/>
          </a:solidFill>
          <a:ln w="6350">
            <a:solidFill>
              <a:srgbClr val="55808A"/>
            </a:solidFill>
            <a:prstDash val="solid"/>
          </a:ln>
        </p:spPr>
      </p:sp>
      <p:sp>
        <p:nvSpPr>
          <p:cNvPr id="27" name="Text 25"/>
          <p:cNvSpPr txBox="1"/>
          <p:nvPr/>
        </p:nvSpPr>
        <p:spPr>
          <a:xfrm>
            <a:off x="6172200" y="15087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SP</a:t>
            </a:r>
            <a:endParaRPr lang="en-US" sz="1600" dirty="0"/>
          </a:p>
        </p:txBody>
      </p:sp>
      <p:sp>
        <p:nvSpPr>
          <p:cNvPr id="28" name="Text 26"/>
          <p:cNvSpPr txBox="1"/>
          <p:nvPr/>
        </p:nvSpPr>
        <p:spPr>
          <a:xfrm>
            <a:off x="6858000" y="1508760"/>
            <a:ext cx="1737360" cy="548640"/>
          </a:xfrm>
          <a:prstGeom prst="rect">
            <a:avLst/>
          </a:prstGeom>
          <a:noFill/>
          <a:ln/>
        </p:spPr>
        <p:txBody>
          <a:bodyPr wrap="square" lIns="0" tIns="0" rIns="0" bIns="0" rtlCol="0" anchor="ctr"/>
          <a:lstStyle/>
          <a:p>
            <a:pPr marL="0" indent="0">
              <a:buNone/>
            </a:pPr>
            <a:r>
              <a:rPr lang="en-US" sz="1700" b="1" dirty="0">
                <a:solidFill>
                  <a:srgbClr val="2F4858"/>
                </a:solidFill>
                <a:latin typeface="Cambria" pitchFamily="34" charset="0"/>
                <a:ea typeface="Cambria" pitchFamily="34" charset="-122"/>
                <a:cs typeface="Cambria" pitchFamily="34" charset="-120"/>
              </a:rPr>
              <a:t>Saiprakash</a:t>
            </a:r>
            <a:endParaRPr lang="en-US" sz="1700" dirty="0"/>
          </a:p>
        </p:txBody>
      </p:sp>
      <p:sp>
        <p:nvSpPr>
          <p:cNvPr id="29" name="Text 27"/>
          <p:cNvSpPr txBox="1"/>
          <p:nvPr/>
        </p:nvSpPr>
        <p:spPr>
          <a:xfrm>
            <a:off x="6172200" y="2176272"/>
            <a:ext cx="2377440" cy="731520"/>
          </a:xfrm>
          <a:prstGeom prst="rect">
            <a:avLst/>
          </a:prstGeom>
          <a:noFill/>
          <a:ln/>
        </p:spPr>
        <p:txBody>
          <a:bodyPr wrap="square" lIns="0" tIns="0" rIns="0" bIns="0" rtlCol="0" anchor="t"/>
          <a:lstStyle/>
          <a:p>
            <a:pPr marL="0" indent="0">
              <a:buNone/>
            </a:pPr>
            <a:r>
              <a:rPr lang="en-US" sz="1400" dirty="0">
                <a:solidFill>
                  <a:srgbClr val="26343A"/>
                </a:solidFill>
                <a:latin typeface="Calibri" pitchFamily="34" charset="0"/>
                <a:ea typeface="Calibri" pitchFamily="34" charset="-122"/>
                <a:cs typeface="Calibri" pitchFamily="34" charset="-120"/>
              </a:rPr>
              <a:t>Orientation GUI, six channel static signals, noise and drift</a:t>
            </a:r>
            <a:endParaRPr lang="en-US" sz="1400" dirty="0"/>
          </a:p>
        </p:txBody>
      </p:sp>
      <p:sp>
        <p:nvSpPr>
          <p:cNvPr id="30" name="Card"/>
          <p:cNvSpPr/>
          <p:nvPr/>
        </p:nvSpPr>
        <p:spPr>
          <a:xfrm>
            <a:off x="457200" y="3108960"/>
            <a:ext cx="4023360" cy="1371600"/>
          </a:xfrm>
          <a:prstGeom prst="roundRect">
            <a:avLst>
              <a:gd name="adj" fmla="val 5333"/>
            </a:avLst>
          </a:prstGeom>
          <a:solidFill>
            <a:srgbClr val="E3EBEA"/>
          </a:solidFill>
          <a:ln w="6350">
            <a:solidFill>
              <a:srgbClr val="E3EBEA"/>
            </a:solidFill>
            <a:prstDash val="solid"/>
          </a:ln>
        </p:spPr>
      </p:sp>
      <p:sp>
        <p:nvSpPr>
          <p:cNvPr id="31" name="Avatar"/>
          <p:cNvSpPr/>
          <p:nvPr/>
        </p:nvSpPr>
        <p:spPr>
          <a:xfrm>
            <a:off x="594360" y="3246120"/>
            <a:ext cx="548640" cy="548640"/>
          </a:xfrm>
          <a:prstGeom prst="ellipse">
            <a:avLst/>
          </a:prstGeom>
          <a:solidFill>
            <a:srgbClr val="55808A"/>
          </a:solidFill>
          <a:ln w="6350">
            <a:solidFill>
              <a:srgbClr val="55808A"/>
            </a:solidFill>
            <a:prstDash val="solid"/>
          </a:ln>
        </p:spPr>
      </p:sp>
      <p:sp>
        <p:nvSpPr>
          <p:cNvPr id="32" name="Text 30"/>
          <p:cNvSpPr txBox="1"/>
          <p:nvPr/>
        </p:nvSpPr>
        <p:spPr>
          <a:xfrm>
            <a:off x="594360" y="324612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R</a:t>
            </a:r>
            <a:endParaRPr lang="en-US" sz="1600" dirty="0"/>
          </a:p>
        </p:txBody>
      </p:sp>
      <p:sp>
        <p:nvSpPr>
          <p:cNvPr id="33" name="Text 31"/>
          <p:cNvSpPr txBox="1"/>
          <p:nvPr/>
        </p:nvSpPr>
        <p:spPr>
          <a:xfrm>
            <a:off x="1280160" y="3246120"/>
            <a:ext cx="3108960" cy="548640"/>
          </a:xfrm>
          <a:prstGeom prst="rect">
            <a:avLst/>
          </a:prstGeom>
          <a:noFill/>
          <a:ln/>
        </p:spPr>
        <p:txBody>
          <a:bodyPr wrap="square" lIns="0" tIns="0" rIns="0" bIns="0" rtlCol="0" anchor="ctr"/>
          <a:lstStyle/>
          <a:p>
            <a:pPr marL="0" indent="0">
              <a:buNone/>
            </a:pPr>
            <a:r>
              <a:rPr lang="en-US" sz="1700" b="1" dirty="0">
                <a:solidFill>
                  <a:srgbClr val="2F4858"/>
                </a:solidFill>
                <a:latin typeface="Cambria" pitchFamily="34" charset="0"/>
                <a:ea typeface="Cambria" pitchFamily="34" charset="-122"/>
                <a:cs typeface="Cambria" pitchFamily="34" charset="-120"/>
              </a:rPr>
              <a:t>Rahul</a:t>
            </a:r>
            <a:endParaRPr lang="en-US" sz="1700" dirty="0"/>
          </a:p>
        </p:txBody>
      </p:sp>
      <p:sp>
        <p:nvSpPr>
          <p:cNvPr id="34" name="Text 32"/>
          <p:cNvSpPr txBox="1"/>
          <p:nvPr/>
        </p:nvSpPr>
        <p:spPr>
          <a:xfrm>
            <a:off x="594360" y="3913632"/>
            <a:ext cx="3749040" cy="502920"/>
          </a:xfrm>
          <a:prstGeom prst="rect">
            <a:avLst/>
          </a:prstGeom>
          <a:noFill/>
          <a:ln/>
        </p:spPr>
        <p:txBody>
          <a:bodyPr wrap="square" lIns="0" tIns="0" rIns="0" bIns="0" rtlCol="0" anchor="t"/>
          <a:lstStyle/>
          <a:p>
            <a:pPr marL="0" indent="0">
              <a:buNone/>
            </a:pPr>
            <a:r>
              <a:rPr lang="en-US" sz="1400" dirty="0">
                <a:solidFill>
                  <a:srgbClr val="26343A"/>
                </a:solidFill>
                <a:latin typeface="Calibri" pitchFamily="34" charset="0"/>
                <a:ea typeface="Calibri" pitchFamily="34" charset="-122"/>
                <a:cs typeface="Calibri" pitchFamily="34" charset="-120"/>
              </a:rPr>
              <a:t>Kalman filters, synthetic signals, ESKF vs ground truth in simulation</a:t>
            </a:r>
            <a:endParaRPr lang="en-US" sz="1400" dirty="0"/>
          </a:p>
        </p:txBody>
      </p:sp>
      <p:sp>
        <p:nvSpPr>
          <p:cNvPr id="35" name="Card"/>
          <p:cNvSpPr/>
          <p:nvPr/>
        </p:nvSpPr>
        <p:spPr>
          <a:xfrm>
            <a:off x="4663440" y="3108960"/>
            <a:ext cx="4023360" cy="1371600"/>
          </a:xfrm>
          <a:prstGeom prst="roundRect">
            <a:avLst>
              <a:gd name="adj" fmla="val 5333"/>
            </a:avLst>
          </a:prstGeom>
          <a:solidFill>
            <a:srgbClr val="E3EBEA"/>
          </a:solidFill>
          <a:ln w="6350">
            <a:solidFill>
              <a:srgbClr val="E3EBEA"/>
            </a:solidFill>
            <a:prstDash val="solid"/>
          </a:ln>
        </p:spPr>
      </p:sp>
      <p:sp>
        <p:nvSpPr>
          <p:cNvPr id="36" name="Avatar"/>
          <p:cNvSpPr/>
          <p:nvPr/>
        </p:nvSpPr>
        <p:spPr>
          <a:xfrm>
            <a:off x="4800600" y="3246120"/>
            <a:ext cx="548640" cy="548640"/>
          </a:xfrm>
          <a:prstGeom prst="ellipse">
            <a:avLst/>
          </a:prstGeom>
          <a:solidFill>
            <a:srgbClr val="55808A"/>
          </a:solidFill>
          <a:ln w="6350">
            <a:solidFill>
              <a:srgbClr val="55808A"/>
            </a:solidFill>
            <a:prstDash val="solid"/>
          </a:ln>
        </p:spPr>
      </p:sp>
      <p:sp>
        <p:nvSpPr>
          <p:cNvPr id="37" name="Text 35"/>
          <p:cNvSpPr txBox="1"/>
          <p:nvPr/>
        </p:nvSpPr>
        <p:spPr>
          <a:xfrm>
            <a:off x="4800600" y="324612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M</a:t>
            </a:r>
            <a:endParaRPr lang="en-US" sz="1600" dirty="0"/>
          </a:p>
        </p:txBody>
      </p:sp>
      <p:sp>
        <p:nvSpPr>
          <p:cNvPr id="38" name="Text 36"/>
          <p:cNvSpPr txBox="1"/>
          <p:nvPr/>
        </p:nvSpPr>
        <p:spPr>
          <a:xfrm>
            <a:off x="5486400" y="3246120"/>
            <a:ext cx="3108960" cy="548640"/>
          </a:xfrm>
          <a:prstGeom prst="rect">
            <a:avLst/>
          </a:prstGeom>
          <a:noFill/>
          <a:ln/>
        </p:spPr>
        <p:txBody>
          <a:bodyPr wrap="square" lIns="0" tIns="0" rIns="0" bIns="0" rtlCol="0" anchor="ctr"/>
          <a:lstStyle/>
          <a:p>
            <a:pPr marL="0" indent="0">
              <a:buNone/>
            </a:pPr>
            <a:r>
              <a:rPr lang="en-US" sz="1700" b="1" dirty="0">
                <a:solidFill>
                  <a:srgbClr val="2F4858"/>
                </a:solidFill>
                <a:latin typeface="Cambria" pitchFamily="34" charset="0"/>
                <a:ea typeface="Cambria" pitchFamily="34" charset="-122"/>
                <a:cs typeface="Cambria" pitchFamily="34" charset="-120"/>
              </a:rPr>
              <a:t>Michelle</a:t>
            </a:r>
            <a:endParaRPr lang="en-US" sz="1700" dirty="0"/>
          </a:p>
        </p:txBody>
      </p:sp>
      <p:sp>
        <p:nvSpPr>
          <p:cNvPr id="39" name="Text 37"/>
          <p:cNvSpPr txBox="1"/>
          <p:nvPr/>
        </p:nvSpPr>
        <p:spPr>
          <a:xfrm>
            <a:off x="4800600" y="3913632"/>
            <a:ext cx="3749040" cy="502920"/>
          </a:xfrm>
          <a:prstGeom prst="rect">
            <a:avLst/>
          </a:prstGeom>
          <a:noFill/>
          <a:ln/>
        </p:spPr>
        <p:txBody>
          <a:bodyPr wrap="square" lIns="0" tIns="0" rIns="0" bIns="0" rtlCol="0" anchor="t"/>
          <a:lstStyle/>
          <a:p>
            <a:pPr marL="0" indent="0">
              <a:buNone/>
            </a:pPr>
            <a:r>
              <a:rPr lang="en-US" sz="1400" dirty="0">
                <a:solidFill>
                  <a:srgbClr val="26343A"/>
                </a:solidFill>
                <a:latin typeface="Calibri" pitchFamily="34" charset="0"/>
                <a:ea typeface="Calibri" pitchFamily="34" charset="-122"/>
                <a:cs typeface="Calibri" pitchFamily="34" charset="-120"/>
              </a:rPr>
              <a:t>Allan based noise model, i-ASL dataset, UWB positioning</a:t>
            </a:r>
            <a:endParaRPr lang="en-US" sz="1400" dirty="0"/>
          </a:p>
        </p:txBody>
      </p:sp>
      <p:sp>
        <p:nvSpPr>
          <p:cNvPr id="40"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10 TO 24  PHONE IMU, DRIFT AND NOISE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C58B5A"/>
          </a:solidFill>
          <a:ln w="3175">
            <a:solidFill>
              <a:srgbClr val="C58B5A"/>
            </a:solidFill>
            <a:prstDash val="solid"/>
          </a:ln>
        </p:spPr>
      </p:sp>
      <p:sp>
        <p:nvSpPr>
          <p:cNvPr id="7" name="Timeline E"/>
          <p:cNvSpPr/>
          <p:nvPr/>
        </p:nvSpPr>
        <p:spPr>
          <a:xfrm>
            <a:off x="5128054" y="429768"/>
            <a:ext cx="1334530" cy="82296"/>
          </a:xfrm>
          <a:prstGeom prst="roundRect">
            <a:avLst>
              <a:gd name="adj" fmla="val 44444"/>
            </a:avLst>
          </a:prstGeom>
          <a:solidFill>
            <a:srgbClr val="BFD0CF"/>
          </a:solidFill>
          <a:ln w="3175">
            <a:solidFill>
              <a:srgbClr val="BFD0CF"/>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The phone becomes our IMU</a:t>
            </a:r>
            <a:endParaRPr lang="en-US" sz="2600" dirty="0"/>
          </a:p>
        </p:txBody>
      </p:sp>
      <p:sp>
        <p:nvSpPr>
          <p:cNvPr id="15" name="Pipe 1"/>
          <p:cNvSpPr/>
          <p:nvPr/>
        </p:nvSpPr>
        <p:spPr>
          <a:xfrm>
            <a:off x="457200" y="1325880"/>
            <a:ext cx="1371600" cy="777240"/>
          </a:xfrm>
          <a:prstGeom prst="roundRect">
            <a:avLst>
              <a:gd name="adj" fmla="val 9412"/>
            </a:avLst>
          </a:prstGeom>
          <a:solidFill>
            <a:srgbClr val="E3EBEA"/>
          </a:solidFill>
          <a:ln w="9525">
            <a:solidFill>
              <a:srgbClr val="BFD0CF"/>
            </a:solidFill>
            <a:prstDash val="solid"/>
          </a:ln>
        </p:spPr>
      </p:sp>
      <p:sp>
        <p:nvSpPr>
          <p:cNvPr id="16" name="Text 14"/>
          <p:cNvSpPr txBox="1"/>
          <p:nvPr/>
        </p:nvSpPr>
        <p:spPr>
          <a:xfrm>
            <a:off x="493776" y="1325880"/>
            <a:ext cx="1298448" cy="77724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Phone</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SensorServer app</a:t>
            </a:r>
            <a:endParaRPr lang="en-US" sz="1200" dirty="0"/>
          </a:p>
        </p:txBody>
      </p:sp>
      <p:sp>
        <p:nvSpPr>
          <p:cNvPr id="17" name="Arrow"/>
          <p:cNvSpPr/>
          <p:nvPr/>
        </p:nvSpPr>
        <p:spPr>
          <a:xfrm>
            <a:off x="1856232" y="1591056"/>
            <a:ext cx="237744" cy="219456"/>
          </a:xfrm>
          <a:prstGeom prst="rightArrow">
            <a:avLst/>
          </a:prstGeom>
          <a:solidFill>
            <a:srgbClr val="55808A"/>
          </a:solidFill>
          <a:ln w="3175">
            <a:solidFill>
              <a:srgbClr val="55808A"/>
            </a:solidFill>
            <a:prstDash val="solid"/>
          </a:ln>
        </p:spPr>
      </p:sp>
      <p:sp>
        <p:nvSpPr>
          <p:cNvPr id="18" name="Pipe 2"/>
          <p:cNvSpPr/>
          <p:nvPr/>
        </p:nvSpPr>
        <p:spPr>
          <a:xfrm>
            <a:off x="2121408" y="1325880"/>
            <a:ext cx="1371600" cy="777240"/>
          </a:xfrm>
          <a:prstGeom prst="roundRect">
            <a:avLst>
              <a:gd name="adj" fmla="val 9412"/>
            </a:avLst>
          </a:prstGeom>
          <a:solidFill>
            <a:srgbClr val="E3EBEA"/>
          </a:solidFill>
          <a:ln w="9525">
            <a:solidFill>
              <a:srgbClr val="BFD0CF"/>
            </a:solidFill>
            <a:prstDash val="solid"/>
          </a:ln>
        </p:spPr>
      </p:sp>
      <p:sp>
        <p:nvSpPr>
          <p:cNvPr id="19" name="Text 17"/>
          <p:cNvSpPr txBox="1"/>
          <p:nvPr/>
        </p:nvSpPr>
        <p:spPr>
          <a:xfrm>
            <a:off x="2157984" y="1325880"/>
            <a:ext cx="1298448" cy="77724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USB cable</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adb forward :8080</a:t>
            </a:r>
            <a:endParaRPr lang="en-US" sz="1200" dirty="0"/>
          </a:p>
        </p:txBody>
      </p:sp>
      <p:sp>
        <p:nvSpPr>
          <p:cNvPr id="20" name="Arrow"/>
          <p:cNvSpPr/>
          <p:nvPr/>
        </p:nvSpPr>
        <p:spPr>
          <a:xfrm>
            <a:off x="3520440" y="1591056"/>
            <a:ext cx="237744" cy="219456"/>
          </a:xfrm>
          <a:prstGeom prst="rightArrow">
            <a:avLst/>
          </a:prstGeom>
          <a:solidFill>
            <a:srgbClr val="55808A"/>
          </a:solidFill>
          <a:ln w="3175">
            <a:solidFill>
              <a:srgbClr val="55808A"/>
            </a:solidFill>
            <a:prstDash val="solid"/>
          </a:ln>
        </p:spPr>
      </p:sp>
      <p:sp>
        <p:nvSpPr>
          <p:cNvPr id="21" name="Pipe 3"/>
          <p:cNvSpPr/>
          <p:nvPr/>
        </p:nvSpPr>
        <p:spPr>
          <a:xfrm>
            <a:off x="3785616" y="1325880"/>
            <a:ext cx="1371600" cy="777240"/>
          </a:xfrm>
          <a:prstGeom prst="roundRect">
            <a:avLst>
              <a:gd name="adj" fmla="val 9412"/>
            </a:avLst>
          </a:prstGeom>
          <a:solidFill>
            <a:srgbClr val="E3EBEA"/>
          </a:solidFill>
          <a:ln w="9525">
            <a:solidFill>
              <a:srgbClr val="BFD0CF"/>
            </a:solidFill>
            <a:prstDash val="solid"/>
          </a:ln>
        </p:spPr>
      </p:sp>
      <p:sp>
        <p:nvSpPr>
          <p:cNvPr id="22" name="Text 20"/>
          <p:cNvSpPr txBox="1"/>
          <p:nvPr/>
        </p:nvSpPr>
        <p:spPr>
          <a:xfrm>
            <a:off x="3822192" y="1325880"/>
            <a:ext cx="1298448" cy="77724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WebSocket</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every event</a:t>
            </a:r>
            <a:endParaRPr lang="en-US" sz="1200" dirty="0"/>
          </a:p>
        </p:txBody>
      </p:sp>
      <p:sp>
        <p:nvSpPr>
          <p:cNvPr id="23" name="Arrow"/>
          <p:cNvSpPr/>
          <p:nvPr/>
        </p:nvSpPr>
        <p:spPr>
          <a:xfrm>
            <a:off x="5184648" y="1591056"/>
            <a:ext cx="237744" cy="219456"/>
          </a:xfrm>
          <a:prstGeom prst="rightArrow">
            <a:avLst/>
          </a:prstGeom>
          <a:solidFill>
            <a:srgbClr val="55808A"/>
          </a:solidFill>
          <a:ln w="3175">
            <a:solidFill>
              <a:srgbClr val="55808A"/>
            </a:solidFill>
            <a:prstDash val="solid"/>
          </a:ln>
        </p:spPr>
      </p:sp>
      <p:sp>
        <p:nvSpPr>
          <p:cNvPr id="24" name="Pipe 4"/>
          <p:cNvSpPr/>
          <p:nvPr/>
        </p:nvSpPr>
        <p:spPr>
          <a:xfrm>
            <a:off x="5449824" y="1325880"/>
            <a:ext cx="1371600" cy="777240"/>
          </a:xfrm>
          <a:prstGeom prst="roundRect">
            <a:avLst>
              <a:gd name="adj" fmla="val 9412"/>
            </a:avLst>
          </a:prstGeom>
          <a:solidFill>
            <a:srgbClr val="E3EBEA"/>
          </a:solidFill>
          <a:ln w="9525">
            <a:solidFill>
              <a:srgbClr val="BFD0CF"/>
            </a:solidFill>
            <a:prstDash val="solid"/>
          </a:ln>
        </p:spPr>
      </p:sp>
      <p:sp>
        <p:nvSpPr>
          <p:cNvPr id="25" name="Text 23"/>
          <p:cNvSpPr txBox="1"/>
          <p:nvPr/>
        </p:nvSpPr>
        <p:spPr>
          <a:xfrm>
            <a:off x="5486400" y="1325880"/>
            <a:ext cx="1298448" cy="777240"/>
          </a:xfrm>
          <a:prstGeom prst="rect">
            <a:avLst/>
          </a:prstGeom>
          <a:noFill/>
          <a:ln/>
        </p:spPr>
        <p:txBody>
          <a:bodyPr wrap="square" lIns="0" tIns="0" rIns="0" bIns="0" rtlCol="0" anchor="ctr"/>
          <a:lstStyle/>
          <a:p>
            <a:pPr marL="0" indent="0" algn="ctr">
              <a:buNone/>
            </a:pPr>
            <a:r>
              <a:rPr lang="en-US" sz="1200" dirty="0">
                <a:solidFill>
                  <a:srgbClr val="26343A"/>
                </a:solidFill>
                <a:latin typeface="Calibri" pitchFamily="34" charset="0"/>
                <a:ea typeface="Calibri" pitchFamily="34" charset="-122"/>
                <a:cs typeface="Calibri" pitchFamily="34" charset="-120"/>
              </a:rPr>
              <a:t>Python logger</a:t>
            </a:r>
            <a:endParaRPr lang="en-US" sz="1200" dirty="0"/>
          </a:p>
          <a:p>
            <a:pPr marL="0" indent="0" algn="ctr">
              <a:buNone/>
            </a:pPr>
            <a:r>
              <a:rPr lang="en-US" sz="1200" dirty="0">
                <a:solidFill>
                  <a:srgbClr val="26343A"/>
                </a:solidFill>
                <a:latin typeface="Calibri" pitchFamily="34" charset="0"/>
                <a:ea typeface="Calibri" pitchFamily="34" charset="-122"/>
                <a:cs typeface="Calibri" pitchFamily="34" charset="-120"/>
              </a:rPr>
              <a:t>hardware timestamps</a:t>
            </a:r>
            <a:endParaRPr lang="en-US" sz="1200" dirty="0"/>
          </a:p>
        </p:txBody>
      </p:sp>
      <p:sp>
        <p:nvSpPr>
          <p:cNvPr id="26" name="Arrow"/>
          <p:cNvSpPr/>
          <p:nvPr/>
        </p:nvSpPr>
        <p:spPr>
          <a:xfrm>
            <a:off x="6848856" y="1591056"/>
            <a:ext cx="237744" cy="219456"/>
          </a:xfrm>
          <a:prstGeom prst="rightArrow">
            <a:avLst/>
          </a:prstGeom>
          <a:solidFill>
            <a:srgbClr val="55808A"/>
          </a:solidFill>
          <a:ln w="3175">
            <a:solidFill>
              <a:srgbClr val="55808A"/>
            </a:solidFill>
            <a:prstDash val="solid"/>
          </a:ln>
        </p:spPr>
      </p:sp>
      <p:sp>
        <p:nvSpPr>
          <p:cNvPr id="27" name="Pipe 5"/>
          <p:cNvSpPr/>
          <p:nvPr/>
        </p:nvSpPr>
        <p:spPr>
          <a:xfrm>
            <a:off x="7114032" y="1325880"/>
            <a:ext cx="1371600" cy="777240"/>
          </a:xfrm>
          <a:prstGeom prst="roundRect">
            <a:avLst>
              <a:gd name="adj" fmla="val 9412"/>
            </a:avLst>
          </a:prstGeom>
          <a:solidFill>
            <a:srgbClr val="2F4858"/>
          </a:solidFill>
          <a:ln w="9525">
            <a:solidFill>
              <a:srgbClr val="2F4858"/>
            </a:solidFill>
            <a:prstDash val="solid"/>
          </a:ln>
        </p:spPr>
      </p:sp>
      <p:sp>
        <p:nvSpPr>
          <p:cNvPr id="28" name="Text 26"/>
          <p:cNvSpPr txBox="1"/>
          <p:nvPr/>
        </p:nvSpPr>
        <p:spPr>
          <a:xfrm>
            <a:off x="7150608" y="1325880"/>
            <a:ext cx="1298448"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imu.csv</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 raw streams</a:t>
            </a:r>
            <a:endParaRPr lang="en-US" sz="1200" dirty="0"/>
          </a:p>
        </p:txBody>
      </p:sp>
      <p:pic>
        <p:nvPicPr>
          <p:cNvPr id="29" name="Image dt_hist.png" descr="/tmp/claude-0/-home-claude/754ab589-6f62-5f2f-8c52-b16fa7cef1a3/scratchpad/assets/dt_hist.png"/>
          <p:cNvPicPr>
            <a:picLocks noChangeAspect="1"/>
          </p:cNvPicPr>
          <p:nvPr/>
        </p:nvPicPr>
        <p:blipFill>
          <a:blip r:embed="rId3"/>
          <a:stretch>
            <a:fillRect/>
          </a:stretch>
        </p:blipFill>
        <p:spPr>
          <a:xfrm>
            <a:off x="457200" y="2370909"/>
            <a:ext cx="4023360" cy="2299063"/>
          </a:xfrm>
          <a:prstGeom prst="rect">
            <a:avLst/>
          </a:prstGeom>
        </p:spPr>
      </p:pic>
      <p:sp>
        <p:nvSpPr>
          <p:cNvPr id="30" name="Tile"/>
          <p:cNvSpPr/>
          <p:nvPr/>
        </p:nvSpPr>
        <p:spPr>
          <a:xfrm>
            <a:off x="4709160" y="2286000"/>
            <a:ext cx="1783080" cy="1097280"/>
          </a:xfrm>
          <a:prstGeom prst="roundRect">
            <a:avLst>
              <a:gd name="adj" fmla="val 6667"/>
            </a:avLst>
          </a:prstGeom>
          <a:solidFill>
            <a:srgbClr val="E3EBEA"/>
          </a:solidFill>
          <a:ln w="6350">
            <a:solidFill>
              <a:srgbClr val="E3EBEA"/>
            </a:solidFill>
            <a:prstDash val="solid"/>
          </a:ln>
        </p:spPr>
      </p:sp>
      <p:sp>
        <p:nvSpPr>
          <p:cNvPr id="31" name="Text 28"/>
          <p:cNvSpPr txBox="1"/>
          <p:nvPr/>
        </p:nvSpPr>
        <p:spPr>
          <a:xfrm>
            <a:off x="4846320" y="2359152"/>
            <a:ext cx="1508760" cy="548640"/>
          </a:xfrm>
          <a:prstGeom prst="rect">
            <a:avLst/>
          </a:prstGeom>
          <a:noFill/>
          <a:ln/>
        </p:spPr>
        <p:txBody>
          <a:bodyPr wrap="square" lIns="0" tIns="0" rIns="0" bIns="0" rtlCol="0" anchor="ctr"/>
          <a:lstStyle/>
          <a:p>
            <a:pPr marL="0" indent="0">
              <a:buNone/>
            </a:pPr>
            <a:r>
              <a:rPr lang="en-US" sz="2400" b="1" dirty="0">
                <a:solidFill>
                  <a:srgbClr val="2F4858"/>
                </a:solidFill>
                <a:latin typeface="Cambria" pitchFamily="34" charset="0"/>
                <a:ea typeface="Cambria" pitchFamily="34" charset="-122"/>
                <a:cs typeface="Cambria" pitchFamily="34" charset="-120"/>
              </a:rPr>
              <a:t>395 Hz</a:t>
            </a:r>
            <a:endParaRPr lang="en-US" sz="2400" dirty="0"/>
          </a:p>
        </p:txBody>
      </p:sp>
      <p:sp>
        <p:nvSpPr>
          <p:cNvPr id="32" name="Text 29"/>
          <p:cNvSpPr txBox="1"/>
          <p:nvPr/>
        </p:nvSpPr>
        <p:spPr>
          <a:xfrm>
            <a:off x="4846320" y="2889504"/>
            <a:ext cx="1508760" cy="460858"/>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the rate that held, every event kept</a:t>
            </a:r>
            <a:endParaRPr lang="en-US" sz="1200" dirty="0"/>
          </a:p>
        </p:txBody>
      </p:sp>
      <p:sp>
        <p:nvSpPr>
          <p:cNvPr id="33" name="Tile"/>
          <p:cNvSpPr/>
          <p:nvPr/>
        </p:nvSpPr>
        <p:spPr>
          <a:xfrm>
            <a:off x="6675120" y="2286000"/>
            <a:ext cx="2011680" cy="1097280"/>
          </a:xfrm>
          <a:prstGeom prst="roundRect">
            <a:avLst>
              <a:gd name="adj" fmla="val 6667"/>
            </a:avLst>
          </a:prstGeom>
          <a:solidFill>
            <a:srgbClr val="E3EBEA"/>
          </a:solidFill>
          <a:ln w="6350">
            <a:solidFill>
              <a:srgbClr val="E3EBEA"/>
            </a:solidFill>
            <a:prstDash val="solid"/>
          </a:ln>
        </p:spPr>
      </p:sp>
      <p:sp>
        <p:nvSpPr>
          <p:cNvPr id="34" name="Text 31"/>
          <p:cNvSpPr txBox="1"/>
          <p:nvPr/>
        </p:nvSpPr>
        <p:spPr>
          <a:xfrm>
            <a:off x="6812280" y="2359152"/>
            <a:ext cx="1737360" cy="548640"/>
          </a:xfrm>
          <a:prstGeom prst="rect">
            <a:avLst/>
          </a:prstGeom>
          <a:noFill/>
          <a:ln/>
        </p:spPr>
        <p:txBody>
          <a:bodyPr wrap="square" lIns="0" tIns="0" rIns="0" bIns="0" rtlCol="0" anchor="ctr"/>
          <a:lstStyle/>
          <a:p>
            <a:pPr marL="0" indent="0">
              <a:buNone/>
            </a:pPr>
            <a:r>
              <a:rPr lang="en-US" sz="2400" b="1" dirty="0">
                <a:solidFill>
                  <a:srgbClr val="2F4858"/>
                </a:solidFill>
                <a:latin typeface="Cambria" pitchFamily="34" charset="0"/>
                <a:ea typeface="Cambria" pitchFamily="34" charset="-122"/>
                <a:cs typeface="Cambria" pitchFamily="34" charset="-120"/>
              </a:rPr>
              <a:t>3 µs</a:t>
            </a:r>
            <a:endParaRPr lang="en-US" sz="2400" dirty="0"/>
          </a:p>
        </p:txBody>
      </p:sp>
      <p:sp>
        <p:nvSpPr>
          <p:cNvPr id="35" name="Text 32"/>
          <p:cNvSpPr txBox="1"/>
          <p:nvPr/>
        </p:nvSpPr>
        <p:spPr>
          <a:xfrm>
            <a:off x="6812280" y="2889504"/>
            <a:ext cx="1737360" cy="460858"/>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timing jitter, std</a:t>
            </a:r>
            <a:endParaRPr lang="en-US" sz="1200" dirty="0"/>
          </a:p>
        </p:txBody>
      </p:sp>
      <p:sp>
        <p:nvSpPr>
          <p:cNvPr id="36" name="Tile"/>
          <p:cNvSpPr/>
          <p:nvPr/>
        </p:nvSpPr>
        <p:spPr>
          <a:xfrm>
            <a:off x="4709160" y="3520440"/>
            <a:ext cx="1783080" cy="1188720"/>
          </a:xfrm>
          <a:prstGeom prst="roundRect">
            <a:avLst>
              <a:gd name="adj" fmla="val 6154"/>
            </a:avLst>
          </a:prstGeom>
          <a:solidFill>
            <a:srgbClr val="E3EBEA"/>
          </a:solidFill>
          <a:ln w="6350">
            <a:solidFill>
              <a:srgbClr val="E3EBEA"/>
            </a:solidFill>
            <a:prstDash val="solid"/>
          </a:ln>
        </p:spPr>
      </p:sp>
      <p:sp>
        <p:nvSpPr>
          <p:cNvPr id="37" name="Text 34"/>
          <p:cNvSpPr txBox="1"/>
          <p:nvPr/>
        </p:nvSpPr>
        <p:spPr>
          <a:xfrm>
            <a:off x="4846320" y="3593592"/>
            <a:ext cx="1508760" cy="594360"/>
          </a:xfrm>
          <a:prstGeom prst="rect">
            <a:avLst/>
          </a:prstGeom>
          <a:noFill/>
          <a:ln/>
        </p:spPr>
        <p:txBody>
          <a:bodyPr wrap="square" lIns="0" tIns="0" rIns="0" bIns="0" rtlCol="0" anchor="ctr"/>
          <a:lstStyle/>
          <a:p>
            <a:pPr marL="0" indent="0">
              <a:buNone/>
            </a:pPr>
            <a:r>
              <a:rPr lang="en-US" sz="2400" b="1" dirty="0">
                <a:solidFill>
                  <a:srgbClr val="2F4858"/>
                </a:solidFill>
                <a:latin typeface="Cambria" pitchFamily="34" charset="0"/>
                <a:ea typeface="Cambria" pitchFamily="34" charset="-122"/>
                <a:cs typeface="Cambria" pitchFamily="34" charset="-120"/>
              </a:rPr>
              <a:t>0 lost</a:t>
            </a:r>
            <a:endParaRPr lang="en-US" sz="2400" dirty="0"/>
          </a:p>
        </p:txBody>
      </p:sp>
      <p:sp>
        <p:nvSpPr>
          <p:cNvPr id="38" name="Text 35"/>
          <p:cNvSpPr txBox="1"/>
          <p:nvPr/>
        </p:nvSpPr>
        <p:spPr>
          <a:xfrm>
            <a:off x="4846320" y="4174236"/>
            <a:ext cx="1508760" cy="499262"/>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of 1.42 million samples in an hour</a:t>
            </a:r>
            <a:endParaRPr lang="en-US" sz="1200" dirty="0"/>
          </a:p>
        </p:txBody>
      </p:sp>
      <p:sp>
        <p:nvSpPr>
          <p:cNvPr id="39" name="Tile"/>
          <p:cNvSpPr/>
          <p:nvPr/>
        </p:nvSpPr>
        <p:spPr>
          <a:xfrm>
            <a:off x="6675120" y="3520440"/>
            <a:ext cx="2011680" cy="1188720"/>
          </a:xfrm>
          <a:prstGeom prst="roundRect">
            <a:avLst>
              <a:gd name="adj" fmla="val 6154"/>
            </a:avLst>
          </a:prstGeom>
          <a:solidFill>
            <a:srgbClr val="E3EBEA"/>
          </a:solidFill>
          <a:ln w="6350">
            <a:solidFill>
              <a:srgbClr val="E3EBEA"/>
            </a:solidFill>
            <a:prstDash val="solid"/>
          </a:ln>
        </p:spPr>
      </p:sp>
      <p:sp>
        <p:nvSpPr>
          <p:cNvPr id="40" name="Text 37"/>
          <p:cNvSpPr txBox="1"/>
          <p:nvPr/>
        </p:nvSpPr>
        <p:spPr>
          <a:xfrm>
            <a:off x="6812280" y="3537320"/>
            <a:ext cx="1737360" cy="594360"/>
          </a:xfrm>
          <a:prstGeom prst="rect">
            <a:avLst/>
          </a:prstGeom>
          <a:noFill/>
          <a:ln/>
        </p:spPr>
        <p:txBody>
          <a:bodyPr wrap="square" lIns="0" tIns="0" rIns="0" bIns="0" rtlCol="0" anchor="ctr"/>
          <a:lstStyle/>
          <a:p>
            <a:pPr marL="0" indent="0">
              <a:buNone/>
            </a:pPr>
            <a:r>
              <a:rPr lang="en-US" sz="2400" b="1" dirty="0">
                <a:solidFill>
                  <a:srgbClr val="2F4858"/>
                </a:solidFill>
                <a:latin typeface="Cambria" pitchFamily="34" charset="0"/>
                <a:ea typeface="Cambria" pitchFamily="34" charset="-122"/>
                <a:cs typeface="Cambria" pitchFamily="34" charset="-120"/>
              </a:rPr>
              <a:t>Phone IMU</a:t>
            </a:r>
            <a:endParaRPr lang="en-US" sz="2400" dirty="0"/>
          </a:p>
        </p:txBody>
      </p:sp>
      <p:sp>
        <p:nvSpPr>
          <p:cNvPr id="41" name="Text 38"/>
          <p:cNvSpPr txBox="1"/>
          <p:nvPr/>
        </p:nvSpPr>
        <p:spPr>
          <a:xfrm>
            <a:off x="6812280" y="4089828"/>
            <a:ext cx="1737360" cy="499262"/>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Bosch BMI26x in a CPH2661, accel + gyro, AK0991x Magnetometer</a:t>
            </a:r>
            <a:endParaRPr lang="en-US" sz="1200" dirty="0"/>
          </a:p>
        </p:txBody>
      </p:sp>
      <p:sp>
        <p:nvSpPr>
          <p:cNvPr id="42"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10 TO 24  PHONE IMU, DRIFT AND NOISE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C58B5A"/>
          </a:solidFill>
          <a:ln w="3175">
            <a:solidFill>
              <a:srgbClr val="C58B5A"/>
            </a:solidFill>
            <a:prstDash val="solid"/>
          </a:ln>
        </p:spPr>
      </p:sp>
      <p:sp>
        <p:nvSpPr>
          <p:cNvPr id="7" name="Timeline E"/>
          <p:cNvSpPr/>
          <p:nvPr/>
        </p:nvSpPr>
        <p:spPr>
          <a:xfrm>
            <a:off x="5128054" y="429768"/>
            <a:ext cx="1334530" cy="82296"/>
          </a:xfrm>
          <a:prstGeom prst="roundRect">
            <a:avLst>
              <a:gd name="adj" fmla="val 44444"/>
            </a:avLst>
          </a:prstGeom>
          <a:solidFill>
            <a:srgbClr val="BFD0CF"/>
          </a:solidFill>
          <a:ln w="3175">
            <a:solidFill>
              <a:srgbClr val="BFD0CF"/>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Static Sampling for Noise Evaluation</a:t>
            </a:r>
            <a:endParaRPr lang="en-US" sz="2600" dirty="0"/>
          </a:p>
        </p:txBody>
      </p:sp>
      <p:pic>
        <p:nvPicPr>
          <p:cNvPr id="15" name="Image stillness.png" descr="/tmp/claude-0/-home-claude/754ab589-6f62-5f2f-8c52-b16fa7cef1a3/scratchpad/assets/stillness.png"/>
          <p:cNvPicPr>
            <a:picLocks noChangeAspect="1"/>
          </p:cNvPicPr>
          <p:nvPr/>
        </p:nvPicPr>
        <p:blipFill>
          <a:blip r:embed="rId3"/>
          <a:stretch>
            <a:fillRect/>
          </a:stretch>
        </p:blipFill>
        <p:spPr>
          <a:xfrm>
            <a:off x="457200" y="1280160"/>
            <a:ext cx="8229600" cy="2468880"/>
          </a:xfrm>
          <a:prstGeom prst="rect">
            <a:avLst/>
          </a:prstGeom>
        </p:spPr>
      </p:pic>
      <p:sp>
        <p:nvSpPr>
          <p:cNvPr id="16" name="Tile"/>
          <p:cNvSpPr/>
          <p:nvPr/>
        </p:nvSpPr>
        <p:spPr>
          <a:xfrm>
            <a:off x="457200" y="3886200"/>
            <a:ext cx="2651760" cy="868680"/>
          </a:xfrm>
          <a:prstGeom prst="roundRect">
            <a:avLst>
              <a:gd name="adj" fmla="val 8421"/>
            </a:avLst>
          </a:prstGeom>
          <a:solidFill>
            <a:srgbClr val="E3EBEA"/>
          </a:solidFill>
          <a:ln w="6350">
            <a:solidFill>
              <a:srgbClr val="E3EBEA"/>
            </a:solidFill>
            <a:prstDash val="solid"/>
          </a:ln>
        </p:spPr>
      </p:sp>
      <p:sp>
        <p:nvSpPr>
          <p:cNvPr id="17" name="Text 14"/>
          <p:cNvSpPr txBox="1"/>
          <p:nvPr/>
        </p:nvSpPr>
        <p:spPr>
          <a:xfrm>
            <a:off x="594360" y="3959352"/>
            <a:ext cx="2377440" cy="434340"/>
          </a:xfrm>
          <a:prstGeom prst="rect">
            <a:avLst/>
          </a:prstGeom>
          <a:noFill/>
          <a:ln/>
        </p:spPr>
        <p:txBody>
          <a:bodyPr wrap="square" lIns="0" tIns="0" rIns="0" bIns="0" rtlCol="0" anchor="ctr"/>
          <a:lstStyle/>
          <a:p>
            <a:pPr marL="0" indent="0">
              <a:buNone/>
            </a:pPr>
            <a:r>
              <a:rPr lang="en-US" sz="2200" b="1" dirty="0">
                <a:solidFill>
                  <a:srgbClr val="2F4858"/>
                </a:solidFill>
                <a:latin typeface="Cambria" pitchFamily="34" charset="0"/>
                <a:ea typeface="Cambria" pitchFamily="34" charset="-122"/>
                <a:cs typeface="Cambria" pitchFamily="34" charset="-120"/>
              </a:rPr>
              <a:t>0.69 %</a:t>
            </a:r>
            <a:endParaRPr lang="en-US" sz="2200" dirty="0"/>
          </a:p>
        </p:txBody>
      </p:sp>
      <p:sp>
        <p:nvSpPr>
          <p:cNvPr id="18" name="Text 15"/>
          <p:cNvSpPr txBox="1"/>
          <p:nvPr/>
        </p:nvSpPr>
        <p:spPr>
          <a:xfrm>
            <a:off x="594360" y="4363974"/>
            <a:ext cx="2377440" cy="364846"/>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of the hour disturbed</a:t>
            </a:r>
            <a:endParaRPr lang="en-US" sz="1200" dirty="0"/>
          </a:p>
        </p:txBody>
      </p:sp>
      <p:sp>
        <p:nvSpPr>
          <p:cNvPr id="19" name="Tile"/>
          <p:cNvSpPr/>
          <p:nvPr/>
        </p:nvSpPr>
        <p:spPr>
          <a:xfrm>
            <a:off x="3246120" y="3886200"/>
            <a:ext cx="2651760" cy="868680"/>
          </a:xfrm>
          <a:prstGeom prst="roundRect">
            <a:avLst>
              <a:gd name="adj" fmla="val 8421"/>
            </a:avLst>
          </a:prstGeom>
          <a:solidFill>
            <a:srgbClr val="E3EBEA"/>
          </a:solidFill>
          <a:ln w="6350">
            <a:solidFill>
              <a:srgbClr val="E3EBEA"/>
            </a:solidFill>
            <a:prstDash val="solid"/>
          </a:ln>
        </p:spPr>
      </p:sp>
      <p:sp>
        <p:nvSpPr>
          <p:cNvPr id="20" name="Text 17"/>
          <p:cNvSpPr txBox="1"/>
          <p:nvPr/>
        </p:nvSpPr>
        <p:spPr>
          <a:xfrm>
            <a:off x="3383280" y="3959352"/>
            <a:ext cx="2377440" cy="434340"/>
          </a:xfrm>
          <a:prstGeom prst="rect">
            <a:avLst/>
          </a:prstGeom>
          <a:noFill/>
          <a:ln/>
        </p:spPr>
        <p:txBody>
          <a:bodyPr wrap="square" lIns="0" tIns="0" rIns="0" bIns="0" rtlCol="0" anchor="ctr"/>
          <a:lstStyle/>
          <a:p>
            <a:pPr marL="0" indent="0">
              <a:buNone/>
            </a:pPr>
            <a:r>
              <a:rPr lang="en-US" sz="2200" b="1" dirty="0">
                <a:solidFill>
                  <a:srgbClr val="2F4858"/>
                </a:solidFill>
                <a:latin typeface="Cambria" pitchFamily="34" charset="0"/>
                <a:ea typeface="Cambria" pitchFamily="34" charset="-122"/>
                <a:cs typeface="Cambria" pitchFamily="34" charset="-120"/>
              </a:rPr>
              <a:t>19 min</a:t>
            </a:r>
            <a:endParaRPr lang="en-US" sz="2200" dirty="0"/>
          </a:p>
        </p:txBody>
      </p:sp>
      <p:sp>
        <p:nvSpPr>
          <p:cNvPr id="21" name="Text 18"/>
          <p:cNvSpPr txBox="1"/>
          <p:nvPr/>
        </p:nvSpPr>
        <p:spPr>
          <a:xfrm>
            <a:off x="3383280" y="4363974"/>
            <a:ext cx="2377440" cy="364846"/>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clean stretch used for the noise model</a:t>
            </a:r>
            <a:endParaRPr lang="en-US" sz="1200" dirty="0"/>
          </a:p>
        </p:txBody>
      </p:sp>
      <p:sp>
        <p:nvSpPr>
          <p:cNvPr id="22" name="Tile"/>
          <p:cNvSpPr/>
          <p:nvPr/>
        </p:nvSpPr>
        <p:spPr>
          <a:xfrm>
            <a:off x="6035040" y="3886200"/>
            <a:ext cx="2651760" cy="868680"/>
          </a:xfrm>
          <a:prstGeom prst="roundRect">
            <a:avLst>
              <a:gd name="adj" fmla="val 8421"/>
            </a:avLst>
          </a:prstGeom>
          <a:solidFill>
            <a:srgbClr val="E3EBEA"/>
          </a:solidFill>
          <a:ln w="6350">
            <a:solidFill>
              <a:srgbClr val="E3EBEA"/>
            </a:solidFill>
            <a:prstDash val="solid"/>
          </a:ln>
        </p:spPr>
      </p:sp>
      <p:sp>
        <p:nvSpPr>
          <p:cNvPr id="23" name="Text 20"/>
          <p:cNvSpPr txBox="1"/>
          <p:nvPr/>
        </p:nvSpPr>
        <p:spPr>
          <a:xfrm>
            <a:off x="6172200" y="3959352"/>
            <a:ext cx="2377440" cy="434340"/>
          </a:xfrm>
          <a:prstGeom prst="rect">
            <a:avLst/>
          </a:prstGeom>
          <a:noFill/>
          <a:ln/>
        </p:spPr>
        <p:txBody>
          <a:bodyPr wrap="square" lIns="0" tIns="0" rIns="0" bIns="0" rtlCol="0" anchor="ctr"/>
          <a:lstStyle/>
          <a:p>
            <a:pPr marL="0" indent="0">
              <a:buNone/>
            </a:pPr>
            <a:r>
              <a:rPr lang="en-US" sz="2200" b="1" dirty="0">
                <a:solidFill>
                  <a:srgbClr val="2F4858"/>
                </a:solidFill>
                <a:latin typeface="Cambria" pitchFamily="34" charset="0"/>
                <a:ea typeface="Cambria" pitchFamily="34" charset="-122"/>
                <a:cs typeface="Cambria" pitchFamily="34" charset="-120"/>
              </a:rPr>
              <a:t>33 to 36 °C</a:t>
            </a:r>
            <a:endParaRPr lang="en-US" sz="2200" dirty="0"/>
          </a:p>
        </p:txBody>
      </p:sp>
      <p:sp>
        <p:nvSpPr>
          <p:cNvPr id="24" name="Text 21"/>
          <p:cNvSpPr txBox="1"/>
          <p:nvPr/>
        </p:nvSpPr>
        <p:spPr>
          <a:xfrm>
            <a:off x="6172200" y="4363974"/>
            <a:ext cx="2377440" cy="364846"/>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battery temperature over the run</a:t>
            </a:r>
            <a:endParaRPr lang="en-US" sz="12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10 TO 24  PHONE IMU, DRIFT AND NOISE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C58B5A"/>
          </a:solidFill>
          <a:ln w="3175">
            <a:solidFill>
              <a:srgbClr val="C58B5A"/>
            </a:solidFill>
            <a:prstDash val="solid"/>
          </a:ln>
        </p:spPr>
      </p:sp>
      <p:sp>
        <p:nvSpPr>
          <p:cNvPr id="7" name="Timeline E"/>
          <p:cNvSpPr/>
          <p:nvPr/>
        </p:nvSpPr>
        <p:spPr>
          <a:xfrm>
            <a:off x="5128054" y="429768"/>
            <a:ext cx="1334530" cy="82296"/>
          </a:xfrm>
          <a:prstGeom prst="roundRect">
            <a:avLst>
              <a:gd name="adj" fmla="val 44444"/>
            </a:avLst>
          </a:prstGeom>
          <a:solidFill>
            <a:srgbClr val="BFD0CF"/>
          </a:solidFill>
          <a:ln w="3175">
            <a:solidFill>
              <a:srgbClr val="BFD0CF"/>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Allan Deviation and Variance</a:t>
            </a:r>
            <a:endParaRPr lang="en-US" sz="2600" dirty="0"/>
          </a:p>
        </p:txBody>
      </p:sp>
      <p:pic>
        <p:nvPicPr>
          <p:cNvPr id="15" name="Image allan.png" descr="/tmp/claude-0/-home-claude/754ab589-6f62-5f2f-8c52-b16fa7cef1a3/scratchpad/assets/allan.png"/>
          <p:cNvPicPr>
            <a:picLocks noChangeAspect="1"/>
          </p:cNvPicPr>
          <p:nvPr/>
        </p:nvPicPr>
        <p:blipFill>
          <a:blip r:embed="rId3"/>
          <a:stretch>
            <a:fillRect/>
          </a:stretch>
        </p:blipFill>
        <p:spPr>
          <a:xfrm>
            <a:off x="485775" y="1234440"/>
            <a:ext cx="8172450" cy="3017520"/>
          </a:xfrm>
          <a:prstGeom prst="rect">
            <a:avLst/>
          </a:prstGeom>
        </p:spPr>
      </p:pic>
      <p:sp>
        <p:nvSpPr>
          <p:cNvPr id="16" name="Tile"/>
          <p:cNvSpPr/>
          <p:nvPr/>
        </p:nvSpPr>
        <p:spPr>
          <a:xfrm>
            <a:off x="457200" y="4343400"/>
            <a:ext cx="2651760" cy="566928"/>
          </a:xfrm>
          <a:prstGeom prst="roundRect">
            <a:avLst>
              <a:gd name="adj" fmla="val 12903"/>
            </a:avLst>
          </a:prstGeom>
          <a:solidFill>
            <a:srgbClr val="E3EBEA"/>
          </a:solidFill>
          <a:ln w="6350">
            <a:solidFill>
              <a:srgbClr val="E3EBEA"/>
            </a:solidFill>
            <a:prstDash val="solid"/>
          </a:ln>
        </p:spPr>
      </p:sp>
      <p:sp>
        <p:nvSpPr>
          <p:cNvPr id="17" name="Text 14"/>
          <p:cNvSpPr txBox="1"/>
          <p:nvPr/>
        </p:nvSpPr>
        <p:spPr>
          <a:xfrm>
            <a:off x="594360" y="4416552"/>
            <a:ext cx="2377440" cy="283464"/>
          </a:xfrm>
          <a:prstGeom prst="rect">
            <a:avLst/>
          </a:prstGeom>
          <a:noFill/>
          <a:ln/>
        </p:spPr>
        <p:txBody>
          <a:bodyPr wrap="square" lIns="0" tIns="0" rIns="0" bIns="0" rtlCol="0" anchor="ctr"/>
          <a:lstStyle/>
          <a:p>
            <a:pPr marL="0" indent="0">
              <a:buNone/>
            </a:pPr>
            <a:r>
              <a:rPr lang="en-US" sz="1800" b="1" dirty="0">
                <a:solidFill>
                  <a:srgbClr val="2F4858"/>
                </a:solidFill>
                <a:latin typeface="Cambria" pitchFamily="34" charset="0"/>
                <a:ea typeface="Cambria" pitchFamily="34" charset="-122"/>
                <a:cs typeface="Cambria" pitchFamily="34" charset="-120"/>
              </a:rPr>
              <a:t>15 °/h</a:t>
            </a:r>
            <a:endParaRPr lang="en-US" sz="1800" dirty="0"/>
          </a:p>
        </p:txBody>
      </p:sp>
      <p:sp>
        <p:nvSpPr>
          <p:cNvPr id="18" name="Text 15"/>
          <p:cNvSpPr txBox="1"/>
          <p:nvPr/>
        </p:nvSpPr>
        <p:spPr>
          <a:xfrm>
            <a:off x="594360" y="4655210"/>
            <a:ext cx="2377440" cy="23811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gyro bias instability</a:t>
            </a:r>
            <a:endParaRPr lang="en-US" sz="1200" dirty="0"/>
          </a:p>
        </p:txBody>
      </p:sp>
      <p:sp>
        <p:nvSpPr>
          <p:cNvPr id="19" name="Tile"/>
          <p:cNvSpPr/>
          <p:nvPr/>
        </p:nvSpPr>
        <p:spPr>
          <a:xfrm>
            <a:off x="3246120" y="4343400"/>
            <a:ext cx="2651760" cy="566928"/>
          </a:xfrm>
          <a:prstGeom prst="roundRect">
            <a:avLst>
              <a:gd name="adj" fmla="val 12903"/>
            </a:avLst>
          </a:prstGeom>
          <a:solidFill>
            <a:srgbClr val="E3EBEA"/>
          </a:solidFill>
          <a:ln w="6350">
            <a:solidFill>
              <a:srgbClr val="E3EBEA"/>
            </a:solidFill>
            <a:prstDash val="solid"/>
          </a:ln>
        </p:spPr>
      </p:sp>
      <p:sp>
        <p:nvSpPr>
          <p:cNvPr id="20" name="Text 17"/>
          <p:cNvSpPr txBox="1"/>
          <p:nvPr/>
        </p:nvSpPr>
        <p:spPr>
          <a:xfrm>
            <a:off x="3383280" y="4416552"/>
            <a:ext cx="2377440" cy="283464"/>
          </a:xfrm>
          <a:prstGeom prst="rect">
            <a:avLst/>
          </a:prstGeom>
          <a:noFill/>
          <a:ln/>
        </p:spPr>
        <p:txBody>
          <a:bodyPr wrap="square" lIns="0" tIns="0" rIns="0" bIns="0" rtlCol="0" anchor="ctr"/>
          <a:lstStyle/>
          <a:p>
            <a:pPr marL="0" indent="0">
              <a:buNone/>
            </a:pPr>
            <a:r>
              <a:rPr lang="en-US" sz="1800" b="1" dirty="0">
                <a:solidFill>
                  <a:srgbClr val="2F4858"/>
                </a:solidFill>
                <a:latin typeface="Cambria" pitchFamily="34" charset="0"/>
                <a:ea typeface="Cambria" pitchFamily="34" charset="-122"/>
                <a:cs typeface="Cambria" pitchFamily="34" charset="-120"/>
              </a:rPr>
              <a:t>5 m°/s/√Hz</a:t>
            </a:r>
            <a:endParaRPr lang="en-US" sz="1800" dirty="0"/>
          </a:p>
        </p:txBody>
      </p:sp>
      <p:sp>
        <p:nvSpPr>
          <p:cNvPr id="21" name="Text 18"/>
          <p:cNvSpPr txBox="1"/>
          <p:nvPr/>
        </p:nvSpPr>
        <p:spPr>
          <a:xfrm>
            <a:off x="3383280" y="4655210"/>
            <a:ext cx="2377440" cy="23811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gyro white noise</a:t>
            </a:r>
            <a:endParaRPr lang="en-US" sz="1200" dirty="0"/>
          </a:p>
        </p:txBody>
      </p:sp>
      <p:sp>
        <p:nvSpPr>
          <p:cNvPr id="22" name="Tile"/>
          <p:cNvSpPr/>
          <p:nvPr/>
        </p:nvSpPr>
        <p:spPr>
          <a:xfrm>
            <a:off x="6035040" y="4343400"/>
            <a:ext cx="2651760" cy="566928"/>
          </a:xfrm>
          <a:prstGeom prst="roundRect">
            <a:avLst>
              <a:gd name="adj" fmla="val 12903"/>
            </a:avLst>
          </a:prstGeom>
          <a:solidFill>
            <a:srgbClr val="E3EBEA"/>
          </a:solidFill>
          <a:ln w="6350">
            <a:solidFill>
              <a:srgbClr val="E3EBEA"/>
            </a:solidFill>
            <a:prstDash val="solid"/>
          </a:ln>
        </p:spPr>
      </p:sp>
      <p:sp>
        <p:nvSpPr>
          <p:cNvPr id="23" name="Text 20"/>
          <p:cNvSpPr txBox="1"/>
          <p:nvPr/>
        </p:nvSpPr>
        <p:spPr>
          <a:xfrm>
            <a:off x="6172200" y="4416552"/>
            <a:ext cx="2377440" cy="283464"/>
          </a:xfrm>
          <a:prstGeom prst="rect">
            <a:avLst/>
          </a:prstGeom>
          <a:noFill/>
          <a:ln/>
        </p:spPr>
        <p:txBody>
          <a:bodyPr wrap="square" lIns="0" tIns="0" rIns="0" bIns="0" rtlCol="0" anchor="ctr"/>
          <a:lstStyle/>
          <a:p>
            <a:pPr marL="0" indent="0">
              <a:buNone/>
            </a:pPr>
            <a:r>
              <a:rPr lang="en-US" sz="1800" b="1" dirty="0">
                <a:solidFill>
                  <a:srgbClr val="2F4858"/>
                </a:solidFill>
                <a:latin typeface="Cambria" pitchFamily="34" charset="0"/>
                <a:ea typeface="Cambria" pitchFamily="34" charset="-122"/>
                <a:cs typeface="Cambria" pitchFamily="34" charset="-120"/>
              </a:rPr>
              <a:t>114 µg/√Hz</a:t>
            </a:r>
            <a:endParaRPr lang="en-US" sz="1800" dirty="0"/>
          </a:p>
        </p:txBody>
      </p:sp>
      <p:sp>
        <p:nvSpPr>
          <p:cNvPr id="24" name="Text 21"/>
          <p:cNvSpPr txBox="1"/>
          <p:nvPr/>
        </p:nvSpPr>
        <p:spPr>
          <a:xfrm>
            <a:off x="6172200" y="4655210"/>
            <a:ext cx="2377440" cy="23811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accelerometer noise</a:t>
            </a:r>
            <a:endParaRPr lang="en-US" sz="12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10 TO 24  PHONE IMU, DRIFT AND NOISE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C58B5A"/>
          </a:solidFill>
          <a:ln w="3175">
            <a:solidFill>
              <a:srgbClr val="C58B5A"/>
            </a:solidFill>
            <a:prstDash val="solid"/>
          </a:ln>
        </p:spPr>
      </p:sp>
      <p:sp>
        <p:nvSpPr>
          <p:cNvPr id="7" name="Timeline E"/>
          <p:cNvSpPr/>
          <p:nvPr/>
        </p:nvSpPr>
        <p:spPr>
          <a:xfrm>
            <a:off x="5128054" y="429768"/>
            <a:ext cx="1334530" cy="82296"/>
          </a:xfrm>
          <a:prstGeom prst="roundRect">
            <a:avLst>
              <a:gd name="adj" fmla="val 44444"/>
            </a:avLst>
          </a:prstGeom>
          <a:solidFill>
            <a:srgbClr val="BFD0CF"/>
          </a:solidFill>
          <a:ln w="3175">
            <a:solidFill>
              <a:srgbClr val="BFD0CF"/>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Drift Prediction and Analysis</a:t>
            </a:r>
            <a:endParaRPr lang="en-US" sz="2600" dirty="0"/>
          </a:p>
        </p:txBody>
      </p:sp>
      <p:pic>
        <p:nvPicPr>
          <p:cNvPr id="15" name="Image free_drift.png" descr="/tmp/claude-0/-home-claude/754ab589-6f62-5f2f-8c52-b16fa7cef1a3/scratchpad/assets/free_drift.png"/>
          <p:cNvPicPr>
            <a:picLocks noChangeAspect="1"/>
          </p:cNvPicPr>
          <p:nvPr/>
        </p:nvPicPr>
        <p:blipFill>
          <a:blip r:embed="rId3"/>
          <a:stretch>
            <a:fillRect/>
          </a:stretch>
        </p:blipFill>
        <p:spPr>
          <a:xfrm>
            <a:off x="485775" y="1234440"/>
            <a:ext cx="8172450" cy="3017520"/>
          </a:xfrm>
          <a:prstGeom prst="rect">
            <a:avLst/>
          </a:prstGeom>
        </p:spPr>
      </p:pic>
      <p:sp>
        <p:nvSpPr>
          <p:cNvPr id="16" name="Tile"/>
          <p:cNvSpPr/>
          <p:nvPr/>
        </p:nvSpPr>
        <p:spPr>
          <a:xfrm>
            <a:off x="457200" y="4343400"/>
            <a:ext cx="1920240" cy="566928"/>
          </a:xfrm>
          <a:prstGeom prst="roundRect">
            <a:avLst>
              <a:gd name="adj" fmla="val 12903"/>
            </a:avLst>
          </a:prstGeom>
          <a:solidFill>
            <a:srgbClr val="E3EBEA"/>
          </a:solidFill>
          <a:ln w="6350">
            <a:solidFill>
              <a:srgbClr val="E3EBEA"/>
            </a:solidFill>
            <a:prstDash val="solid"/>
          </a:ln>
        </p:spPr>
      </p:sp>
      <p:sp>
        <p:nvSpPr>
          <p:cNvPr id="17" name="Text 14"/>
          <p:cNvSpPr txBox="1"/>
          <p:nvPr/>
        </p:nvSpPr>
        <p:spPr>
          <a:xfrm>
            <a:off x="594360" y="4416552"/>
            <a:ext cx="1645920" cy="283464"/>
          </a:xfrm>
          <a:prstGeom prst="rect">
            <a:avLst/>
          </a:prstGeom>
          <a:noFill/>
          <a:ln/>
        </p:spPr>
        <p:txBody>
          <a:bodyPr wrap="square" lIns="0" tIns="0" rIns="0" bIns="0" rtlCol="0" anchor="ctr"/>
          <a:lstStyle/>
          <a:p>
            <a:pPr marL="0" indent="0">
              <a:buNone/>
            </a:pPr>
            <a:r>
              <a:rPr lang="en-US" sz="1800" b="1" dirty="0">
                <a:solidFill>
                  <a:srgbClr val="2F4858"/>
                </a:solidFill>
                <a:latin typeface="Cambria" pitchFamily="34" charset="0"/>
                <a:ea typeface="Cambria" pitchFamily="34" charset="-122"/>
                <a:cs typeface="Cambria" pitchFamily="34" charset="-120"/>
              </a:rPr>
              <a:t>7.5 m</a:t>
            </a:r>
            <a:endParaRPr lang="en-US" sz="1800" dirty="0"/>
          </a:p>
        </p:txBody>
      </p:sp>
      <p:sp>
        <p:nvSpPr>
          <p:cNvPr id="18" name="Text 15"/>
          <p:cNvSpPr txBox="1"/>
          <p:nvPr/>
        </p:nvSpPr>
        <p:spPr>
          <a:xfrm>
            <a:off x="594360" y="4655210"/>
            <a:ext cx="1645920" cy="23811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position drift at 30 s</a:t>
            </a:r>
            <a:endParaRPr lang="en-US" sz="1200" dirty="0"/>
          </a:p>
        </p:txBody>
      </p:sp>
      <p:sp>
        <p:nvSpPr>
          <p:cNvPr id="19" name="Tile"/>
          <p:cNvSpPr/>
          <p:nvPr/>
        </p:nvSpPr>
        <p:spPr>
          <a:xfrm>
            <a:off x="2514600" y="4343400"/>
            <a:ext cx="1920240" cy="566928"/>
          </a:xfrm>
          <a:prstGeom prst="roundRect">
            <a:avLst>
              <a:gd name="adj" fmla="val 12903"/>
            </a:avLst>
          </a:prstGeom>
          <a:solidFill>
            <a:srgbClr val="E3EBEA"/>
          </a:solidFill>
          <a:ln w="6350">
            <a:solidFill>
              <a:srgbClr val="E3EBEA"/>
            </a:solidFill>
            <a:prstDash val="solid"/>
          </a:ln>
        </p:spPr>
      </p:sp>
      <p:sp>
        <p:nvSpPr>
          <p:cNvPr id="20" name="Text 17"/>
          <p:cNvSpPr txBox="1"/>
          <p:nvPr/>
        </p:nvSpPr>
        <p:spPr>
          <a:xfrm>
            <a:off x="2651760" y="4416552"/>
            <a:ext cx="1645920" cy="283464"/>
          </a:xfrm>
          <a:prstGeom prst="rect">
            <a:avLst/>
          </a:prstGeom>
          <a:noFill/>
          <a:ln/>
        </p:spPr>
        <p:txBody>
          <a:bodyPr wrap="square" lIns="0" tIns="0" rIns="0" bIns="0" rtlCol="0" anchor="ctr"/>
          <a:lstStyle/>
          <a:p>
            <a:pPr marL="0" indent="0">
              <a:buNone/>
            </a:pPr>
            <a:r>
              <a:rPr lang="en-US" sz="1800" b="1" dirty="0">
                <a:solidFill>
                  <a:srgbClr val="2F4858"/>
                </a:solidFill>
                <a:latin typeface="Cambria" pitchFamily="34" charset="0"/>
                <a:ea typeface="Cambria" pitchFamily="34" charset="-122"/>
                <a:cs typeface="Cambria" pitchFamily="34" charset="-120"/>
              </a:rPr>
              <a:t>0.072°</a:t>
            </a:r>
            <a:endParaRPr lang="en-US" sz="1800" dirty="0"/>
          </a:p>
        </p:txBody>
      </p:sp>
      <p:sp>
        <p:nvSpPr>
          <p:cNvPr id="21" name="Text 18"/>
          <p:cNvSpPr txBox="1"/>
          <p:nvPr/>
        </p:nvSpPr>
        <p:spPr>
          <a:xfrm>
            <a:off x="2651760" y="4655210"/>
            <a:ext cx="1645920" cy="23811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heading drift at 30 s</a:t>
            </a:r>
            <a:endParaRPr lang="en-US" sz="1200" dirty="0"/>
          </a:p>
        </p:txBody>
      </p:sp>
      <p:sp>
        <p:nvSpPr>
          <p:cNvPr id="22" name="Tile"/>
          <p:cNvSpPr/>
          <p:nvPr/>
        </p:nvSpPr>
        <p:spPr>
          <a:xfrm>
            <a:off x="4572000" y="4343400"/>
            <a:ext cx="1920240" cy="566928"/>
          </a:xfrm>
          <a:prstGeom prst="roundRect">
            <a:avLst>
              <a:gd name="adj" fmla="val 12903"/>
            </a:avLst>
          </a:prstGeom>
          <a:solidFill>
            <a:srgbClr val="E3EBEA"/>
          </a:solidFill>
          <a:ln w="6350">
            <a:solidFill>
              <a:srgbClr val="E3EBEA"/>
            </a:solidFill>
            <a:prstDash val="solid"/>
          </a:ln>
        </p:spPr>
      </p:sp>
      <p:sp>
        <p:nvSpPr>
          <p:cNvPr id="23" name="Text 20"/>
          <p:cNvSpPr txBox="1"/>
          <p:nvPr/>
        </p:nvSpPr>
        <p:spPr>
          <a:xfrm>
            <a:off x="4709160" y="4416552"/>
            <a:ext cx="1645920" cy="283464"/>
          </a:xfrm>
          <a:prstGeom prst="rect">
            <a:avLst/>
          </a:prstGeom>
          <a:noFill/>
          <a:ln/>
        </p:spPr>
        <p:txBody>
          <a:bodyPr wrap="square" lIns="0" tIns="0" rIns="0" bIns="0" rtlCol="0" anchor="ctr"/>
          <a:lstStyle/>
          <a:p>
            <a:pPr marL="0" indent="0">
              <a:buNone/>
            </a:pPr>
            <a:r>
              <a:rPr lang="en-US" sz="1800" b="1" dirty="0">
                <a:solidFill>
                  <a:srgbClr val="2F4858"/>
                </a:solidFill>
                <a:latin typeface="Cambria" pitchFamily="34" charset="0"/>
                <a:ea typeface="Cambria" pitchFamily="34" charset="-122"/>
                <a:cs typeface="Cambria" pitchFamily="34" charset="-120"/>
              </a:rPr>
              <a:t>4.98 m</a:t>
            </a:r>
            <a:endParaRPr lang="en-US" sz="1800" dirty="0"/>
          </a:p>
        </p:txBody>
      </p:sp>
      <p:sp>
        <p:nvSpPr>
          <p:cNvPr id="24" name="Text 21"/>
          <p:cNvSpPr txBox="1"/>
          <p:nvPr/>
        </p:nvSpPr>
        <p:spPr>
          <a:xfrm>
            <a:off x="4709160" y="4655210"/>
            <a:ext cx="1645920" cy="23811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of it from gyro bias tilt</a:t>
            </a:r>
            <a:endParaRPr lang="en-US" sz="1200" dirty="0"/>
          </a:p>
        </p:txBody>
      </p:sp>
      <p:sp>
        <p:nvSpPr>
          <p:cNvPr id="25" name="Tile"/>
          <p:cNvSpPr/>
          <p:nvPr/>
        </p:nvSpPr>
        <p:spPr>
          <a:xfrm>
            <a:off x="6629400" y="4343400"/>
            <a:ext cx="2057400" cy="566928"/>
          </a:xfrm>
          <a:prstGeom prst="roundRect">
            <a:avLst>
              <a:gd name="adj" fmla="val 12903"/>
            </a:avLst>
          </a:prstGeom>
          <a:solidFill>
            <a:srgbClr val="E3EBEA"/>
          </a:solidFill>
          <a:ln w="6350">
            <a:solidFill>
              <a:srgbClr val="E3EBEA"/>
            </a:solidFill>
            <a:prstDash val="solid"/>
          </a:ln>
        </p:spPr>
      </p:sp>
      <p:sp>
        <p:nvSpPr>
          <p:cNvPr id="26" name="Text 23"/>
          <p:cNvSpPr txBox="1"/>
          <p:nvPr/>
        </p:nvSpPr>
        <p:spPr>
          <a:xfrm>
            <a:off x="6766560" y="4416552"/>
            <a:ext cx="1783080" cy="283464"/>
          </a:xfrm>
          <a:prstGeom prst="rect">
            <a:avLst/>
          </a:prstGeom>
          <a:noFill/>
          <a:ln/>
        </p:spPr>
        <p:txBody>
          <a:bodyPr wrap="square" lIns="0" tIns="0" rIns="0" bIns="0" rtlCol="0" anchor="ctr"/>
          <a:lstStyle/>
          <a:p>
            <a:pPr marL="0" indent="0">
              <a:buNone/>
            </a:pPr>
            <a:r>
              <a:rPr lang="en-US" sz="1800" b="1" dirty="0">
                <a:solidFill>
                  <a:srgbClr val="2F4858"/>
                </a:solidFill>
                <a:latin typeface="Cambria" pitchFamily="34" charset="0"/>
                <a:ea typeface="Cambria" pitchFamily="34" charset="-122"/>
                <a:cs typeface="Cambria" pitchFamily="34" charset="-120"/>
              </a:rPr>
              <a:t>75 km</a:t>
            </a:r>
            <a:endParaRPr lang="en-US" sz="1800" dirty="0"/>
          </a:p>
        </p:txBody>
      </p:sp>
      <p:sp>
        <p:nvSpPr>
          <p:cNvPr id="27" name="Text 24"/>
          <p:cNvSpPr txBox="1"/>
          <p:nvPr/>
        </p:nvSpPr>
        <p:spPr>
          <a:xfrm>
            <a:off x="6766560" y="4655210"/>
            <a:ext cx="1783080" cy="23811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after 19 min unaided</a:t>
            </a:r>
            <a:endParaRPr lang="en-US" sz="1200" dirty="0"/>
          </a:p>
        </p:txBody>
      </p:sp>
      <p:sp>
        <p:nvSpPr>
          <p:cNvPr id="28"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24 TO 30  ESKF WITH UWB</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C58B5A"/>
          </a:solidFill>
          <a:ln w="3175">
            <a:solidFill>
              <a:srgbClr val="C58B5A"/>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ESKF: the IMU predicts, sensors correct</a:t>
            </a:r>
            <a:endParaRPr lang="en-US" sz="2600" dirty="0"/>
          </a:p>
        </p:txBody>
      </p:sp>
      <p:sp>
        <p:nvSpPr>
          <p:cNvPr id="15" name="Card"/>
          <p:cNvSpPr/>
          <p:nvPr/>
        </p:nvSpPr>
        <p:spPr>
          <a:xfrm>
            <a:off x="457200" y="1371600"/>
            <a:ext cx="2011680" cy="3200400"/>
          </a:xfrm>
          <a:prstGeom prst="roundRect">
            <a:avLst>
              <a:gd name="adj" fmla="val 3636"/>
            </a:avLst>
          </a:prstGeom>
          <a:solidFill>
            <a:srgbClr val="E3EBEA"/>
          </a:solidFill>
          <a:ln w="6350">
            <a:solidFill>
              <a:srgbClr val="E3EBEA"/>
            </a:solidFill>
            <a:prstDash val="solid"/>
          </a:ln>
        </p:spPr>
      </p:sp>
      <p:sp>
        <p:nvSpPr>
          <p:cNvPr id="16" name="Text 14"/>
          <p:cNvSpPr txBox="1"/>
          <p:nvPr/>
        </p:nvSpPr>
        <p:spPr>
          <a:xfrm>
            <a:off x="594360" y="1463040"/>
            <a:ext cx="1737360" cy="274320"/>
          </a:xfrm>
          <a:prstGeom prst="rect">
            <a:avLst/>
          </a:prstGeom>
          <a:noFill/>
          <a:ln/>
        </p:spPr>
        <p:txBody>
          <a:bodyPr wrap="square" lIns="0" tIns="0" rIns="0" bIns="0" rtlCol="0" anchor="t"/>
          <a:lstStyle/>
          <a:p>
            <a:pPr marL="0" indent="0">
              <a:buNone/>
            </a:pPr>
            <a:r>
              <a:rPr lang="en-US" sz="1200" b="1" dirty="0">
                <a:solidFill>
                  <a:srgbClr val="C58B5A"/>
                </a:solidFill>
                <a:latin typeface="Calibri" pitchFamily="34" charset="0"/>
                <a:ea typeface="Calibri" pitchFamily="34" charset="-122"/>
                <a:cs typeface="Calibri" pitchFamily="34" charset="-120"/>
              </a:rPr>
              <a:t>Predict</a:t>
            </a:r>
            <a:endParaRPr lang="en-US" sz="1200" dirty="0"/>
          </a:p>
        </p:txBody>
      </p:sp>
      <p:sp>
        <p:nvSpPr>
          <p:cNvPr id="17" name="Text 15"/>
          <p:cNvSpPr txBox="1"/>
          <p:nvPr/>
        </p:nvSpPr>
        <p:spPr>
          <a:xfrm>
            <a:off x="594360" y="1828800"/>
            <a:ext cx="1737360" cy="822960"/>
          </a:xfrm>
          <a:prstGeom prst="rect">
            <a:avLst/>
          </a:prstGeom>
          <a:noFill/>
          <a:ln/>
        </p:spPr>
        <p:txBody>
          <a:bodyPr wrap="square" lIns="0" tIns="0" rIns="0" bIns="0" rtlCol="0" anchor="t"/>
          <a:lstStyle/>
          <a:p>
            <a:pPr marL="0" indent="0">
              <a:buNone/>
            </a:pPr>
            <a:r>
              <a:rPr lang="en-US" sz="1600" b="1" dirty="0">
                <a:solidFill>
                  <a:srgbClr val="2F4858"/>
                </a:solidFill>
                <a:latin typeface="Cambria" pitchFamily="34" charset="0"/>
                <a:ea typeface="Cambria" pitchFamily="34" charset="-122"/>
                <a:cs typeface="Cambria" pitchFamily="34" charset="-120"/>
              </a:rPr>
              <a:t>IMU integrated at 100 to 395 Hz</a:t>
            </a:r>
            <a:endParaRPr lang="en-US" sz="1600" dirty="0"/>
          </a:p>
        </p:txBody>
      </p:sp>
      <p:sp>
        <p:nvSpPr>
          <p:cNvPr id="18" name="Text 16"/>
          <p:cNvSpPr txBox="1"/>
          <p:nvPr/>
        </p:nvSpPr>
        <p:spPr>
          <a:xfrm>
            <a:off x="594360" y="2834640"/>
            <a:ext cx="1737360" cy="91440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position, velocity, attitude, accel and gyro bias</a:t>
            </a:r>
            <a:endParaRPr lang="en-US" sz="1200" dirty="0"/>
          </a:p>
        </p:txBody>
      </p:sp>
      <p:sp>
        <p:nvSpPr>
          <p:cNvPr id="19" name="Arrow"/>
          <p:cNvSpPr/>
          <p:nvPr/>
        </p:nvSpPr>
        <p:spPr>
          <a:xfrm>
            <a:off x="2542032" y="2743200"/>
            <a:ext cx="365760" cy="274320"/>
          </a:xfrm>
          <a:prstGeom prst="rightArrow">
            <a:avLst/>
          </a:prstGeom>
          <a:solidFill>
            <a:srgbClr val="55808A"/>
          </a:solidFill>
          <a:ln w="3175">
            <a:solidFill>
              <a:srgbClr val="55808A"/>
            </a:solidFill>
            <a:prstDash val="solid"/>
          </a:ln>
        </p:spPr>
      </p:sp>
      <p:sp>
        <p:nvSpPr>
          <p:cNvPr id="20" name="Core"/>
          <p:cNvSpPr/>
          <p:nvPr/>
        </p:nvSpPr>
        <p:spPr>
          <a:xfrm>
            <a:off x="2971800" y="1371600"/>
            <a:ext cx="2651760" cy="3200400"/>
          </a:xfrm>
          <a:prstGeom prst="roundRect">
            <a:avLst>
              <a:gd name="adj" fmla="val 2759"/>
            </a:avLst>
          </a:prstGeom>
          <a:solidFill>
            <a:srgbClr val="2F4858"/>
          </a:solidFill>
          <a:ln w="6350">
            <a:solidFill>
              <a:srgbClr val="2F4858"/>
            </a:solidFill>
            <a:prstDash val="solid"/>
          </a:ln>
        </p:spPr>
      </p:sp>
      <p:sp>
        <p:nvSpPr>
          <p:cNvPr id="21" name="Text 19"/>
          <p:cNvSpPr txBox="1"/>
          <p:nvPr/>
        </p:nvSpPr>
        <p:spPr>
          <a:xfrm>
            <a:off x="3108960" y="1508760"/>
            <a:ext cx="2377440" cy="320040"/>
          </a:xfrm>
          <a:prstGeom prst="rect">
            <a:avLst/>
          </a:prstGeom>
          <a:noFill/>
          <a:ln/>
        </p:spPr>
        <p:txBody>
          <a:bodyPr wrap="square" lIns="0" tIns="0" rIns="0" bIns="0" rtlCol="0" anchor="t"/>
          <a:lstStyle/>
          <a:p>
            <a:pPr marL="0" indent="0" algn="ctr">
              <a:buNone/>
            </a:pPr>
            <a:r>
              <a:rPr lang="en-US" sz="1700" b="1" dirty="0">
                <a:solidFill>
                  <a:srgbClr val="FFFFFF"/>
                </a:solidFill>
                <a:latin typeface="Cambria" pitchFamily="34" charset="0"/>
                <a:ea typeface="Cambria" pitchFamily="34" charset="-122"/>
                <a:cs typeface="Cambria" pitchFamily="34" charset="-120"/>
              </a:rPr>
              <a:t>15 state error filter</a:t>
            </a:r>
            <a:endParaRPr lang="en-US" sz="1700" dirty="0"/>
          </a:p>
        </p:txBody>
      </p:sp>
      <p:sp>
        <p:nvSpPr>
          <p:cNvPr id="22" name="State 1"/>
          <p:cNvSpPr/>
          <p:nvPr/>
        </p:nvSpPr>
        <p:spPr>
          <a:xfrm>
            <a:off x="3246120" y="1965960"/>
            <a:ext cx="2103120" cy="365760"/>
          </a:xfrm>
          <a:prstGeom prst="roundRect">
            <a:avLst>
              <a:gd name="adj" fmla="val 15000"/>
            </a:avLst>
          </a:prstGeom>
          <a:solidFill>
            <a:srgbClr val="55808A"/>
          </a:solidFill>
          <a:ln w="3175">
            <a:solidFill>
              <a:srgbClr val="55808A"/>
            </a:solidFill>
            <a:prstDash val="solid"/>
          </a:ln>
        </p:spPr>
      </p:sp>
      <p:sp>
        <p:nvSpPr>
          <p:cNvPr id="23" name="Text 21"/>
          <p:cNvSpPr txBox="1"/>
          <p:nvPr/>
        </p:nvSpPr>
        <p:spPr>
          <a:xfrm>
            <a:off x="3246120" y="1965960"/>
            <a:ext cx="2103120" cy="36576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dp  position</a:t>
            </a:r>
            <a:endParaRPr lang="en-US" sz="1300" dirty="0"/>
          </a:p>
        </p:txBody>
      </p:sp>
      <p:sp>
        <p:nvSpPr>
          <p:cNvPr id="24" name="State 2"/>
          <p:cNvSpPr/>
          <p:nvPr/>
        </p:nvSpPr>
        <p:spPr>
          <a:xfrm>
            <a:off x="3246120" y="2423160"/>
            <a:ext cx="2103120" cy="365760"/>
          </a:xfrm>
          <a:prstGeom prst="roundRect">
            <a:avLst>
              <a:gd name="adj" fmla="val 15000"/>
            </a:avLst>
          </a:prstGeom>
          <a:solidFill>
            <a:srgbClr val="55808A"/>
          </a:solidFill>
          <a:ln w="3175">
            <a:solidFill>
              <a:srgbClr val="55808A"/>
            </a:solidFill>
            <a:prstDash val="solid"/>
          </a:ln>
        </p:spPr>
      </p:sp>
      <p:sp>
        <p:nvSpPr>
          <p:cNvPr id="25" name="Text 23"/>
          <p:cNvSpPr txBox="1"/>
          <p:nvPr/>
        </p:nvSpPr>
        <p:spPr>
          <a:xfrm>
            <a:off x="3246120" y="2423160"/>
            <a:ext cx="2103120" cy="36576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dv  velocity</a:t>
            </a:r>
            <a:endParaRPr lang="en-US" sz="1300" dirty="0"/>
          </a:p>
        </p:txBody>
      </p:sp>
      <p:sp>
        <p:nvSpPr>
          <p:cNvPr id="26" name="State 3"/>
          <p:cNvSpPr/>
          <p:nvPr/>
        </p:nvSpPr>
        <p:spPr>
          <a:xfrm>
            <a:off x="3246120" y="2880360"/>
            <a:ext cx="2103120" cy="365760"/>
          </a:xfrm>
          <a:prstGeom prst="roundRect">
            <a:avLst>
              <a:gd name="adj" fmla="val 15000"/>
            </a:avLst>
          </a:prstGeom>
          <a:solidFill>
            <a:srgbClr val="55808A"/>
          </a:solidFill>
          <a:ln w="3175">
            <a:solidFill>
              <a:srgbClr val="55808A"/>
            </a:solidFill>
            <a:prstDash val="solid"/>
          </a:ln>
        </p:spPr>
      </p:sp>
      <p:sp>
        <p:nvSpPr>
          <p:cNvPr id="27" name="Text 25"/>
          <p:cNvSpPr txBox="1"/>
          <p:nvPr/>
        </p:nvSpPr>
        <p:spPr>
          <a:xfrm>
            <a:off x="3246120" y="2880360"/>
            <a:ext cx="2103120" cy="36576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dθ  attitude</a:t>
            </a:r>
            <a:endParaRPr lang="en-US" sz="1300" dirty="0"/>
          </a:p>
        </p:txBody>
      </p:sp>
      <p:sp>
        <p:nvSpPr>
          <p:cNvPr id="28" name="State 4"/>
          <p:cNvSpPr/>
          <p:nvPr/>
        </p:nvSpPr>
        <p:spPr>
          <a:xfrm>
            <a:off x="3246120" y="3337560"/>
            <a:ext cx="2103120" cy="365760"/>
          </a:xfrm>
          <a:prstGeom prst="roundRect">
            <a:avLst>
              <a:gd name="adj" fmla="val 15000"/>
            </a:avLst>
          </a:prstGeom>
          <a:solidFill>
            <a:srgbClr val="55808A"/>
          </a:solidFill>
          <a:ln w="3175">
            <a:solidFill>
              <a:srgbClr val="55808A"/>
            </a:solidFill>
            <a:prstDash val="solid"/>
          </a:ln>
        </p:spPr>
      </p:sp>
      <p:sp>
        <p:nvSpPr>
          <p:cNvPr id="29" name="Text 27"/>
          <p:cNvSpPr txBox="1"/>
          <p:nvPr/>
        </p:nvSpPr>
        <p:spPr>
          <a:xfrm>
            <a:off x="3246120" y="3337560"/>
            <a:ext cx="2103120" cy="36576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db</a:t>
            </a:r>
            <a:r>
              <a:rPr lang="en-US" sz="1300" baseline="-25000" dirty="0">
                <a:solidFill>
                  <a:srgbClr val="FFFFFF"/>
                </a:solidFill>
                <a:latin typeface="Calibri" pitchFamily="34" charset="0"/>
                <a:ea typeface="Calibri" pitchFamily="34" charset="-122"/>
                <a:cs typeface="Calibri" pitchFamily="34" charset="-120"/>
              </a:rPr>
              <a:t>a</a:t>
            </a:r>
            <a:r>
              <a:rPr lang="en-US" sz="1300" dirty="0">
                <a:solidFill>
                  <a:srgbClr val="FFFFFF"/>
                </a:solidFill>
                <a:latin typeface="Calibri" pitchFamily="34" charset="0"/>
                <a:ea typeface="Calibri" pitchFamily="34" charset="-122"/>
                <a:cs typeface="Calibri" pitchFamily="34" charset="-120"/>
              </a:rPr>
              <a:t>  accel bias</a:t>
            </a:r>
            <a:endParaRPr lang="en-US" sz="1300" dirty="0"/>
          </a:p>
        </p:txBody>
      </p:sp>
      <p:sp>
        <p:nvSpPr>
          <p:cNvPr id="30" name="State 5"/>
          <p:cNvSpPr/>
          <p:nvPr/>
        </p:nvSpPr>
        <p:spPr>
          <a:xfrm>
            <a:off x="3246120" y="3794760"/>
            <a:ext cx="2103120" cy="365760"/>
          </a:xfrm>
          <a:prstGeom prst="roundRect">
            <a:avLst>
              <a:gd name="adj" fmla="val 15000"/>
            </a:avLst>
          </a:prstGeom>
          <a:solidFill>
            <a:srgbClr val="55808A"/>
          </a:solidFill>
          <a:ln w="3175">
            <a:solidFill>
              <a:srgbClr val="55808A"/>
            </a:solidFill>
            <a:prstDash val="solid"/>
          </a:ln>
        </p:spPr>
      </p:sp>
      <p:sp>
        <p:nvSpPr>
          <p:cNvPr id="31" name="Text 29"/>
          <p:cNvSpPr txBox="1"/>
          <p:nvPr/>
        </p:nvSpPr>
        <p:spPr>
          <a:xfrm>
            <a:off x="3246120" y="3794760"/>
            <a:ext cx="2103120" cy="36576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db</a:t>
            </a:r>
            <a:r>
              <a:rPr lang="en-US" sz="1300" baseline="-25000" dirty="0">
                <a:solidFill>
                  <a:srgbClr val="FFFFFF"/>
                </a:solidFill>
                <a:latin typeface="Calibri" pitchFamily="34" charset="0"/>
                <a:ea typeface="Calibri" pitchFamily="34" charset="-122"/>
                <a:cs typeface="Calibri" pitchFamily="34" charset="-120"/>
              </a:rPr>
              <a:t>g</a:t>
            </a:r>
            <a:r>
              <a:rPr lang="en-US" sz="1300" dirty="0">
                <a:solidFill>
                  <a:srgbClr val="FFFFFF"/>
                </a:solidFill>
                <a:latin typeface="Calibri" pitchFamily="34" charset="0"/>
                <a:ea typeface="Calibri" pitchFamily="34" charset="-122"/>
                <a:cs typeface="Calibri" pitchFamily="34" charset="-120"/>
              </a:rPr>
              <a:t>  gyro bias</a:t>
            </a:r>
            <a:endParaRPr lang="en-US" sz="1300" dirty="0"/>
          </a:p>
        </p:txBody>
      </p:sp>
      <p:sp>
        <p:nvSpPr>
          <p:cNvPr id="32" name="Arrow"/>
          <p:cNvSpPr/>
          <p:nvPr/>
        </p:nvSpPr>
        <p:spPr>
          <a:xfrm>
            <a:off x="5669280" y="2743200"/>
            <a:ext cx="365760" cy="274320"/>
          </a:xfrm>
          <a:prstGeom prst="leftArrow">
            <a:avLst/>
          </a:prstGeom>
          <a:solidFill>
            <a:srgbClr val="55808A"/>
          </a:solidFill>
          <a:ln w="3175">
            <a:solidFill>
              <a:srgbClr val="55808A"/>
            </a:solidFill>
            <a:prstDash val="solid"/>
          </a:ln>
        </p:spPr>
      </p:sp>
      <p:sp>
        <p:nvSpPr>
          <p:cNvPr id="33" name="Card"/>
          <p:cNvSpPr/>
          <p:nvPr/>
        </p:nvSpPr>
        <p:spPr>
          <a:xfrm>
            <a:off x="6080760" y="1371600"/>
            <a:ext cx="2606040" cy="3200400"/>
          </a:xfrm>
          <a:prstGeom prst="roundRect">
            <a:avLst>
              <a:gd name="adj" fmla="val 2807"/>
            </a:avLst>
          </a:prstGeom>
          <a:solidFill>
            <a:srgbClr val="E3EBEA"/>
          </a:solidFill>
          <a:ln w="6350">
            <a:solidFill>
              <a:srgbClr val="E3EBEA"/>
            </a:solidFill>
            <a:prstDash val="solid"/>
          </a:ln>
        </p:spPr>
      </p:sp>
      <p:sp>
        <p:nvSpPr>
          <p:cNvPr id="34" name="Text 32"/>
          <p:cNvSpPr txBox="1"/>
          <p:nvPr/>
        </p:nvSpPr>
        <p:spPr>
          <a:xfrm>
            <a:off x="6217920" y="1463040"/>
            <a:ext cx="2286000" cy="274320"/>
          </a:xfrm>
          <a:prstGeom prst="rect">
            <a:avLst/>
          </a:prstGeom>
          <a:noFill/>
          <a:ln/>
        </p:spPr>
        <p:txBody>
          <a:bodyPr wrap="square" lIns="0" tIns="0" rIns="0" bIns="0" rtlCol="0" anchor="t"/>
          <a:lstStyle/>
          <a:p>
            <a:pPr marL="0" indent="0">
              <a:buNone/>
            </a:pPr>
            <a:r>
              <a:rPr lang="en-US" sz="1200" b="1" dirty="0">
                <a:solidFill>
                  <a:srgbClr val="C58B5A"/>
                </a:solidFill>
                <a:latin typeface="Calibri" pitchFamily="34" charset="0"/>
                <a:ea typeface="Calibri" pitchFamily="34" charset="-122"/>
                <a:cs typeface="Calibri" pitchFamily="34" charset="-120"/>
              </a:rPr>
              <a:t>Correct</a:t>
            </a:r>
            <a:endParaRPr lang="en-US" sz="1200" dirty="0"/>
          </a:p>
        </p:txBody>
      </p:sp>
      <p:sp>
        <p:nvSpPr>
          <p:cNvPr id="35" name="Icon circle"/>
          <p:cNvSpPr/>
          <p:nvPr/>
        </p:nvSpPr>
        <p:spPr>
          <a:xfrm>
            <a:off x="6217920" y="1874520"/>
            <a:ext cx="310896" cy="310896"/>
          </a:xfrm>
          <a:prstGeom prst="ellipse">
            <a:avLst/>
          </a:prstGeom>
          <a:solidFill>
            <a:srgbClr val="55808A"/>
          </a:solidFill>
          <a:ln w="6350">
            <a:solidFill>
              <a:srgbClr val="55808A"/>
            </a:solidFill>
            <a:prstDash val="solid"/>
          </a:ln>
        </p:spPr>
      </p:sp>
      <p:pic>
        <p:nvPicPr>
          <p:cNvPr id="36" name="Icon" descr="preencoded.png"/>
          <p:cNvPicPr>
            <a:picLocks noChangeAspect="1"/>
          </p:cNvPicPr>
          <p:nvPr/>
        </p:nvPicPr>
        <p:blipFill>
          <a:blip r:embed="rId3"/>
          <a:stretch>
            <a:fillRect/>
          </a:stretch>
        </p:blipFill>
        <p:spPr>
          <a:xfrm>
            <a:off x="6295644" y="1952244"/>
            <a:ext cx="155448" cy="155448"/>
          </a:xfrm>
          <a:prstGeom prst="rect">
            <a:avLst/>
          </a:prstGeom>
        </p:spPr>
      </p:pic>
      <p:sp>
        <p:nvSpPr>
          <p:cNvPr id="37" name="Text 34"/>
          <p:cNvSpPr txBox="1"/>
          <p:nvPr/>
        </p:nvSpPr>
        <p:spPr>
          <a:xfrm>
            <a:off x="6629400" y="1874520"/>
            <a:ext cx="1965960" cy="310896"/>
          </a:xfrm>
          <a:prstGeom prst="rect">
            <a:avLst/>
          </a:prstGeom>
          <a:noFill/>
          <a:ln/>
        </p:spPr>
        <p:txBody>
          <a:bodyPr wrap="square" lIns="0" tIns="0" rIns="0" bIns="0" rtlCol="0" anchor="ctr"/>
          <a:lstStyle/>
          <a:p>
            <a:pPr marL="0" indent="0">
              <a:buNone/>
            </a:pPr>
            <a:r>
              <a:rPr lang="en-US" sz="1400" dirty="0">
                <a:solidFill>
                  <a:srgbClr val="26343A"/>
                </a:solidFill>
                <a:latin typeface="Calibri" pitchFamily="34" charset="0"/>
                <a:ea typeface="Calibri" pitchFamily="34" charset="-122"/>
                <a:cs typeface="Calibri" pitchFamily="34" charset="-120"/>
              </a:rPr>
              <a:t>8 UWB ranges</a:t>
            </a:r>
            <a:endParaRPr lang="en-US" sz="1400" dirty="0"/>
          </a:p>
        </p:txBody>
      </p:sp>
      <p:sp>
        <p:nvSpPr>
          <p:cNvPr id="38" name="Icon circle"/>
          <p:cNvSpPr/>
          <p:nvPr/>
        </p:nvSpPr>
        <p:spPr>
          <a:xfrm>
            <a:off x="6217920" y="2404872"/>
            <a:ext cx="310896" cy="310896"/>
          </a:xfrm>
          <a:prstGeom prst="ellipse">
            <a:avLst/>
          </a:prstGeom>
          <a:solidFill>
            <a:srgbClr val="55808A"/>
          </a:solidFill>
          <a:ln w="6350">
            <a:solidFill>
              <a:srgbClr val="55808A"/>
            </a:solidFill>
            <a:prstDash val="solid"/>
          </a:ln>
        </p:spPr>
      </p:sp>
      <p:pic>
        <p:nvPicPr>
          <p:cNvPr id="39" name="Icon" descr="preencoded.png"/>
          <p:cNvPicPr>
            <a:picLocks noChangeAspect="1"/>
          </p:cNvPicPr>
          <p:nvPr/>
        </p:nvPicPr>
        <p:blipFill>
          <a:blip r:embed="rId3"/>
          <a:stretch>
            <a:fillRect/>
          </a:stretch>
        </p:blipFill>
        <p:spPr>
          <a:xfrm>
            <a:off x="6295644" y="2482596"/>
            <a:ext cx="155448" cy="155448"/>
          </a:xfrm>
          <a:prstGeom prst="rect">
            <a:avLst/>
          </a:prstGeom>
        </p:spPr>
      </p:pic>
      <p:sp>
        <p:nvSpPr>
          <p:cNvPr id="40" name="Text 36"/>
          <p:cNvSpPr txBox="1"/>
          <p:nvPr/>
        </p:nvSpPr>
        <p:spPr>
          <a:xfrm>
            <a:off x="6629400" y="2404872"/>
            <a:ext cx="1965960" cy="310896"/>
          </a:xfrm>
          <a:prstGeom prst="rect">
            <a:avLst/>
          </a:prstGeom>
          <a:noFill/>
          <a:ln/>
        </p:spPr>
        <p:txBody>
          <a:bodyPr wrap="square" lIns="0" tIns="0" rIns="0" bIns="0" rtlCol="0" anchor="ctr"/>
          <a:lstStyle/>
          <a:p>
            <a:pPr marL="0" indent="0">
              <a:buNone/>
            </a:pPr>
            <a:r>
              <a:rPr lang="en-US" sz="1400" dirty="0">
                <a:solidFill>
                  <a:srgbClr val="26343A"/>
                </a:solidFill>
                <a:latin typeface="Calibri" pitchFamily="34" charset="0"/>
                <a:ea typeface="Calibri" pitchFamily="34" charset="-122"/>
                <a:cs typeface="Calibri" pitchFamily="34" charset="-120"/>
              </a:rPr>
              <a:t>Gravity direction, adaptive</a:t>
            </a:r>
            <a:endParaRPr lang="en-US" sz="1400" dirty="0"/>
          </a:p>
        </p:txBody>
      </p:sp>
      <p:sp>
        <p:nvSpPr>
          <p:cNvPr id="41" name="Icon circle"/>
          <p:cNvSpPr/>
          <p:nvPr/>
        </p:nvSpPr>
        <p:spPr>
          <a:xfrm>
            <a:off x="6217920" y="2935224"/>
            <a:ext cx="310896" cy="310896"/>
          </a:xfrm>
          <a:prstGeom prst="ellipse">
            <a:avLst/>
          </a:prstGeom>
          <a:solidFill>
            <a:srgbClr val="55808A"/>
          </a:solidFill>
          <a:ln w="6350">
            <a:solidFill>
              <a:srgbClr val="55808A"/>
            </a:solidFill>
            <a:prstDash val="solid"/>
          </a:ln>
        </p:spPr>
      </p:sp>
      <p:pic>
        <p:nvPicPr>
          <p:cNvPr id="42" name="Icon" descr="preencoded.png"/>
          <p:cNvPicPr>
            <a:picLocks noChangeAspect="1"/>
          </p:cNvPicPr>
          <p:nvPr/>
        </p:nvPicPr>
        <p:blipFill>
          <a:blip r:embed="rId3"/>
          <a:stretch>
            <a:fillRect/>
          </a:stretch>
        </p:blipFill>
        <p:spPr>
          <a:xfrm>
            <a:off x="6295644" y="3012948"/>
            <a:ext cx="155448" cy="155448"/>
          </a:xfrm>
          <a:prstGeom prst="rect">
            <a:avLst/>
          </a:prstGeom>
        </p:spPr>
      </p:pic>
      <p:sp>
        <p:nvSpPr>
          <p:cNvPr id="43" name="Text 38"/>
          <p:cNvSpPr txBox="1"/>
          <p:nvPr/>
        </p:nvSpPr>
        <p:spPr>
          <a:xfrm>
            <a:off x="6629400" y="2935224"/>
            <a:ext cx="1965960" cy="310896"/>
          </a:xfrm>
          <a:prstGeom prst="rect">
            <a:avLst/>
          </a:prstGeom>
          <a:noFill/>
          <a:ln/>
        </p:spPr>
        <p:txBody>
          <a:bodyPr wrap="square" lIns="0" tIns="0" rIns="0" bIns="0" rtlCol="0" anchor="ctr"/>
          <a:lstStyle/>
          <a:p>
            <a:pPr marL="0" indent="0">
              <a:buNone/>
            </a:pPr>
            <a:r>
              <a:rPr lang="en-US" sz="1400" dirty="0">
                <a:solidFill>
                  <a:srgbClr val="26343A"/>
                </a:solidFill>
                <a:latin typeface="Calibri" pitchFamily="34" charset="0"/>
                <a:ea typeface="Calibri" pitchFamily="34" charset="-122"/>
                <a:cs typeface="Calibri" pitchFamily="34" charset="-120"/>
              </a:rPr>
              <a:t>Magnetometer heading</a:t>
            </a:r>
            <a:endParaRPr lang="en-US" sz="1400" dirty="0"/>
          </a:p>
        </p:txBody>
      </p:sp>
      <p:sp>
        <p:nvSpPr>
          <p:cNvPr id="44" name="Icon circle"/>
          <p:cNvSpPr/>
          <p:nvPr/>
        </p:nvSpPr>
        <p:spPr>
          <a:xfrm>
            <a:off x="6217920" y="3465576"/>
            <a:ext cx="310896" cy="310896"/>
          </a:xfrm>
          <a:prstGeom prst="ellipse">
            <a:avLst/>
          </a:prstGeom>
          <a:solidFill>
            <a:srgbClr val="55808A"/>
          </a:solidFill>
          <a:ln w="6350">
            <a:solidFill>
              <a:srgbClr val="55808A"/>
            </a:solidFill>
            <a:prstDash val="solid"/>
          </a:ln>
        </p:spPr>
      </p:sp>
      <p:pic>
        <p:nvPicPr>
          <p:cNvPr id="45" name="Icon" descr="preencoded.png"/>
          <p:cNvPicPr>
            <a:picLocks noChangeAspect="1"/>
          </p:cNvPicPr>
          <p:nvPr/>
        </p:nvPicPr>
        <p:blipFill>
          <a:blip r:embed="rId3"/>
          <a:stretch>
            <a:fillRect/>
          </a:stretch>
        </p:blipFill>
        <p:spPr>
          <a:xfrm>
            <a:off x="6295644" y="3543300"/>
            <a:ext cx="155448" cy="155448"/>
          </a:xfrm>
          <a:prstGeom prst="rect">
            <a:avLst/>
          </a:prstGeom>
        </p:spPr>
      </p:pic>
      <p:sp>
        <p:nvSpPr>
          <p:cNvPr id="46" name="Text 40"/>
          <p:cNvSpPr txBox="1"/>
          <p:nvPr/>
        </p:nvSpPr>
        <p:spPr>
          <a:xfrm>
            <a:off x="6629400" y="3465576"/>
            <a:ext cx="1965960" cy="310896"/>
          </a:xfrm>
          <a:prstGeom prst="rect">
            <a:avLst/>
          </a:prstGeom>
          <a:noFill/>
          <a:ln/>
        </p:spPr>
        <p:txBody>
          <a:bodyPr wrap="square" lIns="0" tIns="0" rIns="0" bIns="0" rtlCol="0" anchor="ctr"/>
          <a:lstStyle/>
          <a:p>
            <a:pPr marL="0" indent="0">
              <a:buNone/>
            </a:pPr>
            <a:r>
              <a:rPr lang="en-US" sz="1400" dirty="0">
                <a:solidFill>
                  <a:srgbClr val="26343A"/>
                </a:solidFill>
                <a:latin typeface="Calibri" pitchFamily="34" charset="0"/>
                <a:ea typeface="Calibri" pitchFamily="34" charset="-122"/>
                <a:cs typeface="Calibri" pitchFamily="34" charset="-120"/>
              </a:rPr>
              <a:t>Zero velocity at rest</a:t>
            </a:r>
            <a:endParaRPr lang="en-US" sz="1400" dirty="0"/>
          </a:p>
        </p:txBody>
      </p:sp>
      <p:sp>
        <p:nvSpPr>
          <p:cNvPr id="47" name="Icon circle"/>
          <p:cNvSpPr/>
          <p:nvPr/>
        </p:nvSpPr>
        <p:spPr>
          <a:xfrm>
            <a:off x="6217920" y="3995928"/>
            <a:ext cx="310896" cy="310896"/>
          </a:xfrm>
          <a:prstGeom prst="ellipse">
            <a:avLst/>
          </a:prstGeom>
          <a:solidFill>
            <a:srgbClr val="55808A"/>
          </a:solidFill>
          <a:ln w="6350">
            <a:solidFill>
              <a:srgbClr val="55808A"/>
            </a:solidFill>
            <a:prstDash val="solid"/>
          </a:ln>
        </p:spPr>
      </p:sp>
      <p:pic>
        <p:nvPicPr>
          <p:cNvPr id="48" name="Icon" descr="preencoded.png"/>
          <p:cNvPicPr>
            <a:picLocks noChangeAspect="1"/>
          </p:cNvPicPr>
          <p:nvPr/>
        </p:nvPicPr>
        <p:blipFill>
          <a:blip r:embed="rId3"/>
          <a:stretch>
            <a:fillRect/>
          </a:stretch>
        </p:blipFill>
        <p:spPr>
          <a:xfrm>
            <a:off x="6295644" y="4073652"/>
            <a:ext cx="155448" cy="155448"/>
          </a:xfrm>
          <a:prstGeom prst="rect">
            <a:avLst/>
          </a:prstGeom>
        </p:spPr>
      </p:pic>
      <p:sp>
        <p:nvSpPr>
          <p:cNvPr id="49" name="Text 42"/>
          <p:cNvSpPr txBox="1"/>
          <p:nvPr/>
        </p:nvSpPr>
        <p:spPr>
          <a:xfrm>
            <a:off x="6629400" y="3995928"/>
            <a:ext cx="1965960" cy="310896"/>
          </a:xfrm>
          <a:prstGeom prst="rect">
            <a:avLst/>
          </a:prstGeom>
          <a:noFill/>
          <a:ln/>
        </p:spPr>
        <p:txBody>
          <a:bodyPr wrap="square" lIns="0" tIns="0" rIns="0" bIns="0" rtlCol="0" anchor="ctr"/>
          <a:lstStyle/>
          <a:p>
            <a:pPr marL="0" indent="0">
              <a:buNone/>
            </a:pPr>
            <a:r>
              <a:rPr lang="en-US" sz="1400" dirty="0">
                <a:solidFill>
                  <a:srgbClr val="26343A"/>
                </a:solidFill>
                <a:latin typeface="Calibri" pitchFamily="34" charset="0"/>
                <a:ea typeface="Calibri" pitchFamily="34" charset="-122"/>
                <a:cs typeface="Calibri" pitchFamily="34" charset="-120"/>
              </a:rPr>
              <a:t>Camera tag fixes</a:t>
            </a:r>
            <a:endParaRPr lang="en-US" sz="1400" dirty="0"/>
          </a:p>
        </p:txBody>
      </p:sp>
      <p:sp>
        <p:nvSpPr>
          <p:cNvPr id="50"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24 TO 30  ESKF WITH UWB</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C58B5A"/>
          </a:solidFill>
          <a:ln w="3175">
            <a:solidFill>
              <a:srgbClr val="C58B5A"/>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Noise Modelling for simulating synthetic signals</a:t>
            </a:r>
            <a:endParaRPr lang="en-US" sz="2600" dirty="0"/>
          </a:p>
        </p:txBody>
      </p:sp>
      <p:pic>
        <p:nvPicPr>
          <p:cNvPr id="15" name="Image allan_val.png" descr="/tmp/claude-0/-home-claude/754ab589-6f62-5f2f-8c52-b16fa7cef1a3/scratchpad/assets/allan_val.png"/>
          <p:cNvPicPr>
            <a:picLocks noChangeAspect="1"/>
          </p:cNvPicPr>
          <p:nvPr/>
        </p:nvPicPr>
        <p:blipFill>
          <a:blip r:embed="rId3"/>
          <a:stretch>
            <a:fillRect/>
          </a:stretch>
        </p:blipFill>
        <p:spPr>
          <a:xfrm>
            <a:off x="649224" y="1234440"/>
            <a:ext cx="7845552" cy="3017520"/>
          </a:xfrm>
          <a:prstGeom prst="rect">
            <a:avLst/>
          </a:prstGeom>
        </p:spPr>
      </p:pic>
      <p:sp>
        <p:nvSpPr>
          <p:cNvPr id="16" name="Text 13"/>
          <p:cNvSpPr txBox="1"/>
          <p:nvPr/>
        </p:nvSpPr>
        <p:spPr>
          <a:xfrm>
            <a:off x="457200" y="4297680"/>
            <a:ext cx="8229600" cy="228600"/>
          </a:xfrm>
          <a:prstGeom prst="rect">
            <a:avLst/>
          </a:prstGeom>
          <a:noFill/>
          <a:ln/>
        </p:spPr>
        <p:txBody>
          <a:bodyPr wrap="square" lIns="0" tIns="0" rIns="0" bIns="0" rtlCol="0" anchor="t"/>
          <a:lstStyle/>
          <a:p>
            <a:pPr marL="0" indent="0">
              <a:buNone/>
            </a:pPr>
            <a:r>
              <a:rPr lang="en-US" sz="1200" dirty="0">
                <a:solidFill>
                  <a:srgbClr val="55808A"/>
                </a:solidFill>
                <a:latin typeface="Calibri" pitchFamily="34" charset="0"/>
                <a:ea typeface="Calibri" pitchFamily="34" charset="-122"/>
                <a:cs typeface="Calibri" pitchFamily="34" charset="-120"/>
              </a:rPr>
              <a:t>Solid: real phone, 1 hour.  Dashed: our generator, same model, 1 hour.</a:t>
            </a:r>
            <a:endParaRPr lang="en-US" sz="1200" dirty="0"/>
          </a:p>
        </p:txBody>
      </p:sp>
      <p:sp>
        <p:nvSpPr>
          <p:cNvPr id="17" name="Text 14"/>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400" b="1" dirty="0">
                <a:solidFill>
                  <a:srgbClr val="2F4858"/>
                </a:solidFill>
                <a:latin typeface="Calibri" pitchFamily="34" charset="0"/>
                <a:ea typeface="Calibri" pitchFamily="34" charset="-122"/>
                <a:cs typeface="Calibri" pitchFamily="34" charset="-120"/>
              </a:rPr>
              <a:t>white noise  ·  bias instability  ·  rate random walk  ·  turn on bias  ·  quantisation</a:t>
            </a:r>
            <a:endParaRPr lang="en-US" sz="14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24 TO 30  ESKF WITH UWB</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C58B5A"/>
          </a:solidFill>
          <a:ln w="3175">
            <a:solidFill>
              <a:srgbClr val="C58B5A"/>
            </a:solidFill>
            <a:prstDash val="solid"/>
          </a:ln>
        </p:spPr>
      </p:sp>
      <p:sp>
        <p:nvSpPr>
          <p:cNvPr id="8" name="Timeline F"/>
          <p:cNvSpPr/>
          <p:nvPr/>
        </p:nvSpPr>
        <p:spPr>
          <a:xfrm>
            <a:off x="6462584" y="429768"/>
            <a:ext cx="2224216" cy="82296"/>
          </a:xfrm>
          <a:prstGeom prst="roundRect">
            <a:avLst>
              <a:gd name="adj" fmla="val 44444"/>
            </a:avLst>
          </a:prstGeom>
          <a:solidFill>
            <a:srgbClr val="BFD0CF"/>
          </a:solidFill>
          <a:ln w="3175">
            <a:solidFill>
              <a:srgbClr val="BFD0CF"/>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UWB Sensor Fusion using </a:t>
            </a:r>
            <a:r>
              <a:rPr lang="en-US" sz="2600" b="1" dirty="0" err="1">
                <a:solidFill>
                  <a:srgbClr val="2F4858"/>
                </a:solidFill>
                <a:latin typeface="Cambria" pitchFamily="34" charset="0"/>
                <a:ea typeface="Cambria" pitchFamily="34" charset="-122"/>
                <a:cs typeface="Cambria" pitchFamily="34" charset="-120"/>
              </a:rPr>
              <a:t>i</a:t>
            </a:r>
            <a:r>
              <a:rPr lang="en-US" sz="2600" b="1" dirty="0">
                <a:solidFill>
                  <a:srgbClr val="2F4858"/>
                </a:solidFill>
                <a:latin typeface="Cambria" pitchFamily="34" charset="0"/>
                <a:ea typeface="Cambria" pitchFamily="34" charset="-122"/>
                <a:cs typeface="Cambria" pitchFamily="34" charset="-120"/>
              </a:rPr>
              <a:t>-ASL Dataset</a:t>
            </a:r>
            <a:endParaRPr lang="en-US" sz="2600" dirty="0"/>
          </a:p>
        </p:txBody>
      </p:sp>
      <p:sp>
        <p:nvSpPr>
          <p:cNvPr id="16" name="Card"/>
          <p:cNvSpPr/>
          <p:nvPr/>
        </p:nvSpPr>
        <p:spPr>
          <a:xfrm>
            <a:off x="5532120" y="1589651"/>
            <a:ext cx="3154680" cy="960120"/>
          </a:xfrm>
          <a:prstGeom prst="roundRect">
            <a:avLst>
              <a:gd name="adj" fmla="val 7619"/>
            </a:avLst>
          </a:prstGeom>
          <a:solidFill>
            <a:srgbClr val="E3EBEA"/>
          </a:solidFill>
          <a:ln w="6350">
            <a:solidFill>
              <a:srgbClr val="E3EBEA"/>
            </a:solidFill>
            <a:prstDash val="solid"/>
          </a:ln>
        </p:spPr>
      </p:sp>
      <p:sp>
        <p:nvSpPr>
          <p:cNvPr id="17" name="Text 14"/>
          <p:cNvSpPr txBox="1"/>
          <p:nvPr/>
        </p:nvSpPr>
        <p:spPr>
          <a:xfrm>
            <a:off x="5605975" y="1662803"/>
            <a:ext cx="3080825" cy="274320"/>
          </a:xfrm>
          <a:prstGeom prst="rect">
            <a:avLst/>
          </a:prstGeom>
          <a:noFill/>
          <a:ln/>
        </p:spPr>
        <p:txBody>
          <a:bodyPr wrap="square" lIns="0" tIns="0" rIns="0" bIns="0" rtlCol="0" anchor="t"/>
          <a:lstStyle/>
          <a:p>
            <a:pPr marL="0" indent="0">
              <a:buNone/>
            </a:pPr>
            <a:r>
              <a:rPr lang="en-US" sz="1500" b="1" dirty="0">
                <a:solidFill>
                  <a:srgbClr val="2F4858"/>
                </a:solidFill>
                <a:latin typeface="Cambria" pitchFamily="34" charset="0"/>
                <a:ea typeface="Cambria" pitchFamily="34" charset="-122"/>
                <a:cs typeface="Cambria" pitchFamily="34" charset="-120"/>
              </a:rPr>
              <a:t>Integrated UWB to correct the Drift</a:t>
            </a:r>
            <a:endParaRPr lang="en-US" sz="1500" dirty="0"/>
          </a:p>
        </p:txBody>
      </p:sp>
      <p:sp>
        <p:nvSpPr>
          <p:cNvPr id="18" name="Text 15"/>
          <p:cNvSpPr txBox="1"/>
          <p:nvPr/>
        </p:nvSpPr>
        <p:spPr>
          <a:xfrm>
            <a:off x="5669280" y="1955411"/>
            <a:ext cx="2880360" cy="548640"/>
          </a:xfrm>
          <a:prstGeom prst="rect">
            <a:avLst/>
          </a:prstGeom>
          <a:noFill/>
          <a:ln/>
        </p:spPr>
        <p:txBody>
          <a:bodyPr wrap="square" lIns="0" tIns="0" rIns="0" bIns="0" rtlCol="0" anchor="t"/>
          <a:lstStyle/>
          <a:p>
            <a:pPr marL="0" indent="0">
              <a:buNone/>
            </a:pPr>
            <a:r>
              <a:rPr lang="en-US" sz="1200" dirty="0" err="1"/>
              <a:t>i</a:t>
            </a:r>
            <a:r>
              <a:rPr lang="en-US" sz="1200" dirty="0"/>
              <a:t>-ASL Dataset contains UWB sensor values coupled with IMU data and their corresponding True Position for comparison</a:t>
            </a:r>
          </a:p>
        </p:txBody>
      </p:sp>
      <p:sp>
        <p:nvSpPr>
          <p:cNvPr id="19" name="Card"/>
          <p:cNvSpPr/>
          <p:nvPr/>
        </p:nvSpPr>
        <p:spPr>
          <a:xfrm>
            <a:off x="5532120" y="2686931"/>
            <a:ext cx="3154680" cy="960120"/>
          </a:xfrm>
          <a:prstGeom prst="roundRect">
            <a:avLst>
              <a:gd name="adj" fmla="val 7619"/>
            </a:avLst>
          </a:prstGeom>
          <a:solidFill>
            <a:srgbClr val="E3EBEA"/>
          </a:solidFill>
          <a:ln w="6350">
            <a:solidFill>
              <a:srgbClr val="E3EBEA"/>
            </a:solidFill>
            <a:prstDash val="solid"/>
          </a:ln>
        </p:spPr>
      </p:sp>
      <p:sp>
        <p:nvSpPr>
          <p:cNvPr id="20" name="Text 17"/>
          <p:cNvSpPr txBox="1"/>
          <p:nvPr/>
        </p:nvSpPr>
        <p:spPr>
          <a:xfrm>
            <a:off x="5669280" y="2760083"/>
            <a:ext cx="2880360" cy="274320"/>
          </a:xfrm>
          <a:prstGeom prst="rect">
            <a:avLst/>
          </a:prstGeom>
          <a:noFill/>
          <a:ln/>
        </p:spPr>
        <p:txBody>
          <a:bodyPr wrap="square" lIns="0" tIns="0" rIns="0" bIns="0" rtlCol="0" anchor="t"/>
          <a:lstStyle/>
          <a:p>
            <a:pPr marL="0" indent="0">
              <a:buNone/>
            </a:pPr>
            <a:r>
              <a:rPr lang="en-US" sz="1500" b="1" dirty="0">
                <a:solidFill>
                  <a:srgbClr val="2F4858"/>
                </a:solidFill>
                <a:latin typeface="Cambria" pitchFamily="34" charset="0"/>
                <a:ea typeface="Cambria" pitchFamily="34" charset="-122"/>
                <a:cs typeface="Cambria" pitchFamily="34" charset="-120"/>
              </a:rPr>
              <a:t>Model Validation</a:t>
            </a:r>
            <a:endParaRPr lang="en-US" sz="1500" dirty="0"/>
          </a:p>
        </p:txBody>
      </p:sp>
      <p:sp>
        <p:nvSpPr>
          <p:cNvPr id="21" name="Text 18"/>
          <p:cNvSpPr txBox="1"/>
          <p:nvPr/>
        </p:nvSpPr>
        <p:spPr>
          <a:xfrm>
            <a:off x="5669280" y="3052691"/>
            <a:ext cx="2880360" cy="54864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We used this dataset to validate out modelled ESKF estimator and succeeded </a:t>
            </a:r>
            <a:endParaRPr lang="en-US" sz="1200" dirty="0"/>
          </a:p>
        </p:txBody>
      </p:sp>
      <p:sp>
        <p:nvSpPr>
          <p:cNvPr id="22" name="Card"/>
          <p:cNvSpPr/>
          <p:nvPr/>
        </p:nvSpPr>
        <p:spPr>
          <a:xfrm>
            <a:off x="5532120" y="3784211"/>
            <a:ext cx="3154680" cy="960120"/>
          </a:xfrm>
          <a:prstGeom prst="roundRect">
            <a:avLst>
              <a:gd name="adj" fmla="val 7619"/>
            </a:avLst>
          </a:prstGeom>
          <a:solidFill>
            <a:srgbClr val="E3EBEA"/>
          </a:solidFill>
          <a:ln w="6350">
            <a:solidFill>
              <a:srgbClr val="E3EBEA"/>
            </a:solidFill>
            <a:prstDash val="solid"/>
          </a:ln>
        </p:spPr>
      </p:sp>
      <p:sp>
        <p:nvSpPr>
          <p:cNvPr id="23" name="Text 20"/>
          <p:cNvSpPr txBox="1"/>
          <p:nvPr/>
        </p:nvSpPr>
        <p:spPr>
          <a:xfrm>
            <a:off x="5669280" y="3857363"/>
            <a:ext cx="2880360" cy="274320"/>
          </a:xfrm>
          <a:prstGeom prst="rect">
            <a:avLst/>
          </a:prstGeom>
          <a:noFill/>
          <a:ln/>
        </p:spPr>
        <p:txBody>
          <a:bodyPr wrap="square" lIns="0" tIns="0" rIns="0" bIns="0" rtlCol="0" anchor="t"/>
          <a:lstStyle/>
          <a:p>
            <a:pPr marL="0" indent="0">
              <a:buNone/>
            </a:pPr>
            <a:r>
              <a:rPr lang="en-US" sz="1500" b="1" dirty="0">
                <a:solidFill>
                  <a:srgbClr val="2F4858"/>
                </a:solidFill>
                <a:latin typeface="Cambria" pitchFamily="34" charset="0"/>
                <a:ea typeface="Cambria" pitchFamily="34" charset="-122"/>
                <a:cs typeface="Cambria" pitchFamily="34" charset="-120"/>
              </a:rPr>
              <a:t>Accurate Position Estimation</a:t>
            </a:r>
            <a:endParaRPr lang="en-US" sz="1500" dirty="0"/>
          </a:p>
        </p:txBody>
      </p:sp>
      <p:sp>
        <p:nvSpPr>
          <p:cNvPr id="24" name="Text 21"/>
          <p:cNvSpPr txBox="1"/>
          <p:nvPr/>
        </p:nvSpPr>
        <p:spPr>
          <a:xfrm>
            <a:off x="5669280" y="4149971"/>
            <a:ext cx="2880360" cy="54864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UWBs improve the accuracy of position estimation over the accelerometer data</a:t>
            </a:r>
            <a:endParaRPr lang="en-US" sz="1200" dirty="0"/>
          </a:p>
        </p:txBody>
      </p:sp>
      <p:sp>
        <p:nvSpPr>
          <p:cNvPr id="26"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13</a:t>
            </a:fld>
            <a:endParaRPr lang="en-US"/>
          </a:p>
        </p:txBody>
      </p:sp>
      <p:pic>
        <p:nvPicPr>
          <p:cNvPr id="30" name="Picture 29">
            <a:extLst>
              <a:ext uri="{FF2B5EF4-FFF2-40B4-BE49-F238E27FC236}">
                <a16:creationId xmlns:a16="http://schemas.microsoft.com/office/drawing/2014/main" id="{1B675B4A-794E-8087-EE77-F8B3D5EC1827}"/>
              </a:ext>
            </a:extLst>
          </p:cNvPr>
          <p:cNvPicPr>
            <a:picLocks noChangeAspect="1"/>
          </p:cNvPicPr>
          <p:nvPr/>
        </p:nvPicPr>
        <p:blipFill>
          <a:blip r:embed="rId3"/>
          <a:stretch>
            <a:fillRect/>
          </a:stretch>
        </p:blipFill>
        <p:spPr>
          <a:xfrm>
            <a:off x="302456" y="1528296"/>
            <a:ext cx="4931446" cy="2612687"/>
          </a:xfrm>
          <a:prstGeom prst="rect">
            <a:avLst/>
          </a:prstGeom>
        </p:spPr>
      </p:pic>
      <p:pic>
        <p:nvPicPr>
          <p:cNvPr id="32" name="Picture 31">
            <a:extLst>
              <a:ext uri="{FF2B5EF4-FFF2-40B4-BE49-F238E27FC236}">
                <a16:creationId xmlns:a16="http://schemas.microsoft.com/office/drawing/2014/main" id="{9407C601-544B-FA07-1D4B-6AFDBFE148F5}"/>
              </a:ext>
            </a:extLst>
          </p:cNvPr>
          <p:cNvPicPr>
            <a:picLocks noChangeAspect="1"/>
          </p:cNvPicPr>
          <p:nvPr/>
        </p:nvPicPr>
        <p:blipFill>
          <a:blip r:embed="rId4"/>
          <a:stretch>
            <a:fillRect/>
          </a:stretch>
        </p:blipFill>
        <p:spPr>
          <a:xfrm>
            <a:off x="360143" y="4354440"/>
            <a:ext cx="4816071" cy="47359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30 TO 40  SIMULATE AND PROVE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55808A"/>
          </a:solidFill>
          <a:ln w="3175">
            <a:solidFill>
              <a:srgbClr val="55808A"/>
            </a:solidFill>
            <a:prstDash val="solid"/>
          </a:ln>
        </p:spPr>
      </p:sp>
      <p:sp>
        <p:nvSpPr>
          <p:cNvPr id="8" name="Timeline F"/>
          <p:cNvSpPr/>
          <p:nvPr/>
        </p:nvSpPr>
        <p:spPr>
          <a:xfrm>
            <a:off x="6462584" y="429768"/>
            <a:ext cx="2224216" cy="82296"/>
          </a:xfrm>
          <a:prstGeom prst="roundRect">
            <a:avLst>
              <a:gd name="adj" fmla="val 44444"/>
            </a:avLst>
          </a:prstGeom>
          <a:solidFill>
            <a:srgbClr val="C58B5A"/>
          </a:solidFill>
          <a:ln w="3175">
            <a:solidFill>
              <a:srgbClr val="C58B5A"/>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Why our ESKF lost to the EKF, and the fix</a:t>
            </a:r>
            <a:endParaRPr lang="en-US" sz="2600" dirty="0"/>
          </a:p>
        </p:txBody>
      </p:sp>
      <p:graphicFrame>
        <p:nvGraphicFramePr>
          <p:cNvPr id="15" name="Chart 0"/>
          <p:cNvGraphicFramePr/>
          <p:nvPr/>
        </p:nvGraphicFramePr>
        <p:xfrm>
          <a:off x="365760" y="1280160"/>
          <a:ext cx="51206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6" name="Card"/>
          <p:cNvSpPr/>
          <p:nvPr/>
        </p:nvSpPr>
        <p:spPr>
          <a:xfrm>
            <a:off x="5669280" y="1371600"/>
            <a:ext cx="3017520" cy="960120"/>
          </a:xfrm>
          <a:prstGeom prst="roundRect">
            <a:avLst>
              <a:gd name="adj" fmla="val 7619"/>
            </a:avLst>
          </a:prstGeom>
          <a:solidFill>
            <a:srgbClr val="E3EBEA"/>
          </a:solidFill>
          <a:ln w="6350">
            <a:solidFill>
              <a:srgbClr val="E3EBEA"/>
            </a:solidFill>
            <a:prstDash val="solid"/>
          </a:ln>
        </p:spPr>
      </p:sp>
      <p:sp>
        <p:nvSpPr>
          <p:cNvPr id="17" name="Text 14"/>
          <p:cNvSpPr txBox="1"/>
          <p:nvPr/>
        </p:nvSpPr>
        <p:spPr>
          <a:xfrm>
            <a:off x="5806440" y="1444752"/>
            <a:ext cx="2743200" cy="256032"/>
          </a:xfrm>
          <a:prstGeom prst="rect">
            <a:avLst/>
          </a:prstGeom>
          <a:noFill/>
          <a:ln/>
        </p:spPr>
        <p:txBody>
          <a:bodyPr wrap="square" lIns="0" tIns="0" rIns="0" bIns="0" rtlCol="0" anchor="t"/>
          <a:lstStyle/>
          <a:p>
            <a:pPr marL="0" indent="0">
              <a:buNone/>
            </a:pPr>
            <a:r>
              <a:rPr lang="en-US" sz="1200" b="1" dirty="0">
                <a:solidFill>
                  <a:srgbClr val="C58B5A"/>
                </a:solidFill>
                <a:latin typeface="Calibri" pitchFamily="34" charset="0"/>
                <a:ea typeface="Calibri" pitchFamily="34" charset="-122"/>
                <a:cs typeface="Calibri" pitchFamily="34" charset="-120"/>
              </a:rPr>
              <a:t>Cause</a:t>
            </a:r>
            <a:endParaRPr lang="en-US" sz="1200" dirty="0"/>
          </a:p>
        </p:txBody>
      </p:sp>
      <p:sp>
        <p:nvSpPr>
          <p:cNvPr id="18" name="Text 15"/>
          <p:cNvSpPr txBox="1"/>
          <p:nvPr/>
        </p:nvSpPr>
        <p:spPr>
          <a:xfrm>
            <a:off x="5806440" y="1700784"/>
            <a:ext cx="2743200" cy="603504"/>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No gravity measurement, so roll and pitch drifted with gyro bias</a:t>
            </a:r>
            <a:endParaRPr lang="en-US" sz="1200" dirty="0"/>
          </a:p>
        </p:txBody>
      </p:sp>
      <p:sp>
        <p:nvSpPr>
          <p:cNvPr id="19" name="Card"/>
          <p:cNvSpPr/>
          <p:nvPr/>
        </p:nvSpPr>
        <p:spPr>
          <a:xfrm>
            <a:off x="5669280" y="2468880"/>
            <a:ext cx="3017520" cy="960120"/>
          </a:xfrm>
          <a:prstGeom prst="roundRect">
            <a:avLst>
              <a:gd name="adj" fmla="val 7619"/>
            </a:avLst>
          </a:prstGeom>
          <a:solidFill>
            <a:srgbClr val="2F4858"/>
          </a:solidFill>
          <a:ln w="6350">
            <a:solidFill>
              <a:srgbClr val="2F4858"/>
            </a:solidFill>
            <a:prstDash val="solid"/>
          </a:ln>
        </p:spPr>
      </p:sp>
      <p:sp>
        <p:nvSpPr>
          <p:cNvPr id="20" name="Text 17"/>
          <p:cNvSpPr txBox="1"/>
          <p:nvPr/>
        </p:nvSpPr>
        <p:spPr>
          <a:xfrm>
            <a:off x="5806440" y="2542032"/>
            <a:ext cx="2743200" cy="256032"/>
          </a:xfrm>
          <a:prstGeom prst="rect">
            <a:avLst/>
          </a:prstGeom>
          <a:noFill/>
          <a:ln/>
        </p:spPr>
        <p:txBody>
          <a:bodyPr wrap="square" lIns="0" tIns="0" rIns="0" bIns="0" rtlCol="0" anchor="t"/>
          <a:lstStyle/>
          <a:p>
            <a:pPr marL="0" indent="0">
              <a:buNone/>
            </a:pPr>
            <a:r>
              <a:rPr lang="en-US" sz="1200" b="1" dirty="0">
                <a:solidFill>
                  <a:srgbClr val="C58B5A"/>
                </a:solidFill>
                <a:latin typeface="Calibri" pitchFamily="34" charset="0"/>
                <a:ea typeface="Calibri" pitchFamily="34" charset="-122"/>
                <a:cs typeface="Calibri" pitchFamily="34" charset="-120"/>
              </a:rPr>
              <a:t>Fix</a:t>
            </a:r>
            <a:endParaRPr lang="en-US" sz="1200" dirty="0"/>
          </a:p>
        </p:txBody>
      </p:sp>
      <p:sp>
        <p:nvSpPr>
          <p:cNvPr id="21" name="Text 18"/>
          <p:cNvSpPr txBox="1"/>
          <p:nvPr/>
        </p:nvSpPr>
        <p:spPr>
          <a:xfrm>
            <a:off x="5806440" y="2798064"/>
            <a:ext cx="2743200" cy="603504"/>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Adaptive gravity update that fades out during manoeuvres</a:t>
            </a:r>
            <a:endParaRPr lang="en-US" sz="1200" dirty="0"/>
          </a:p>
        </p:txBody>
      </p:sp>
      <p:sp>
        <p:nvSpPr>
          <p:cNvPr id="22" name="Card"/>
          <p:cNvSpPr/>
          <p:nvPr/>
        </p:nvSpPr>
        <p:spPr>
          <a:xfrm>
            <a:off x="5669280" y="3566160"/>
            <a:ext cx="3017520" cy="960120"/>
          </a:xfrm>
          <a:prstGeom prst="roundRect">
            <a:avLst>
              <a:gd name="adj" fmla="val 7619"/>
            </a:avLst>
          </a:prstGeom>
          <a:solidFill>
            <a:srgbClr val="E3EBEA"/>
          </a:solidFill>
          <a:ln w="6350">
            <a:solidFill>
              <a:srgbClr val="E3EBEA"/>
            </a:solidFill>
            <a:prstDash val="solid"/>
          </a:ln>
        </p:spPr>
      </p:sp>
      <p:sp>
        <p:nvSpPr>
          <p:cNvPr id="23" name="Text 20"/>
          <p:cNvSpPr txBox="1"/>
          <p:nvPr/>
        </p:nvSpPr>
        <p:spPr>
          <a:xfrm>
            <a:off x="5806440" y="3639312"/>
            <a:ext cx="2743200" cy="256032"/>
          </a:xfrm>
          <a:prstGeom prst="rect">
            <a:avLst/>
          </a:prstGeom>
          <a:noFill/>
          <a:ln/>
        </p:spPr>
        <p:txBody>
          <a:bodyPr wrap="square" lIns="0" tIns="0" rIns="0" bIns="0" rtlCol="0" anchor="t"/>
          <a:lstStyle/>
          <a:p>
            <a:pPr marL="0" indent="0">
              <a:buNone/>
            </a:pPr>
            <a:r>
              <a:rPr lang="en-US" sz="1200" b="1" dirty="0">
                <a:solidFill>
                  <a:srgbClr val="C58B5A"/>
                </a:solidFill>
                <a:latin typeface="Calibri" pitchFamily="34" charset="0"/>
                <a:ea typeface="Calibri" pitchFamily="34" charset="-122"/>
                <a:cs typeface="Calibri" pitchFamily="34" charset="-120"/>
              </a:rPr>
              <a:t>Price</a:t>
            </a:r>
            <a:endParaRPr lang="en-US" sz="1200" dirty="0"/>
          </a:p>
        </p:txBody>
      </p:sp>
      <p:sp>
        <p:nvSpPr>
          <p:cNvPr id="24" name="Text 21"/>
          <p:cNvSpPr txBox="1"/>
          <p:nvPr/>
        </p:nvSpPr>
        <p:spPr>
          <a:xfrm>
            <a:off x="5806440" y="3895344"/>
            <a:ext cx="2743200" cy="603504"/>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Fixed gravity noise doubled position error in a 3.5 m/s² loop, 0.05 to 0.10 m. Adaptive: 0.051 m</a:t>
            </a:r>
            <a:endParaRPr lang="en-US" sz="12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30 TO 40  SIMULATE AND PROVE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55808A"/>
          </a:solidFill>
          <a:ln w="3175">
            <a:solidFill>
              <a:srgbClr val="55808A"/>
            </a:solidFill>
            <a:prstDash val="solid"/>
          </a:ln>
        </p:spPr>
      </p:sp>
      <p:sp>
        <p:nvSpPr>
          <p:cNvPr id="8" name="Timeline F"/>
          <p:cNvSpPr/>
          <p:nvPr/>
        </p:nvSpPr>
        <p:spPr>
          <a:xfrm>
            <a:off x="6462584" y="429768"/>
            <a:ext cx="2224216" cy="82296"/>
          </a:xfrm>
          <a:prstGeom prst="roundRect">
            <a:avLst>
              <a:gd name="adj" fmla="val 44444"/>
            </a:avLst>
          </a:prstGeom>
          <a:solidFill>
            <a:srgbClr val="C58B5A"/>
          </a:solidFill>
          <a:ln w="3175">
            <a:solidFill>
              <a:srgbClr val="C58B5A"/>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Environment Setup in Gazebo</a:t>
            </a:r>
            <a:endParaRPr lang="en-US" sz="2600" dirty="0"/>
          </a:p>
        </p:txBody>
      </p:sp>
      <p:pic>
        <p:nvPicPr>
          <p:cNvPr id="15" name="Image gz_land.png" descr="/tmp/claude-0/-home-claude/754ab589-6f62-5f2f-8c52-b16fa7cef1a3/scratchpad/assets/gz_land.png"/>
          <p:cNvPicPr>
            <a:picLocks noChangeAspect="1"/>
          </p:cNvPicPr>
          <p:nvPr/>
        </p:nvPicPr>
        <p:blipFill>
          <a:blip r:embed="rId3"/>
          <a:stretch>
            <a:fillRect/>
          </a:stretch>
        </p:blipFill>
        <p:spPr>
          <a:xfrm>
            <a:off x="457200" y="1350818"/>
            <a:ext cx="3840480" cy="3241964"/>
          </a:xfrm>
          <a:prstGeom prst="rect">
            <a:avLst/>
          </a:prstGeom>
        </p:spPr>
      </p:pic>
      <p:sp>
        <p:nvSpPr>
          <p:cNvPr id="16" name="Card"/>
          <p:cNvSpPr/>
          <p:nvPr/>
        </p:nvSpPr>
        <p:spPr>
          <a:xfrm>
            <a:off x="4526280" y="1371600"/>
            <a:ext cx="2011680" cy="1554480"/>
          </a:xfrm>
          <a:prstGeom prst="roundRect">
            <a:avLst>
              <a:gd name="adj" fmla="val 4706"/>
            </a:avLst>
          </a:prstGeom>
          <a:solidFill>
            <a:srgbClr val="E3EBEA"/>
          </a:solidFill>
          <a:ln w="6350">
            <a:solidFill>
              <a:srgbClr val="E3EBEA"/>
            </a:solidFill>
            <a:prstDash val="solid"/>
          </a:ln>
        </p:spPr>
      </p:sp>
      <p:sp>
        <p:nvSpPr>
          <p:cNvPr id="17" name="Text 14"/>
          <p:cNvSpPr txBox="1"/>
          <p:nvPr/>
        </p:nvSpPr>
        <p:spPr>
          <a:xfrm>
            <a:off x="4636008" y="1481328"/>
            <a:ext cx="1792224" cy="457200"/>
          </a:xfrm>
          <a:prstGeom prst="rect">
            <a:avLst/>
          </a:prstGeom>
          <a:noFill/>
          <a:ln/>
        </p:spPr>
        <p:txBody>
          <a:bodyPr wrap="square" lIns="0" tIns="0" rIns="0" bIns="0" rtlCol="0" anchor="ctr"/>
          <a:lstStyle/>
          <a:p>
            <a:pPr marL="0" indent="0">
              <a:buNone/>
            </a:pPr>
            <a:r>
              <a:rPr lang="en-US" sz="1500" b="1" dirty="0">
                <a:solidFill>
                  <a:srgbClr val="2F4858"/>
                </a:solidFill>
                <a:latin typeface="Cambria" pitchFamily="34" charset="0"/>
                <a:ea typeface="Cambria" pitchFamily="34" charset="-122"/>
                <a:cs typeface="Cambria" pitchFamily="34" charset="-120"/>
              </a:rPr>
              <a:t>PX4 x500</a:t>
            </a:r>
            <a:endParaRPr lang="en-US" sz="1500" dirty="0"/>
          </a:p>
        </p:txBody>
      </p:sp>
      <p:sp>
        <p:nvSpPr>
          <p:cNvPr id="18" name="Text 15"/>
          <p:cNvSpPr txBox="1"/>
          <p:nvPr/>
        </p:nvSpPr>
        <p:spPr>
          <a:xfrm>
            <a:off x="4636008" y="2011680"/>
            <a:ext cx="1792224" cy="868680"/>
          </a:xfrm>
          <a:prstGeom prst="rect">
            <a:avLst/>
          </a:prstGeom>
          <a:noFill/>
          <a:ln/>
        </p:spPr>
        <p:txBody>
          <a:bodyPr wrap="square" lIns="0" tIns="0" rIns="0" bIns="0" rtlCol="0" anchor="t"/>
          <a:lstStyle/>
          <a:p>
            <a:pPr marL="0" indent="0">
              <a:buNone/>
            </a:pPr>
            <a:r>
              <a:rPr lang="en-US" sz="1400" dirty="0">
                <a:solidFill>
                  <a:srgbClr val="26343A"/>
                </a:solidFill>
                <a:latin typeface="Calibri" pitchFamily="34" charset="0"/>
                <a:ea typeface="Calibri" pitchFamily="34" charset="-122"/>
                <a:cs typeface="Calibri" pitchFamily="34" charset="-120"/>
              </a:rPr>
              <a:t>5 straight passes over the track at 0.3 m/s for 50m , real motor physics</a:t>
            </a:r>
            <a:endParaRPr lang="en-US" sz="1400" dirty="0"/>
          </a:p>
        </p:txBody>
      </p:sp>
      <p:sp>
        <p:nvSpPr>
          <p:cNvPr id="19" name="Card"/>
          <p:cNvSpPr/>
          <p:nvPr/>
        </p:nvSpPr>
        <p:spPr>
          <a:xfrm>
            <a:off x="6629400" y="1371600"/>
            <a:ext cx="2011680" cy="1554480"/>
          </a:xfrm>
          <a:prstGeom prst="roundRect">
            <a:avLst>
              <a:gd name="adj" fmla="val 4706"/>
            </a:avLst>
          </a:prstGeom>
          <a:solidFill>
            <a:srgbClr val="E3EBEA"/>
          </a:solidFill>
          <a:ln w="6350">
            <a:solidFill>
              <a:srgbClr val="E3EBEA"/>
            </a:solidFill>
            <a:prstDash val="solid"/>
          </a:ln>
        </p:spPr>
      </p:sp>
      <p:sp>
        <p:nvSpPr>
          <p:cNvPr id="20" name="Text 17"/>
          <p:cNvSpPr txBox="1"/>
          <p:nvPr/>
        </p:nvSpPr>
        <p:spPr>
          <a:xfrm>
            <a:off x="6739128" y="1481328"/>
            <a:ext cx="1792224" cy="457200"/>
          </a:xfrm>
          <a:prstGeom prst="rect">
            <a:avLst/>
          </a:prstGeom>
          <a:noFill/>
          <a:ln/>
        </p:spPr>
        <p:txBody>
          <a:bodyPr wrap="square" lIns="0" tIns="0" rIns="0" bIns="0" rtlCol="0" anchor="ctr"/>
          <a:lstStyle/>
          <a:p>
            <a:pPr marL="0" indent="0">
              <a:buNone/>
            </a:pPr>
            <a:r>
              <a:rPr lang="en-US" sz="1500" b="1" dirty="0">
                <a:solidFill>
                  <a:srgbClr val="2F4858"/>
                </a:solidFill>
                <a:latin typeface="Cambria" pitchFamily="34" charset="0"/>
                <a:ea typeface="Cambria" pitchFamily="34" charset="-122"/>
                <a:cs typeface="Cambria" pitchFamily="34" charset="-120"/>
              </a:rPr>
              <a:t>Phone noise IMU</a:t>
            </a:r>
            <a:endParaRPr lang="en-US" sz="1500" dirty="0"/>
          </a:p>
        </p:txBody>
      </p:sp>
      <p:sp>
        <p:nvSpPr>
          <p:cNvPr id="21" name="Text 18"/>
          <p:cNvSpPr txBox="1"/>
          <p:nvPr/>
        </p:nvSpPr>
        <p:spPr>
          <a:xfrm>
            <a:off x="6739128" y="1934306"/>
            <a:ext cx="1792224" cy="868680"/>
          </a:xfrm>
          <a:prstGeom prst="rect">
            <a:avLst/>
          </a:prstGeom>
          <a:noFill/>
          <a:ln/>
        </p:spPr>
        <p:txBody>
          <a:bodyPr wrap="square" lIns="0" tIns="0" rIns="0" bIns="0" rtlCol="0" anchor="t"/>
          <a:lstStyle/>
          <a:p>
            <a:pPr marL="0" indent="0">
              <a:buNone/>
            </a:pPr>
            <a:r>
              <a:rPr lang="en-US" sz="1400" dirty="0">
                <a:solidFill>
                  <a:srgbClr val="26343A"/>
                </a:solidFill>
                <a:latin typeface="Calibri" pitchFamily="34" charset="0"/>
                <a:ea typeface="Calibri" pitchFamily="34" charset="-122"/>
                <a:cs typeface="Calibri" pitchFamily="34" charset="-120"/>
              </a:rPr>
              <a:t>Integrated our measured noise model into simulation IMU noise</a:t>
            </a:r>
            <a:endParaRPr lang="en-US" sz="1400" dirty="0"/>
          </a:p>
        </p:txBody>
      </p:sp>
      <p:sp>
        <p:nvSpPr>
          <p:cNvPr id="22" name="Card"/>
          <p:cNvSpPr/>
          <p:nvPr/>
        </p:nvSpPr>
        <p:spPr>
          <a:xfrm>
            <a:off x="4526280" y="3063240"/>
            <a:ext cx="2011680" cy="1554480"/>
          </a:xfrm>
          <a:prstGeom prst="roundRect">
            <a:avLst>
              <a:gd name="adj" fmla="val 4706"/>
            </a:avLst>
          </a:prstGeom>
          <a:solidFill>
            <a:srgbClr val="E3EBEA"/>
          </a:solidFill>
          <a:ln w="6350">
            <a:solidFill>
              <a:srgbClr val="E3EBEA"/>
            </a:solidFill>
            <a:prstDash val="solid"/>
          </a:ln>
        </p:spPr>
      </p:sp>
      <p:sp>
        <p:nvSpPr>
          <p:cNvPr id="23" name="Text 20"/>
          <p:cNvSpPr txBox="1"/>
          <p:nvPr/>
        </p:nvSpPr>
        <p:spPr>
          <a:xfrm>
            <a:off x="4636008" y="3172968"/>
            <a:ext cx="1792224" cy="457200"/>
          </a:xfrm>
          <a:prstGeom prst="rect">
            <a:avLst/>
          </a:prstGeom>
          <a:noFill/>
          <a:ln/>
        </p:spPr>
        <p:txBody>
          <a:bodyPr wrap="square" lIns="0" tIns="0" rIns="0" bIns="0" rtlCol="0" anchor="ctr"/>
          <a:lstStyle/>
          <a:p>
            <a:pPr marL="0" indent="0">
              <a:buNone/>
            </a:pPr>
            <a:r>
              <a:rPr lang="en-US" sz="1500" b="1" dirty="0">
                <a:solidFill>
                  <a:srgbClr val="2F4858"/>
                </a:solidFill>
                <a:latin typeface="Cambria" pitchFamily="34" charset="0"/>
                <a:ea typeface="Cambria" pitchFamily="34" charset="-122"/>
                <a:cs typeface="Cambria" pitchFamily="34" charset="-120"/>
              </a:rPr>
              <a:t>8 UWB anchors</a:t>
            </a:r>
            <a:endParaRPr lang="en-US" sz="1500" dirty="0"/>
          </a:p>
        </p:txBody>
      </p:sp>
      <p:sp>
        <p:nvSpPr>
          <p:cNvPr id="24" name="Text 21"/>
          <p:cNvSpPr txBox="1"/>
          <p:nvPr/>
        </p:nvSpPr>
        <p:spPr>
          <a:xfrm>
            <a:off x="4636008" y="3703320"/>
            <a:ext cx="1792224" cy="868680"/>
          </a:xfrm>
          <a:prstGeom prst="rect">
            <a:avLst/>
          </a:prstGeom>
          <a:noFill/>
          <a:ln/>
        </p:spPr>
        <p:txBody>
          <a:bodyPr wrap="square" lIns="0" tIns="0" rIns="0" bIns="0" rtlCol="0" anchor="t"/>
          <a:lstStyle/>
          <a:p>
            <a:pPr marL="0" indent="0">
              <a:buNone/>
            </a:pPr>
            <a:r>
              <a:rPr lang="en-US" sz="1400" dirty="0">
                <a:solidFill>
                  <a:srgbClr val="26343A"/>
                </a:solidFill>
                <a:latin typeface="Calibri" pitchFamily="34" charset="0"/>
                <a:ea typeface="Calibri" pitchFamily="34" charset="-122"/>
                <a:cs typeface="Calibri" pitchFamily="34" charset="-120"/>
              </a:rPr>
              <a:t>12 m cube and 8 UWB at corners of the cube</a:t>
            </a:r>
            <a:endParaRPr lang="en-US" sz="1400" dirty="0"/>
          </a:p>
        </p:txBody>
      </p:sp>
      <p:sp>
        <p:nvSpPr>
          <p:cNvPr id="25" name="Card"/>
          <p:cNvSpPr/>
          <p:nvPr/>
        </p:nvSpPr>
        <p:spPr>
          <a:xfrm>
            <a:off x="6629400" y="3063240"/>
            <a:ext cx="2011680" cy="1554480"/>
          </a:xfrm>
          <a:prstGeom prst="roundRect">
            <a:avLst>
              <a:gd name="adj" fmla="val 4706"/>
            </a:avLst>
          </a:prstGeom>
          <a:solidFill>
            <a:srgbClr val="E3EBEA"/>
          </a:solidFill>
          <a:ln w="6350">
            <a:solidFill>
              <a:srgbClr val="E3EBEA"/>
            </a:solidFill>
            <a:prstDash val="solid"/>
          </a:ln>
        </p:spPr>
      </p:sp>
      <p:sp>
        <p:nvSpPr>
          <p:cNvPr id="26" name="Text 23"/>
          <p:cNvSpPr txBox="1"/>
          <p:nvPr/>
        </p:nvSpPr>
        <p:spPr>
          <a:xfrm>
            <a:off x="6739128" y="3172968"/>
            <a:ext cx="1792224" cy="457200"/>
          </a:xfrm>
          <a:prstGeom prst="rect">
            <a:avLst/>
          </a:prstGeom>
          <a:noFill/>
          <a:ln/>
        </p:spPr>
        <p:txBody>
          <a:bodyPr wrap="square" lIns="0" tIns="0" rIns="0" bIns="0" rtlCol="0" anchor="ctr"/>
          <a:lstStyle/>
          <a:p>
            <a:pPr marL="0" indent="0">
              <a:buNone/>
            </a:pPr>
            <a:r>
              <a:rPr lang="en-US" sz="1500" b="1" dirty="0">
                <a:solidFill>
                  <a:srgbClr val="2F4858"/>
                </a:solidFill>
                <a:latin typeface="Cambria" pitchFamily="34" charset="0"/>
                <a:ea typeface="Cambria" pitchFamily="34" charset="-122"/>
              </a:rPr>
              <a:t>ROS2</a:t>
            </a:r>
            <a:endParaRPr lang="en-US" sz="1500" dirty="0"/>
          </a:p>
        </p:txBody>
      </p:sp>
      <p:sp>
        <p:nvSpPr>
          <p:cNvPr id="27" name="Text 24"/>
          <p:cNvSpPr txBox="1"/>
          <p:nvPr/>
        </p:nvSpPr>
        <p:spPr>
          <a:xfrm>
            <a:off x="6739128" y="3640014"/>
            <a:ext cx="1792224" cy="868680"/>
          </a:xfrm>
          <a:prstGeom prst="rect">
            <a:avLst/>
          </a:prstGeom>
          <a:noFill/>
          <a:ln/>
        </p:spPr>
        <p:txBody>
          <a:bodyPr wrap="square" lIns="0" tIns="0" rIns="0" bIns="0" rtlCol="0" anchor="t"/>
          <a:lstStyle/>
          <a:p>
            <a:pPr marL="0" indent="0">
              <a:buNone/>
            </a:pPr>
            <a:r>
              <a:rPr lang="en-US" sz="1400" dirty="0" err="1">
                <a:solidFill>
                  <a:srgbClr val="26343A"/>
                </a:solidFill>
                <a:latin typeface="Calibri" pitchFamily="34" charset="0"/>
                <a:ea typeface="Calibri" pitchFamily="34" charset="-122"/>
                <a:cs typeface="Calibri" pitchFamily="34" charset="-120"/>
              </a:rPr>
              <a:t>Intergrated</a:t>
            </a:r>
            <a:r>
              <a:rPr lang="en-US" sz="1400" dirty="0">
                <a:solidFill>
                  <a:srgbClr val="26343A"/>
                </a:solidFill>
                <a:latin typeface="Calibri" pitchFamily="34" charset="0"/>
                <a:ea typeface="Calibri" pitchFamily="34" charset="-122"/>
                <a:cs typeface="Calibri" pitchFamily="34" charset="-120"/>
              </a:rPr>
              <a:t> ROS2 with Gazebo via </a:t>
            </a:r>
            <a:r>
              <a:rPr lang="en-US" sz="1400" dirty="0" err="1">
                <a:solidFill>
                  <a:srgbClr val="26343A"/>
                </a:solidFill>
                <a:latin typeface="Calibri" pitchFamily="34" charset="0"/>
                <a:ea typeface="Calibri" pitchFamily="34" charset="-122"/>
                <a:cs typeface="Calibri" pitchFamily="34" charset="-120"/>
              </a:rPr>
              <a:t>ros_gz_bridge</a:t>
            </a:r>
            <a:endParaRPr lang="en-US" sz="1400" dirty="0">
              <a:solidFill>
                <a:srgbClr val="26343A"/>
              </a:solidFill>
              <a:latin typeface="Calibri" pitchFamily="34" charset="0"/>
              <a:ea typeface="Calibri" pitchFamily="34" charset="-122"/>
              <a:cs typeface="Calibri" pitchFamily="34" charset="-120"/>
            </a:endParaRPr>
          </a:p>
        </p:txBody>
      </p:sp>
      <p:sp>
        <p:nvSpPr>
          <p:cNvPr id="28"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30 TO 40  SIMULATE AND PROVE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55808A"/>
          </a:solidFill>
          <a:ln w="3175">
            <a:solidFill>
              <a:srgbClr val="55808A"/>
            </a:solidFill>
            <a:prstDash val="solid"/>
          </a:ln>
        </p:spPr>
      </p:sp>
      <p:sp>
        <p:nvSpPr>
          <p:cNvPr id="8" name="Timeline F"/>
          <p:cNvSpPr/>
          <p:nvPr/>
        </p:nvSpPr>
        <p:spPr>
          <a:xfrm>
            <a:off x="6462584" y="429768"/>
            <a:ext cx="2224216" cy="82296"/>
          </a:xfrm>
          <a:prstGeom prst="roundRect">
            <a:avLst>
              <a:gd name="adj" fmla="val 44444"/>
            </a:avLst>
          </a:prstGeom>
          <a:solidFill>
            <a:srgbClr val="C58B5A"/>
          </a:solidFill>
          <a:ln w="3175">
            <a:solidFill>
              <a:srgbClr val="C58B5A"/>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ESKF path against ground truth</a:t>
            </a:r>
            <a:endParaRPr lang="en-US" sz="2600" dirty="0"/>
          </a:p>
        </p:txBody>
      </p:sp>
      <p:pic>
        <p:nvPicPr>
          <p:cNvPr id="15" name="Image rviz_zoom.png" descr="/tmp/claude-0/-home-claude/754ab589-6f62-5f2f-8c52-b16fa7cef1a3/scratchpad/assets/rviz_zoom.png"/>
          <p:cNvPicPr>
            <a:picLocks noChangeAspect="1"/>
          </p:cNvPicPr>
          <p:nvPr/>
        </p:nvPicPr>
        <p:blipFill>
          <a:blip r:embed="rId3"/>
          <a:stretch>
            <a:fillRect/>
          </a:stretch>
        </p:blipFill>
        <p:spPr>
          <a:xfrm>
            <a:off x="457200" y="1280160"/>
            <a:ext cx="3647049" cy="2788920"/>
          </a:xfrm>
          <a:prstGeom prst="rect">
            <a:avLst/>
          </a:prstGeom>
        </p:spPr>
      </p:pic>
      <p:pic>
        <p:nvPicPr>
          <p:cNvPr id="16" name="Image gz_land2.png" descr="/tmp/claude-0/-home-claude/754ab589-6f62-5f2f-8c52-b16fa7cef1a3/scratchpad/assets/gz_land2.png"/>
          <p:cNvPicPr>
            <a:picLocks noChangeAspect="1"/>
          </p:cNvPicPr>
          <p:nvPr/>
        </p:nvPicPr>
        <p:blipFill>
          <a:blip r:embed="rId4"/>
          <a:stretch>
            <a:fillRect/>
          </a:stretch>
        </p:blipFill>
        <p:spPr>
          <a:xfrm>
            <a:off x="4663440" y="1280160"/>
            <a:ext cx="3303798" cy="2788920"/>
          </a:xfrm>
          <a:prstGeom prst="rect">
            <a:avLst/>
          </a:prstGeom>
        </p:spPr>
      </p:pic>
      <p:sp>
        <p:nvSpPr>
          <p:cNvPr id="17" name="Text 13"/>
          <p:cNvSpPr txBox="1"/>
          <p:nvPr/>
        </p:nvSpPr>
        <p:spPr>
          <a:xfrm>
            <a:off x="457200" y="4114800"/>
            <a:ext cx="4023360" cy="228600"/>
          </a:xfrm>
          <a:prstGeom prst="rect">
            <a:avLst/>
          </a:prstGeom>
          <a:noFill/>
          <a:ln/>
        </p:spPr>
        <p:txBody>
          <a:bodyPr wrap="square" lIns="0" tIns="0" rIns="0" bIns="0" rtlCol="0" anchor="t"/>
          <a:lstStyle/>
          <a:p>
            <a:pPr marL="0" indent="0">
              <a:buNone/>
            </a:pPr>
            <a:r>
              <a:rPr lang="en-US" sz="1200" dirty="0">
                <a:solidFill>
                  <a:srgbClr val="55808A"/>
                </a:solidFill>
                <a:latin typeface="Calibri" pitchFamily="34" charset="0"/>
                <a:ea typeface="Calibri" pitchFamily="34" charset="-122"/>
                <a:cs typeface="Calibri" pitchFamily="34" charset="-120"/>
              </a:rPr>
              <a:t>RViz: green is the ESKF estimate, red is ground truth</a:t>
            </a:r>
            <a:endParaRPr lang="en-US" sz="1200" dirty="0"/>
          </a:p>
        </p:txBody>
      </p:sp>
      <p:sp>
        <p:nvSpPr>
          <p:cNvPr id="18" name="Text 14"/>
          <p:cNvSpPr txBox="1"/>
          <p:nvPr/>
        </p:nvSpPr>
        <p:spPr>
          <a:xfrm>
            <a:off x="4663440" y="4114800"/>
            <a:ext cx="4023360" cy="228600"/>
          </a:xfrm>
          <a:prstGeom prst="rect">
            <a:avLst/>
          </a:prstGeom>
          <a:noFill/>
          <a:ln/>
        </p:spPr>
        <p:txBody>
          <a:bodyPr wrap="square" lIns="0" tIns="0" rIns="0" bIns="0" rtlCol="0" anchor="t"/>
          <a:lstStyle/>
          <a:p>
            <a:pPr marL="0" indent="0">
              <a:buNone/>
            </a:pPr>
            <a:r>
              <a:rPr lang="en-US" sz="1200" dirty="0">
                <a:solidFill>
                  <a:srgbClr val="55808A"/>
                </a:solidFill>
                <a:latin typeface="Calibri" pitchFamily="34" charset="0"/>
                <a:ea typeface="Calibri" pitchFamily="34" charset="-122"/>
                <a:cs typeface="Calibri" pitchFamily="34" charset="-120"/>
              </a:rPr>
              <a:t>Gazebo: both paths drawn on the floor under the drone</a:t>
            </a:r>
            <a:endParaRPr lang="en-US" sz="1200" dirty="0"/>
          </a:p>
        </p:txBody>
      </p:sp>
      <p:sp>
        <p:nvSpPr>
          <p:cNvPr id="19" name="Card"/>
          <p:cNvSpPr/>
          <p:nvPr/>
        </p:nvSpPr>
        <p:spPr>
          <a:xfrm>
            <a:off x="457200" y="4389120"/>
            <a:ext cx="8229600" cy="457200"/>
          </a:xfrm>
          <a:prstGeom prst="roundRect">
            <a:avLst>
              <a:gd name="adj" fmla="val 16000"/>
            </a:avLst>
          </a:prstGeom>
          <a:solidFill>
            <a:srgbClr val="2F4858"/>
          </a:solidFill>
          <a:ln w="6350">
            <a:solidFill>
              <a:srgbClr val="2F4858"/>
            </a:solidFill>
            <a:prstDash val="solid"/>
          </a:ln>
        </p:spPr>
      </p:sp>
      <p:sp>
        <p:nvSpPr>
          <p:cNvPr id="20" name="Text 16"/>
          <p:cNvSpPr txBox="1"/>
          <p:nvPr/>
        </p:nvSpPr>
        <p:spPr>
          <a:xfrm>
            <a:off x="640080" y="4389120"/>
            <a:ext cx="128016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0.138m</a:t>
            </a:r>
            <a:endParaRPr lang="en-US" sz="2400" dirty="0"/>
          </a:p>
        </p:txBody>
      </p:sp>
      <p:sp>
        <p:nvSpPr>
          <p:cNvPr id="21" name="Text 17"/>
          <p:cNvSpPr txBox="1"/>
          <p:nvPr/>
        </p:nvSpPr>
        <p:spPr>
          <a:xfrm>
            <a:off x="2011680" y="4389120"/>
            <a:ext cx="6492240" cy="4572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live position RMSE against ground truth, 1,464 matched samples</a:t>
            </a:r>
            <a:endParaRPr lang="en-US" sz="14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30 TO 40  SIMULATE AND PROVE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55808A"/>
          </a:solidFill>
          <a:ln w="3175">
            <a:solidFill>
              <a:srgbClr val="55808A"/>
            </a:solidFill>
            <a:prstDash val="solid"/>
          </a:ln>
        </p:spPr>
      </p:sp>
      <p:sp>
        <p:nvSpPr>
          <p:cNvPr id="8" name="Timeline F"/>
          <p:cNvSpPr/>
          <p:nvPr/>
        </p:nvSpPr>
        <p:spPr>
          <a:xfrm>
            <a:off x="6462584" y="429768"/>
            <a:ext cx="2224216" cy="82296"/>
          </a:xfrm>
          <a:prstGeom prst="roundRect">
            <a:avLst>
              <a:gd name="adj" fmla="val 44444"/>
            </a:avLst>
          </a:prstGeom>
          <a:solidFill>
            <a:srgbClr val="C58B5A"/>
          </a:solidFill>
          <a:ln w="3175">
            <a:solidFill>
              <a:srgbClr val="C58B5A"/>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7758332" y="1276115"/>
            <a:ext cx="1266092" cy="2591270"/>
          </a:xfrm>
          <a:prstGeom prst="rect">
            <a:avLst/>
          </a:prstGeom>
          <a:noFill/>
          <a:ln/>
        </p:spPr>
        <p:txBody>
          <a:bodyPr wrap="square" lIns="0" tIns="0" rIns="0" bIns="0" rtlCol="0" anchor="ctr"/>
          <a:lstStyle/>
          <a:p>
            <a:pPr marL="0" indent="0" algn="ctr">
              <a:buNone/>
            </a:pPr>
            <a:r>
              <a:rPr lang="en-US" sz="2600" b="1" dirty="0">
                <a:solidFill>
                  <a:srgbClr val="2F4858"/>
                </a:solidFill>
                <a:latin typeface="Cambria" pitchFamily="34" charset="0"/>
                <a:ea typeface="Cambria" pitchFamily="34" charset="-122"/>
                <a:cs typeface="Cambria" pitchFamily="34" charset="-120"/>
              </a:rPr>
              <a:t>Watch the run</a:t>
            </a:r>
            <a:endParaRPr lang="en-US" sz="2600" dirty="0"/>
          </a:p>
        </p:txBody>
      </p:sp>
      <p:pic>
        <p:nvPicPr>
          <p:cNvPr id="15" name="Gazebo recording">
            <a:hlinkClick r:id="" action="ppaction://media"/>
          </p:cNvPr>
          <p:cNvPicPr>
            <a:picLocks noChangeAspect="1"/>
          </p:cNvPicPr>
          <p:nvPr>
            <a:videoFile r:link="rId1"/>
            <p:extLst>
              <p:ext uri="{DAA4B4D4-6D71-4841-9C94-3DE7FCFB9230}">
                <p14:media xmlns:p14="http://schemas.microsoft.com/office/powerpoint/2010/main" r:embed="rId2">
                  <p14:trim st="30888"/>
                </p14:media>
              </p:ext>
            </p:extLst>
          </p:nvPr>
        </p:nvPicPr>
        <p:blipFill>
          <a:blip r:embed="rId5"/>
          <a:stretch>
            <a:fillRect/>
          </a:stretch>
        </p:blipFill>
        <p:spPr>
          <a:xfrm>
            <a:off x="165521" y="822960"/>
            <a:ext cx="7409171" cy="4224528"/>
          </a:xfrm>
          <a:prstGeom prst="rect">
            <a:avLst/>
          </a:prstGeom>
        </p:spPr>
      </p:pic>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30 TO 40  SIMULATE AND PROVE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55808A"/>
          </a:solidFill>
          <a:ln w="3175">
            <a:solidFill>
              <a:srgbClr val="55808A"/>
            </a:solidFill>
            <a:prstDash val="solid"/>
          </a:ln>
        </p:spPr>
      </p:sp>
      <p:sp>
        <p:nvSpPr>
          <p:cNvPr id="8" name="Timeline F"/>
          <p:cNvSpPr/>
          <p:nvPr/>
        </p:nvSpPr>
        <p:spPr>
          <a:xfrm>
            <a:off x="6462584" y="429768"/>
            <a:ext cx="2224216" cy="82296"/>
          </a:xfrm>
          <a:prstGeom prst="roundRect">
            <a:avLst>
              <a:gd name="adj" fmla="val 44444"/>
            </a:avLst>
          </a:prstGeom>
          <a:solidFill>
            <a:srgbClr val="C58B5A"/>
          </a:solidFill>
          <a:ln w="3175">
            <a:solidFill>
              <a:srgbClr val="C58B5A"/>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Proof of Concept – Tested ESKF estimator in hardware </a:t>
            </a:r>
            <a:endParaRPr lang="en-US" sz="2600" dirty="0"/>
          </a:p>
        </p:txBody>
      </p:sp>
      <p:pic>
        <p:nvPicPr>
          <p:cNvPr id="15" name="Image tagsheet.png" descr="/tmp/claude-0/-home-claude/754ab589-6f62-5f2f-8c52-b16fa7cef1a3/scratchpad/assets/tagsheet.png"/>
          <p:cNvPicPr>
            <a:picLocks noChangeAspect="1"/>
          </p:cNvPicPr>
          <p:nvPr/>
        </p:nvPicPr>
        <p:blipFill>
          <a:blip r:embed="rId3"/>
          <a:stretch>
            <a:fillRect/>
          </a:stretch>
        </p:blipFill>
        <p:spPr>
          <a:xfrm>
            <a:off x="457200" y="1291590"/>
            <a:ext cx="4023360" cy="2263140"/>
          </a:xfrm>
          <a:prstGeom prst="rect">
            <a:avLst/>
          </a:prstGeom>
        </p:spPr>
      </p:pic>
      <p:pic>
        <p:nvPicPr>
          <p:cNvPr id="16" name="Image walk20.png" descr="/tmp/claude-0/-home-claude/754ab589-6f62-5f2f-8c52-b16fa7cef1a3/scratchpad/assets/walk20.png"/>
          <p:cNvPicPr>
            <a:picLocks noChangeAspect="1"/>
          </p:cNvPicPr>
          <p:nvPr/>
        </p:nvPicPr>
        <p:blipFill>
          <a:blip r:embed="rId4"/>
          <a:stretch>
            <a:fillRect/>
          </a:stretch>
        </p:blipFill>
        <p:spPr>
          <a:xfrm>
            <a:off x="4663440" y="1291590"/>
            <a:ext cx="4023360" cy="2263140"/>
          </a:xfrm>
          <a:prstGeom prst="rect">
            <a:avLst/>
          </a:prstGeom>
        </p:spPr>
      </p:pic>
      <p:sp>
        <p:nvSpPr>
          <p:cNvPr id="17" name="Text 13"/>
          <p:cNvSpPr txBox="1"/>
          <p:nvPr/>
        </p:nvSpPr>
        <p:spPr>
          <a:xfrm>
            <a:off x="457200" y="3611880"/>
            <a:ext cx="4023360" cy="228600"/>
          </a:xfrm>
          <a:prstGeom prst="rect">
            <a:avLst/>
          </a:prstGeom>
          <a:noFill/>
          <a:ln/>
        </p:spPr>
        <p:txBody>
          <a:bodyPr wrap="square" lIns="0" tIns="0" rIns="0" bIns="0" rtlCol="0" anchor="t"/>
          <a:lstStyle/>
          <a:p>
            <a:pPr marL="0" indent="0">
              <a:buNone/>
            </a:pPr>
            <a:r>
              <a:rPr lang="en-US" sz="1200" dirty="0">
                <a:solidFill>
                  <a:srgbClr val="55808A"/>
                </a:solidFill>
                <a:latin typeface="Calibri" pitchFamily="34" charset="0"/>
                <a:ea typeface="Calibri" pitchFamily="34" charset="-122"/>
                <a:cs typeface="Calibri" pitchFamily="34" charset="-120"/>
              </a:rPr>
              <a:t>AprilTag sheets, printed at size of 70x70 mm</a:t>
            </a:r>
            <a:endParaRPr lang="en-US" sz="1200" dirty="0"/>
          </a:p>
        </p:txBody>
      </p:sp>
      <p:sp>
        <p:nvSpPr>
          <p:cNvPr id="18" name="Text 14"/>
          <p:cNvSpPr txBox="1"/>
          <p:nvPr/>
        </p:nvSpPr>
        <p:spPr>
          <a:xfrm>
            <a:off x="4663440" y="3611880"/>
            <a:ext cx="4023360" cy="228600"/>
          </a:xfrm>
          <a:prstGeom prst="rect">
            <a:avLst/>
          </a:prstGeom>
          <a:noFill/>
          <a:ln/>
        </p:spPr>
        <p:txBody>
          <a:bodyPr wrap="square" lIns="0" tIns="0" rIns="0" bIns="0" rtlCol="0" anchor="t"/>
          <a:lstStyle/>
          <a:p>
            <a:pPr marL="0" indent="0">
              <a:buNone/>
            </a:pPr>
            <a:r>
              <a:rPr lang="en-US" sz="1200" dirty="0">
                <a:solidFill>
                  <a:srgbClr val="55808A"/>
                </a:solidFill>
                <a:latin typeface="Calibri" pitchFamily="34" charset="0"/>
                <a:ea typeface="Calibri" pitchFamily="34" charset="-122"/>
                <a:cs typeface="Calibri" pitchFamily="34" charset="-120"/>
              </a:rPr>
              <a:t>What the phone camera sees while walking</a:t>
            </a:r>
            <a:endParaRPr lang="en-US" sz="1200" dirty="0"/>
          </a:p>
        </p:txBody>
      </p:sp>
      <p:sp>
        <p:nvSpPr>
          <p:cNvPr id="19" name="Card"/>
          <p:cNvSpPr/>
          <p:nvPr/>
        </p:nvSpPr>
        <p:spPr>
          <a:xfrm>
            <a:off x="457200" y="3977640"/>
            <a:ext cx="8229600" cy="777240"/>
          </a:xfrm>
          <a:prstGeom prst="roundRect">
            <a:avLst>
              <a:gd name="adj" fmla="val 9412"/>
            </a:avLst>
          </a:prstGeom>
          <a:solidFill>
            <a:srgbClr val="E3EBEA"/>
          </a:solidFill>
          <a:ln w="6350">
            <a:solidFill>
              <a:srgbClr val="E3EBEA"/>
            </a:solidFill>
            <a:prstDash val="solid"/>
          </a:ln>
        </p:spPr>
      </p:sp>
      <p:sp>
        <p:nvSpPr>
          <p:cNvPr id="20" name="Text 16"/>
          <p:cNvSpPr txBox="1"/>
          <p:nvPr/>
        </p:nvSpPr>
        <p:spPr>
          <a:xfrm>
            <a:off x="640080" y="3977640"/>
            <a:ext cx="7863840" cy="777240"/>
          </a:xfrm>
          <a:prstGeom prst="rect">
            <a:avLst/>
          </a:prstGeom>
          <a:noFill/>
          <a:ln/>
        </p:spPr>
        <p:txBody>
          <a:bodyPr wrap="square" lIns="0" tIns="0" rIns="0" bIns="0" rtlCol="0" anchor="ctr"/>
          <a:lstStyle/>
          <a:p>
            <a:pPr marL="0" indent="0">
              <a:buNone/>
            </a:pPr>
            <a:r>
              <a:rPr lang="en-US" sz="1400" dirty="0">
                <a:solidFill>
                  <a:srgbClr val="26343A"/>
                </a:solidFill>
                <a:latin typeface="Calibri" pitchFamily="34" charset="0"/>
                <a:ea typeface="Calibri" pitchFamily="34" charset="-122"/>
                <a:cs typeface="Calibri" pitchFamily="34" charset="-120"/>
              </a:rPr>
              <a:t>Phone IMU at 395 Hz and the back camera at 1080p, 30 fps, recorded together. Tags give position fixes, the ESKF fills the gaps.</a:t>
            </a:r>
            <a:endParaRPr lang="en-US" sz="14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30 TO 40  SIMULATE AND PROVE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55808A"/>
          </a:solidFill>
          <a:ln w="3175">
            <a:solidFill>
              <a:srgbClr val="55808A"/>
            </a:solidFill>
            <a:prstDash val="solid"/>
          </a:ln>
        </p:spPr>
      </p:sp>
      <p:sp>
        <p:nvSpPr>
          <p:cNvPr id="8" name="Timeline F"/>
          <p:cNvSpPr/>
          <p:nvPr/>
        </p:nvSpPr>
        <p:spPr>
          <a:xfrm>
            <a:off x="6462584" y="429768"/>
            <a:ext cx="2224216" cy="82296"/>
          </a:xfrm>
          <a:prstGeom prst="roundRect">
            <a:avLst>
              <a:gd name="adj" fmla="val 44444"/>
            </a:avLst>
          </a:prstGeom>
          <a:solidFill>
            <a:srgbClr val="C58B5A"/>
          </a:solidFill>
          <a:ln w="3175">
            <a:solidFill>
              <a:srgbClr val="C58B5A"/>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Test Run</a:t>
            </a:r>
            <a:endParaRPr lang="en-US" sz="2600" dirty="0"/>
          </a:p>
        </p:txBody>
      </p:sp>
      <p:pic>
        <p:nvPicPr>
          <p:cNvPr id="15" name="Walk recording">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57200" y="1280160"/>
            <a:ext cx="5303520" cy="2980944"/>
          </a:xfrm>
          <a:prstGeom prst="rect">
            <a:avLst/>
          </a:prstGeom>
        </p:spPr>
      </p:pic>
      <p:sp>
        <p:nvSpPr>
          <p:cNvPr id="16" name="Text 13"/>
          <p:cNvSpPr txBox="1"/>
          <p:nvPr/>
        </p:nvSpPr>
        <p:spPr>
          <a:xfrm>
            <a:off x="457200" y="4315968"/>
            <a:ext cx="5303520" cy="228600"/>
          </a:xfrm>
          <a:prstGeom prst="rect">
            <a:avLst/>
          </a:prstGeom>
          <a:noFill/>
          <a:ln/>
        </p:spPr>
        <p:txBody>
          <a:bodyPr wrap="square" lIns="0" tIns="0" rIns="0" bIns="0" rtlCol="0" anchor="t"/>
          <a:lstStyle/>
          <a:p>
            <a:pPr marL="0" indent="0">
              <a:buNone/>
            </a:pPr>
            <a:r>
              <a:rPr lang="en-US" sz="1200" dirty="0">
                <a:solidFill>
                  <a:srgbClr val="55808A"/>
                </a:solidFill>
                <a:latin typeface="Calibri" pitchFamily="34" charset="0"/>
                <a:ea typeface="Calibri" pitchFamily="34" charset="-122"/>
                <a:cs typeface="Calibri" pitchFamily="34" charset="-120"/>
              </a:rPr>
              <a:t>The phone's view during the walk</a:t>
            </a:r>
            <a:endParaRPr lang="en-US" sz="1200" dirty="0"/>
          </a:p>
        </p:txBody>
      </p:sp>
      <p:sp>
        <p:nvSpPr>
          <p:cNvPr id="20" name="Tile"/>
          <p:cNvSpPr/>
          <p:nvPr/>
        </p:nvSpPr>
        <p:spPr>
          <a:xfrm>
            <a:off x="6038557" y="1646623"/>
            <a:ext cx="2697480" cy="1051560"/>
          </a:xfrm>
          <a:prstGeom prst="roundRect">
            <a:avLst>
              <a:gd name="adj" fmla="val 6957"/>
            </a:avLst>
          </a:prstGeom>
          <a:solidFill>
            <a:srgbClr val="E3EBEA"/>
          </a:solidFill>
          <a:ln w="6350">
            <a:solidFill>
              <a:srgbClr val="E3EBEA"/>
            </a:solidFill>
            <a:prstDash val="solid"/>
          </a:ln>
        </p:spPr>
      </p:sp>
      <p:sp>
        <p:nvSpPr>
          <p:cNvPr id="21" name="Text 18"/>
          <p:cNvSpPr txBox="1"/>
          <p:nvPr/>
        </p:nvSpPr>
        <p:spPr>
          <a:xfrm>
            <a:off x="6175717" y="1719775"/>
            <a:ext cx="2423160" cy="525780"/>
          </a:xfrm>
          <a:prstGeom prst="rect">
            <a:avLst/>
          </a:prstGeom>
          <a:noFill/>
          <a:ln/>
        </p:spPr>
        <p:txBody>
          <a:bodyPr wrap="square" lIns="0" tIns="0" rIns="0" bIns="0" rtlCol="0" anchor="ctr"/>
          <a:lstStyle/>
          <a:p>
            <a:pPr marL="0" indent="0">
              <a:buNone/>
            </a:pPr>
            <a:r>
              <a:rPr lang="en-US" sz="2400" b="1" dirty="0">
                <a:solidFill>
                  <a:srgbClr val="2F4858"/>
                </a:solidFill>
                <a:latin typeface="Cambria" pitchFamily="34" charset="0"/>
                <a:ea typeface="Cambria" pitchFamily="34" charset="-122"/>
              </a:rPr>
              <a:t>22 April Tags</a:t>
            </a:r>
            <a:endParaRPr lang="en-US" sz="2400" dirty="0"/>
          </a:p>
        </p:txBody>
      </p:sp>
      <p:sp>
        <p:nvSpPr>
          <p:cNvPr id="22" name="Text 19"/>
          <p:cNvSpPr txBox="1"/>
          <p:nvPr/>
        </p:nvSpPr>
        <p:spPr>
          <a:xfrm>
            <a:off x="6175717" y="2224981"/>
            <a:ext cx="2423160" cy="441655"/>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Left and right pair of April Tag at every meter</a:t>
            </a:r>
            <a:endParaRPr lang="en-US" sz="1200" dirty="0"/>
          </a:p>
        </p:txBody>
      </p:sp>
      <p:sp>
        <p:nvSpPr>
          <p:cNvPr id="23" name="Tile"/>
          <p:cNvSpPr/>
          <p:nvPr/>
        </p:nvSpPr>
        <p:spPr>
          <a:xfrm>
            <a:off x="6038557" y="2835343"/>
            <a:ext cx="2697480" cy="1051560"/>
          </a:xfrm>
          <a:prstGeom prst="roundRect">
            <a:avLst>
              <a:gd name="adj" fmla="val 6957"/>
            </a:avLst>
          </a:prstGeom>
          <a:solidFill>
            <a:srgbClr val="E3EBEA"/>
          </a:solidFill>
          <a:ln w="6350">
            <a:solidFill>
              <a:srgbClr val="E3EBEA"/>
            </a:solidFill>
            <a:prstDash val="solid"/>
          </a:ln>
        </p:spPr>
      </p:sp>
      <p:sp>
        <p:nvSpPr>
          <p:cNvPr id="24" name="Text 21"/>
          <p:cNvSpPr txBox="1"/>
          <p:nvPr/>
        </p:nvSpPr>
        <p:spPr>
          <a:xfrm>
            <a:off x="6175717" y="2908495"/>
            <a:ext cx="2423160" cy="525780"/>
          </a:xfrm>
          <a:prstGeom prst="rect">
            <a:avLst/>
          </a:prstGeom>
          <a:noFill/>
          <a:ln/>
        </p:spPr>
        <p:txBody>
          <a:bodyPr wrap="square" lIns="0" tIns="0" rIns="0" bIns="0" rtlCol="0" anchor="ctr"/>
          <a:lstStyle/>
          <a:p>
            <a:pPr marL="0" indent="0">
              <a:buNone/>
            </a:pPr>
            <a:r>
              <a:rPr lang="en-US" sz="2400" b="1" dirty="0">
                <a:solidFill>
                  <a:srgbClr val="2F4858"/>
                </a:solidFill>
                <a:latin typeface="Cambria" pitchFamily="34" charset="0"/>
                <a:ea typeface="Cambria" pitchFamily="34" charset="-122"/>
                <a:cs typeface="Cambria" pitchFamily="34" charset="-120"/>
              </a:rPr>
              <a:t>10m distance</a:t>
            </a:r>
            <a:endParaRPr lang="en-US" sz="2400" dirty="0"/>
          </a:p>
        </p:txBody>
      </p:sp>
      <p:sp>
        <p:nvSpPr>
          <p:cNvPr id="25" name="Text 22"/>
          <p:cNvSpPr txBox="1"/>
          <p:nvPr/>
        </p:nvSpPr>
        <p:spPr>
          <a:xfrm>
            <a:off x="6175717" y="3413701"/>
            <a:ext cx="2423160" cy="441655"/>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Covering 10m distance back and forth returning to the start position</a:t>
            </a:r>
            <a:endParaRPr lang="en-US" sz="1200" dirty="0"/>
          </a:p>
        </p:txBody>
      </p:sp>
      <p:sp>
        <p:nvSpPr>
          <p:cNvPr id="26"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82880"/>
            <a:ext cx="68580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HOURS 30 TO 40  SIMULATE AND PROVE</a:t>
            </a:r>
            <a:endParaRPr lang="en-US" sz="1000" dirty="0"/>
          </a:p>
        </p:txBody>
      </p:sp>
      <p:sp>
        <p:nvSpPr>
          <p:cNvPr id="3" name="Timeline A"/>
          <p:cNvSpPr/>
          <p:nvPr/>
        </p:nvSpPr>
        <p:spPr>
          <a:xfrm>
            <a:off x="457200" y="429768"/>
            <a:ext cx="222422" cy="82296"/>
          </a:xfrm>
          <a:prstGeom prst="roundRect">
            <a:avLst>
              <a:gd name="adj" fmla="val 44444"/>
            </a:avLst>
          </a:prstGeom>
          <a:solidFill>
            <a:srgbClr val="55808A"/>
          </a:solidFill>
          <a:ln w="3175">
            <a:solidFill>
              <a:srgbClr val="55808A"/>
            </a:solidFill>
            <a:prstDash val="solid"/>
          </a:ln>
        </p:spPr>
      </p:sp>
      <p:sp>
        <p:nvSpPr>
          <p:cNvPr id="4" name="Timeline B"/>
          <p:cNvSpPr/>
          <p:nvPr/>
        </p:nvSpPr>
        <p:spPr>
          <a:xfrm>
            <a:off x="902043" y="429768"/>
            <a:ext cx="667265" cy="82296"/>
          </a:xfrm>
          <a:prstGeom prst="roundRect">
            <a:avLst>
              <a:gd name="adj" fmla="val 44444"/>
            </a:avLst>
          </a:prstGeom>
          <a:solidFill>
            <a:srgbClr val="55808A"/>
          </a:solidFill>
          <a:ln w="3175">
            <a:solidFill>
              <a:srgbClr val="55808A"/>
            </a:solidFill>
            <a:prstDash val="solid"/>
          </a:ln>
        </p:spPr>
      </p:sp>
      <p:sp>
        <p:nvSpPr>
          <p:cNvPr id="5" name="Timeline C"/>
          <p:cNvSpPr/>
          <p:nvPr/>
        </p:nvSpPr>
        <p:spPr>
          <a:xfrm>
            <a:off x="1569308" y="429768"/>
            <a:ext cx="222422" cy="82296"/>
          </a:xfrm>
          <a:prstGeom prst="roundRect">
            <a:avLst>
              <a:gd name="adj" fmla="val 44444"/>
            </a:avLst>
          </a:prstGeom>
          <a:solidFill>
            <a:srgbClr val="55808A"/>
          </a:solidFill>
          <a:ln w="3175">
            <a:solidFill>
              <a:srgbClr val="55808A"/>
            </a:solidFill>
            <a:prstDash val="solid"/>
          </a:ln>
        </p:spPr>
      </p:sp>
      <p:sp>
        <p:nvSpPr>
          <p:cNvPr id="6" name="Timeline D"/>
          <p:cNvSpPr/>
          <p:nvPr/>
        </p:nvSpPr>
        <p:spPr>
          <a:xfrm>
            <a:off x="2014151" y="429768"/>
            <a:ext cx="3113903" cy="82296"/>
          </a:xfrm>
          <a:prstGeom prst="roundRect">
            <a:avLst>
              <a:gd name="adj" fmla="val 44444"/>
            </a:avLst>
          </a:prstGeom>
          <a:solidFill>
            <a:srgbClr val="55808A"/>
          </a:solidFill>
          <a:ln w="3175">
            <a:solidFill>
              <a:srgbClr val="55808A"/>
            </a:solidFill>
            <a:prstDash val="solid"/>
          </a:ln>
        </p:spPr>
      </p:sp>
      <p:sp>
        <p:nvSpPr>
          <p:cNvPr id="7" name="Timeline E"/>
          <p:cNvSpPr/>
          <p:nvPr/>
        </p:nvSpPr>
        <p:spPr>
          <a:xfrm>
            <a:off x="5128054" y="429768"/>
            <a:ext cx="1334530" cy="82296"/>
          </a:xfrm>
          <a:prstGeom prst="roundRect">
            <a:avLst>
              <a:gd name="adj" fmla="val 44444"/>
            </a:avLst>
          </a:prstGeom>
          <a:solidFill>
            <a:srgbClr val="55808A"/>
          </a:solidFill>
          <a:ln w="3175">
            <a:solidFill>
              <a:srgbClr val="55808A"/>
            </a:solidFill>
            <a:prstDash val="solid"/>
          </a:ln>
        </p:spPr>
      </p:sp>
      <p:sp>
        <p:nvSpPr>
          <p:cNvPr id="8" name="Timeline F"/>
          <p:cNvSpPr/>
          <p:nvPr/>
        </p:nvSpPr>
        <p:spPr>
          <a:xfrm>
            <a:off x="6462584" y="429768"/>
            <a:ext cx="2224216" cy="82296"/>
          </a:xfrm>
          <a:prstGeom prst="roundRect">
            <a:avLst>
              <a:gd name="adj" fmla="val 44444"/>
            </a:avLst>
          </a:prstGeom>
          <a:solidFill>
            <a:srgbClr val="C58B5A"/>
          </a:solidFill>
          <a:ln w="3175">
            <a:solidFill>
              <a:srgbClr val="C58B5A"/>
            </a:solidFill>
            <a:prstDash val="solid"/>
          </a:ln>
        </p:spPr>
      </p:sp>
      <p:sp>
        <p:nvSpPr>
          <p:cNvPr id="9" name="Text 7"/>
          <p:cNvSpPr txBox="1"/>
          <p:nvPr/>
        </p:nvSpPr>
        <p:spPr>
          <a:xfrm>
            <a:off x="457200"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a:t>
            </a:r>
            <a:endParaRPr lang="en-US" sz="1000" dirty="0"/>
          </a:p>
        </p:txBody>
      </p:sp>
      <p:sp>
        <p:nvSpPr>
          <p:cNvPr id="10" name="Text 8"/>
          <p:cNvSpPr txBox="1"/>
          <p:nvPr/>
        </p:nvSpPr>
        <p:spPr>
          <a:xfrm>
            <a:off x="1831271"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H10</a:t>
            </a:r>
            <a:endParaRPr lang="en-US" sz="1000" dirty="0"/>
          </a:p>
        </p:txBody>
      </p:sp>
      <p:sp>
        <p:nvSpPr>
          <p:cNvPr id="11" name="Text 9"/>
          <p:cNvSpPr txBox="1"/>
          <p:nvPr/>
        </p:nvSpPr>
        <p:spPr>
          <a:xfrm>
            <a:off x="494517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H24</a:t>
            </a:r>
            <a:endParaRPr lang="en-US" sz="1000" dirty="0"/>
          </a:p>
        </p:txBody>
      </p:sp>
      <p:sp>
        <p:nvSpPr>
          <p:cNvPr id="12" name="Text 10"/>
          <p:cNvSpPr txBox="1"/>
          <p:nvPr/>
        </p:nvSpPr>
        <p:spPr>
          <a:xfrm>
            <a:off x="6279704" y="521208"/>
            <a:ext cx="365760" cy="164592"/>
          </a:xfrm>
          <a:prstGeom prst="rect">
            <a:avLst/>
          </a:prstGeom>
          <a:noFill/>
          <a:ln/>
        </p:spPr>
        <p:txBody>
          <a:bodyPr wrap="square" lIns="0" tIns="0" rIns="0" bIns="0" rtlCol="0" anchor="t"/>
          <a:lstStyle/>
          <a:p>
            <a:pPr marL="0" indent="0" algn="l">
              <a:buNone/>
            </a:pPr>
            <a:r>
              <a:rPr lang="en-US" sz="1000" dirty="0">
                <a:solidFill>
                  <a:srgbClr val="55808A"/>
                </a:solidFill>
                <a:latin typeface="Calibri" pitchFamily="34" charset="0"/>
                <a:ea typeface="Calibri" pitchFamily="34" charset="-122"/>
                <a:cs typeface="Calibri" pitchFamily="34" charset="-120"/>
              </a:rPr>
              <a:t>H30</a:t>
            </a:r>
            <a:endParaRPr lang="en-US" sz="1000" dirty="0"/>
          </a:p>
        </p:txBody>
      </p:sp>
      <p:sp>
        <p:nvSpPr>
          <p:cNvPr id="13" name="Text 11"/>
          <p:cNvSpPr txBox="1"/>
          <p:nvPr/>
        </p:nvSpPr>
        <p:spPr>
          <a:xfrm>
            <a:off x="8321040" y="521208"/>
            <a:ext cx="365760" cy="164592"/>
          </a:xfrm>
          <a:prstGeom prst="rect">
            <a:avLst/>
          </a:prstGeom>
          <a:noFill/>
          <a:ln/>
        </p:spPr>
        <p:txBody>
          <a:bodyPr wrap="square" lIns="0" tIns="0" rIns="0" bIns="0" rtlCol="0" anchor="t"/>
          <a:lstStyle/>
          <a:p>
            <a:pPr marL="0" indent="0" algn="r">
              <a:buNone/>
            </a:pPr>
            <a:r>
              <a:rPr lang="en-US" sz="1000" dirty="0">
                <a:solidFill>
                  <a:srgbClr val="55808A"/>
                </a:solidFill>
                <a:latin typeface="Calibri" pitchFamily="34" charset="0"/>
                <a:ea typeface="Calibri" pitchFamily="34" charset="-122"/>
                <a:cs typeface="Calibri" pitchFamily="34" charset="-120"/>
              </a:rPr>
              <a:t>H40</a:t>
            </a:r>
            <a:endParaRPr lang="en-US" sz="1000" dirty="0"/>
          </a:p>
        </p:txBody>
      </p:sp>
      <p:sp>
        <p:nvSpPr>
          <p:cNvPr id="14"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2F4858"/>
                </a:solidFill>
                <a:latin typeface="Cambria" pitchFamily="34" charset="0"/>
                <a:ea typeface="Cambria" pitchFamily="34" charset="-122"/>
                <a:cs typeface="Cambria" pitchFamily="34" charset="-120"/>
              </a:rPr>
              <a:t>Post processing of </a:t>
            </a:r>
            <a:r>
              <a:rPr lang="en-US" sz="2600" b="1" dirty="0" err="1">
                <a:solidFill>
                  <a:srgbClr val="2F4858"/>
                </a:solidFill>
                <a:latin typeface="Cambria" pitchFamily="34" charset="0"/>
                <a:ea typeface="Cambria" pitchFamily="34" charset="-122"/>
                <a:cs typeface="Cambria" pitchFamily="34" charset="-120"/>
              </a:rPr>
              <a:t>IMU+Video</a:t>
            </a:r>
            <a:r>
              <a:rPr lang="en-US" sz="2600" b="1" dirty="0">
                <a:solidFill>
                  <a:srgbClr val="2F4858"/>
                </a:solidFill>
                <a:latin typeface="Cambria" pitchFamily="34" charset="0"/>
                <a:ea typeface="Cambria" pitchFamily="34" charset="-122"/>
                <a:cs typeface="Cambria" pitchFamily="34" charset="-120"/>
              </a:rPr>
              <a:t> data</a:t>
            </a:r>
            <a:endParaRPr lang="en-US" sz="2600" dirty="0"/>
          </a:p>
        </p:txBody>
      </p:sp>
      <p:pic>
        <p:nvPicPr>
          <p:cNvPr id="15" name="Image traj3d.png" descr="/tmp/claude-0/-home-claude/754ab589-6f62-5f2f-8c52-b16fa7cef1a3/scratchpad/assets/traj3d.png"/>
          <p:cNvPicPr>
            <a:picLocks noChangeAspect="1"/>
          </p:cNvPicPr>
          <p:nvPr/>
        </p:nvPicPr>
        <p:blipFill>
          <a:blip r:embed="rId3"/>
          <a:stretch>
            <a:fillRect/>
          </a:stretch>
        </p:blipFill>
        <p:spPr>
          <a:xfrm>
            <a:off x="365760" y="1404997"/>
            <a:ext cx="6309360" cy="3179326"/>
          </a:xfrm>
          <a:prstGeom prst="rect">
            <a:avLst/>
          </a:prstGeom>
        </p:spPr>
      </p:pic>
      <p:sp>
        <p:nvSpPr>
          <p:cNvPr id="16" name="Tile"/>
          <p:cNvSpPr/>
          <p:nvPr/>
        </p:nvSpPr>
        <p:spPr>
          <a:xfrm>
            <a:off x="6858000" y="1371600"/>
            <a:ext cx="1828800" cy="960120"/>
          </a:xfrm>
          <a:prstGeom prst="roundRect">
            <a:avLst>
              <a:gd name="adj" fmla="val 7619"/>
            </a:avLst>
          </a:prstGeom>
          <a:solidFill>
            <a:srgbClr val="E3EBEA"/>
          </a:solidFill>
          <a:ln w="6350">
            <a:solidFill>
              <a:srgbClr val="E3EBEA"/>
            </a:solidFill>
            <a:prstDash val="solid"/>
          </a:ln>
        </p:spPr>
      </p:sp>
      <p:sp>
        <p:nvSpPr>
          <p:cNvPr id="17" name="Text 14"/>
          <p:cNvSpPr txBox="1"/>
          <p:nvPr/>
        </p:nvSpPr>
        <p:spPr>
          <a:xfrm>
            <a:off x="6995160" y="1444752"/>
            <a:ext cx="1554480" cy="480060"/>
          </a:xfrm>
          <a:prstGeom prst="rect">
            <a:avLst/>
          </a:prstGeom>
          <a:noFill/>
          <a:ln/>
        </p:spPr>
        <p:txBody>
          <a:bodyPr wrap="square" lIns="0" tIns="0" rIns="0" bIns="0" rtlCol="0" anchor="ctr"/>
          <a:lstStyle/>
          <a:p>
            <a:pPr marL="0" indent="0">
              <a:buNone/>
            </a:pPr>
            <a:r>
              <a:rPr lang="en-US" sz="2200" b="1" dirty="0">
                <a:solidFill>
                  <a:srgbClr val="2F4858"/>
                </a:solidFill>
                <a:latin typeface="Cambria" pitchFamily="34" charset="0"/>
                <a:ea typeface="Cambria" pitchFamily="34" charset="-122"/>
                <a:cs typeface="Cambria" pitchFamily="34" charset="-120"/>
              </a:rPr>
              <a:t>33.8 m</a:t>
            </a:r>
            <a:endParaRPr lang="en-US" sz="2200" dirty="0"/>
          </a:p>
        </p:txBody>
      </p:sp>
      <p:sp>
        <p:nvSpPr>
          <p:cNvPr id="18" name="Text 15"/>
          <p:cNvSpPr txBox="1"/>
          <p:nvPr/>
        </p:nvSpPr>
        <p:spPr>
          <a:xfrm>
            <a:off x="6995160" y="1899666"/>
            <a:ext cx="1554480" cy="40325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walked along the track</a:t>
            </a:r>
            <a:endParaRPr lang="en-US" sz="1200" dirty="0"/>
          </a:p>
        </p:txBody>
      </p:sp>
      <p:sp>
        <p:nvSpPr>
          <p:cNvPr id="19" name="Tile"/>
          <p:cNvSpPr/>
          <p:nvPr/>
        </p:nvSpPr>
        <p:spPr>
          <a:xfrm>
            <a:off x="6858000" y="2468880"/>
            <a:ext cx="1828800" cy="960120"/>
          </a:xfrm>
          <a:prstGeom prst="roundRect">
            <a:avLst>
              <a:gd name="adj" fmla="val 7619"/>
            </a:avLst>
          </a:prstGeom>
          <a:solidFill>
            <a:srgbClr val="E3EBEA"/>
          </a:solidFill>
          <a:ln w="6350">
            <a:solidFill>
              <a:srgbClr val="E3EBEA"/>
            </a:solidFill>
            <a:prstDash val="solid"/>
          </a:ln>
        </p:spPr>
      </p:sp>
      <p:sp>
        <p:nvSpPr>
          <p:cNvPr id="20" name="Text 17"/>
          <p:cNvSpPr txBox="1"/>
          <p:nvPr/>
        </p:nvSpPr>
        <p:spPr>
          <a:xfrm>
            <a:off x="6995160" y="2542032"/>
            <a:ext cx="1554480" cy="480060"/>
          </a:xfrm>
          <a:prstGeom prst="rect">
            <a:avLst/>
          </a:prstGeom>
          <a:noFill/>
          <a:ln/>
        </p:spPr>
        <p:txBody>
          <a:bodyPr wrap="square" lIns="0" tIns="0" rIns="0" bIns="0" rtlCol="0" anchor="ctr"/>
          <a:lstStyle/>
          <a:p>
            <a:pPr marL="0" indent="0">
              <a:buNone/>
            </a:pPr>
            <a:r>
              <a:rPr lang="en-US" sz="2200" b="1" dirty="0">
                <a:solidFill>
                  <a:srgbClr val="2F4858"/>
                </a:solidFill>
                <a:latin typeface="Cambria" pitchFamily="34" charset="0"/>
                <a:ea typeface="Cambria" pitchFamily="34" charset="-122"/>
                <a:cs typeface="Cambria" pitchFamily="34" charset="-120"/>
              </a:rPr>
              <a:t>14 cm</a:t>
            </a:r>
            <a:endParaRPr lang="en-US" sz="2200" dirty="0"/>
          </a:p>
        </p:txBody>
      </p:sp>
      <p:sp>
        <p:nvSpPr>
          <p:cNvPr id="21" name="Text 18"/>
          <p:cNvSpPr txBox="1"/>
          <p:nvPr/>
        </p:nvSpPr>
        <p:spPr>
          <a:xfrm>
            <a:off x="6995160" y="2996946"/>
            <a:ext cx="1554480" cy="40325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ESKF to camera at the end</a:t>
            </a:r>
            <a:endParaRPr lang="en-US" sz="1200" dirty="0"/>
          </a:p>
        </p:txBody>
      </p:sp>
      <p:sp>
        <p:nvSpPr>
          <p:cNvPr id="22" name="Tile"/>
          <p:cNvSpPr/>
          <p:nvPr/>
        </p:nvSpPr>
        <p:spPr>
          <a:xfrm>
            <a:off x="6858000" y="3566160"/>
            <a:ext cx="1828800" cy="960120"/>
          </a:xfrm>
          <a:prstGeom prst="roundRect">
            <a:avLst>
              <a:gd name="adj" fmla="val 7619"/>
            </a:avLst>
          </a:prstGeom>
          <a:solidFill>
            <a:srgbClr val="E3EBEA"/>
          </a:solidFill>
          <a:ln w="6350">
            <a:solidFill>
              <a:srgbClr val="E3EBEA"/>
            </a:solidFill>
            <a:prstDash val="solid"/>
          </a:ln>
        </p:spPr>
      </p:sp>
      <p:sp>
        <p:nvSpPr>
          <p:cNvPr id="23" name="Text 20"/>
          <p:cNvSpPr txBox="1"/>
          <p:nvPr/>
        </p:nvSpPr>
        <p:spPr>
          <a:xfrm>
            <a:off x="6995160" y="3639312"/>
            <a:ext cx="1554480" cy="480060"/>
          </a:xfrm>
          <a:prstGeom prst="rect">
            <a:avLst/>
          </a:prstGeom>
          <a:noFill/>
          <a:ln/>
        </p:spPr>
        <p:txBody>
          <a:bodyPr wrap="square" lIns="0" tIns="0" rIns="0" bIns="0" rtlCol="0" anchor="ctr"/>
          <a:lstStyle/>
          <a:p>
            <a:pPr marL="0" indent="0">
              <a:buNone/>
            </a:pPr>
            <a:r>
              <a:rPr lang="en-US" sz="2200" b="1" dirty="0">
                <a:solidFill>
                  <a:srgbClr val="2F4858"/>
                </a:solidFill>
                <a:latin typeface="Cambria" pitchFamily="34" charset="0"/>
                <a:ea typeface="Cambria" pitchFamily="34" charset="-122"/>
                <a:cs typeface="Cambria" pitchFamily="34" charset="-120"/>
              </a:rPr>
              <a:t>44 %</a:t>
            </a:r>
            <a:endParaRPr lang="en-US" sz="2200" dirty="0"/>
          </a:p>
        </p:txBody>
      </p:sp>
      <p:sp>
        <p:nvSpPr>
          <p:cNvPr id="24" name="Text 21"/>
          <p:cNvSpPr txBox="1"/>
          <p:nvPr/>
        </p:nvSpPr>
        <p:spPr>
          <a:xfrm>
            <a:off x="6995160" y="4094226"/>
            <a:ext cx="1554480" cy="403250"/>
          </a:xfrm>
          <a:prstGeom prst="rect">
            <a:avLst/>
          </a:prstGeom>
          <a:noFill/>
          <a:ln/>
        </p:spPr>
        <p:txBody>
          <a:bodyPr wrap="square" lIns="0" tIns="0" rIns="0" bIns="0" rtlCol="0" anchor="t"/>
          <a:lstStyle/>
          <a:p>
            <a:pPr marL="0" indent="0">
              <a:buNone/>
            </a:pPr>
            <a:r>
              <a:rPr lang="en-US" sz="1200" dirty="0">
                <a:solidFill>
                  <a:srgbClr val="26343A"/>
                </a:solidFill>
                <a:latin typeface="Calibri" pitchFamily="34" charset="0"/>
                <a:ea typeface="Calibri" pitchFamily="34" charset="-122"/>
                <a:cs typeface="Calibri" pitchFamily="34" charset="-120"/>
              </a:rPr>
              <a:t>Of the video always has a tag within the frame</a:t>
            </a:r>
            <a:endParaRPr lang="en-US" sz="12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5808A"/>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28600"/>
            <a:ext cx="5486400" cy="201168"/>
          </a:xfrm>
          <a:prstGeom prst="rect">
            <a:avLst/>
          </a:prstGeom>
          <a:noFill/>
          <a:ln/>
        </p:spPr>
        <p:txBody>
          <a:bodyPr wrap="square" lIns="0" tIns="0" rIns="0" bIns="0" rtlCol="0" anchor="t"/>
          <a:lstStyle/>
          <a:p>
            <a:pPr marL="0" indent="0">
              <a:buNone/>
            </a:pPr>
            <a:r>
              <a:rPr lang="en-US" sz="1000" b="1" kern="0" spc="200" dirty="0">
                <a:solidFill>
                  <a:srgbClr val="C58B5A"/>
                </a:solidFill>
                <a:latin typeface="Calibri" pitchFamily="34" charset="0"/>
                <a:ea typeface="Calibri" pitchFamily="34" charset="-122"/>
                <a:cs typeface="Calibri" pitchFamily="34" charset="-120"/>
              </a:rPr>
              <a:t>THE 40 HOUR STORY</a:t>
            </a:r>
            <a:endParaRPr lang="en-US" sz="1000" dirty="0"/>
          </a:p>
        </p:txBody>
      </p:sp>
      <p:sp>
        <p:nvSpPr>
          <p:cNvPr id="3" name="Title"/>
          <p:cNvSpPr txBox="1"/>
          <p:nvPr/>
        </p:nvSpPr>
        <p:spPr>
          <a:xfrm>
            <a:off x="457200" y="658368"/>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What 40 hours bought us</a:t>
            </a:r>
            <a:endParaRPr lang="en-US" sz="2600" dirty="0"/>
          </a:p>
        </p:txBody>
      </p:sp>
      <p:sp>
        <p:nvSpPr>
          <p:cNvPr id="4" name="Result tile"/>
          <p:cNvSpPr/>
          <p:nvPr/>
        </p:nvSpPr>
        <p:spPr>
          <a:xfrm>
            <a:off x="457200" y="1463040"/>
            <a:ext cx="1554480" cy="1737360"/>
          </a:xfrm>
          <a:prstGeom prst="roundRect">
            <a:avLst>
              <a:gd name="adj" fmla="val 4706"/>
            </a:avLst>
          </a:prstGeom>
          <a:solidFill>
            <a:srgbClr val="55808A"/>
          </a:solidFill>
          <a:ln w="6350">
            <a:solidFill>
              <a:srgbClr val="55808A"/>
            </a:solidFill>
            <a:prstDash val="solid"/>
          </a:ln>
        </p:spPr>
      </p:sp>
      <p:sp>
        <p:nvSpPr>
          <p:cNvPr id="5" name="Text 3"/>
          <p:cNvSpPr txBox="1"/>
          <p:nvPr/>
        </p:nvSpPr>
        <p:spPr>
          <a:xfrm>
            <a:off x="548640" y="1600200"/>
            <a:ext cx="137160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395 Hz</a:t>
            </a:r>
            <a:endParaRPr lang="en-US" sz="2600" dirty="0"/>
          </a:p>
        </p:txBody>
      </p:sp>
      <p:sp>
        <p:nvSpPr>
          <p:cNvPr id="6" name="Text 4"/>
          <p:cNvSpPr txBox="1"/>
          <p:nvPr/>
        </p:nvSpPr>
        <p:spPr>
          <a:xfrm>
            <a:off x="566928" y="2331720"/>
            <a:ext cx="1335024" cy="8229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clean phone IMU stream, zero lost</a:t>
            </a:r>
            <a:endParaRPr lang="en-US" sz="1200" dirty="0"/>
          </a:p>
        </p:txBody>
      </p:sp>
      <p:sp>
        <p:nvSpPr>
          <p:cNvPr id="7" name="Result tile"/>
          <p:cNvSpPr/>
          <p:nvPr/>
        </p:nvSpPr>
        <p:spPr>
          <a:xfrm>
            <a:off x="2121408" y="1463040"/>
            <a:ext cx="1554480" cy="1737360"/>
          </a:xfrm>
          <a:prstGeom prst="roundRect">
            <a:avLst>
              <a:gd name="adj" fmla="val 4706"/>
            </a:avLst>
          </a:prstGeom>
          <a:solidFill>
            <a:srgbClr val="55808A"/>
          </a:solidFill>
          <a:ln w="6350">
            <a:solidFill>
              <a:srgbClr val="55808A"/>
            </a:solidFill>
            <a:prstDash val="solid"/>
          </a:ln>
        </p:spPr>
      </p:sp>
      <p:sp>
        <p:nvSpPr>
          <p:cNvPr id="8" name="Text 6"/>
          <p:cNvSpPr txBox="1"/>
          <p:nvPr/>
        </p:nvSpPr>
        <p:spPr>
          <a:xfrm>
            <a:off x="2212848" y="1600200"/>
            <a:ext cx="137160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 hour</a:t>
            </a:r>
            <a:endParaRPr lang="en-US" sz="2600" dirty="0"/>
          </a:p>
        </p:txBody>
      </p:sp>
      <p:sp>
        <p:nvSpPr>
          <p:cNvPr id="9" name="Text 7"/>
          <p:cNvSpPr txBox="1"/>
          <p:nvPr/>
        </p:nvSpPr>
        <p:spPr>
          <a:xfrm>
            <a:off x="2231136" y="2331720"/>
            <a:ext cx="1335024" cy="8229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of static data behind the noise model</a:t>
            </a:r>
            <a:endParaRPr lang="en-US" sz="1200" dirty="0"/>
          </a:p>
        </p:txBody>
      </p:sp>
      <p:sp>
        <p:nvSpPr>
          <p:cNvPr id="10" name="Result tile"/>
          <p:cNvSpPr/>
          <p:nvPr/>
        </p:nvSpPr>
        <p:spPr>
          <a:xfrm>
            <a:off x="3785616" y="1463040"/>
            <a:ext cx="1554480" cy="1737360"/>
          </a:xfrm>
          <a:prstGeom prst="roundRect">
            <a:avLst>
              <a:gd name="adj" fmla="val 4706"/>
            </a:avLst>
          </a:prstGeom>
          <a:solidFill>
            <a:srgbClr val="55808A"/>
          </a:solidFill>
          <a:ln w="6350">
            <a:solidFill>
              <a:srgbClr val="55808A"/>
            </a:solidFill>
            <a:prstDash val="solid"/>
          </a:ln>
        </p:spPr>
      </p:sp>
      <p:sp>
        <p:nvSpPr>
          <p:cNvPr id="11" name="Text 9"/>
          <p:cNvSpPr txBox="1"/>
          <p:nvPr/>
        </p:nvSpPr>
        <p:spPr>
          <a:xfrm>
            <a:off x="3877056" y="1600200"/>
            <a:ext cx="137160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0.14 m</a:t>
            </a:r>
            <a:endParaRPr lang="en-US" sz="2600" dirty="0"/>
          </a:p>
        </p:txBody>
      </p:sp>
      <p:sp>
        <p:nvSpPr>
          <p:cNvPr id="12" name="Text 10"/>
          <p:cNvSpPr txBox="1"/>
          <p:nvPr/>
        </p:nvSpPr>
        <p:spPr>
          <a:xfrm>
            <a:off x="3895344" y="2331720"/>
            <a:ext cx="1335024" cy="8229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i-ASL RMSE after the fixes</a:t>
            </a:r>
            <a:endParaRPr lang="en-US" sz="1200" dirty="0"/>
          </a:p>
        </p:txBody>
      </p:sp>
      <p:sp>
        <p:nvSpPr>
          <p:cNvPr id="13" name="Result tile"/>
          <p:cNvSpPr/>
          <p:nvPr/>
        </p:nvSpPr>
        <p:spPr>
          <a:xfrm>
            <a:off x="5449824" y="1463040"/>
            <a:ext cx="1554480" cy="1737360"/>
          </a:xfrm>
          <a:prstGeom prst="roundRect">
            <a:avLst>
              <a:gd name="adj" fmla="val 4706"/>
            </a:avLst>
          </a:prstGeom>
          <a:solidFill>
            <a:srgbClr val="55808A"/>
          </a:solidFill>
          <a:ln w="6350">
            <a:solidFill>
              <a:srgbClr val="55808A"/>
            </a:solidFill>
            <a:prstDash val="solid"/>
          </a:ln>
        </p:spPr>
      </p:sp>
      <p:sp>
        <p:nvSpPr>
          <p:cNvPr id="14" name="Text 12"/>
          <p:cNvSpPr txBox="1"/>
          <p:nvPr/>
        </p:nvSpPr>
        <p:spPr>
          <a:xfrm>
            <a:off x="5541264" y="1600200"/>
            <a:ext cx="137160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0.138 m</a:t>
            </a:r>
            <a:endParaRPr lang="en-US" sz="2600" dirty="0"/>
          </a:p>
        </p:txBody>
      </p:sp>
      <p:sp>
        <p:nvSpPr>
          <p:cNvPr id="15" name="Text 13"/>
          <p:cNvSpPr txBox="1"/>
          <p:nvPr/>
        </p:nvSpPr>
        <p:spPr>
          <a:xfrm>
            <a:off x="5559552" y="2331720"/>
            <a:ext cx="1335024" cy="8229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Gazebo RMSE against ground truth</a:t>
            </a:r>
            <a:endParaRPr lang="en-US" sz="1200" dirty="0"/>
          </a:p>
        </p:txBody>
      </p:sp>
      <p:sp>
        <p:nvSpPr>
          <p:cNvPr id="16" name="Result tile"/>
          <p:cNvSpPr/>
          <p:nvPr/>
        </p:nvSpPr>
        <p:spPr>
          <a:xfrm>
            <a:off x="7114032" y="1463040"/>
            <a:ext cx="1554480" cy="1737360"/>
          </a:xfrm>
          <a:prstGeom prst="roundRect">
            <a:avLst>
              <a:gd name="adj" fmla="val 4706"/>
            </a:avLst>
          </a:prstGeom>
          <a:solidFill>
            <a:srgbClr val="55808A"/>
          </a:solidFill>
          <a:ln w="6350">
            <a:solidFill>
              <a:srgbClr val="55808A"/>
            </a:solidFill>
            <a:prstDash val="solid"/>
          </a:ln>
        </p:spPr>
      </p:sp>
      <p:sp>
        <p:nvSpPr>
          <p:cNvPr id="17" name="Text 15"/>
          <p:cNvSpPr txBox="1"/>
          <p:nvPr/>
        </p:nvSpPr>
        <p:spPr>
          <a:xfrm>
            <a:off x="7205472" y="1600200"/>
            <a:ext cx="1371600"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14 cm</a:t>
            </a:r>
            <a:endParaRPr lang="en-US" sz="2600" dirty="0"/>
          </a:p>
        </p:txBody>
      </p:sp>
      <p:sp>
        <p:nvSpPr>
          <p:cNvPr id="18" name="Text 16"/>
          <p:cNvSpPr txBox="1"/>
          <p:nvPr/>
        </p:nvSpPr>
        <p:spPr>
          <a:xfrm>
            <a:off x="7223760" y="2331720"/>
            <a:ext cx="1335024" cy="8229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real walk, IMU plus camera</a:t>
            </a:r>
            <a:endParaRPr lang="en-US" sz="1200" dirty="0"/>
          </a:p>
        </p:txBody>
      </p:sp>
      <p:sp>
        <p:nvSpPr>
          <p:cNvPr id="19" name="Text 17"/>
          <p:cNvSpPr txBox="1"/>
          <p:nvPr/>
        </p:nvSpPr>
        <p:spPr>
          <a:xfrm>
            <a:off x="457200" y="3474720"/>
            <a:ext cx="914400" cy="256032"/>
          </a:xfrm>
          <a:prstGeom prst="rect">
            <a:avLst/>
          </a:prstGeom>
          <a:noFill/>
          <a:ln/>
        </p:spPr>
        <p:txBody>
          <a:bodyPr wrap="square" lIns="0" tIns="0" rIns="0" bIns="0" rtlCol="0" anchor="t"/>
          <a:lstStyle/>
          <a:p>
            <a:pPr marL="0" indent="0">
              <a:buNone/>
            </a:pPr>
            <a:r>
              <a:rPr lang="en-US" sz="1200" b="1" dirty="0">
                <a:solidFill>
                  <a:srgbClr val="C58B5A"/>
                </a:solidFill>
                <a:latin typeface="Calibri" pitchFamily="34" charset="0"/>
                <a:ea typeface="Calibri" pitchFamily="34" charset="-122"/>
                <a:cs typeface="Calibri" pitchFamily="34" charset="-120"/>
              </a:rPr>
              <a:t>Next</a:t>
            </a:r>
            <a:endParaRPr lang="en-US" sz="1200" dirty="0"/>
          </a:p>
        </p:txBody>
      </p:sp>
      <p:sp>
        <p:nvSpPr>
          <p:cNvPr id="20" name="Text 18"/>
          <p:cNvSpPr txBox="1"/>
          <p:nvPr/>
        </p:nvSpPr>
        <p:spPr>
          <a:xfrm>
            <a:off x="457200" y="3749040"/>
            <a:ext cx="8229600" cy="5029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Real UWB anchors on hardware. UWB is validated on i-ASL data and in simulation, the real walk uses the camera.</a:t>
            </a:r>
            <a:endParaRPr lang="en-US" sz="1400" dirty="0"/>
          </a:p>
        </p:txBody>
      </p:sp>
      <p:sp>
        <p:nvSpPr>
          <p:cNvPr id="22" name="Rectangle: Rounded Corners 21">
            <a:hlinkClick r:id="rId3" action="ppaction://hlinkfile"/>
            <a:extLst>
              <a:ext uri="{FF2B5EF4-FFF2-40B4-BE49-F238E27FC236}">
                <a16:creationId xmlns:a16="http://schemas.microsoft.com/office/drawing/2014/main" id="{63AB84A9-D986-2D74-BC87-1088105380F8}"/>
              </a:ext>
            </a:extLst>
          </p:cNvPr>
          <p:cNvSpPr/>
          <p:nvPr/>
        </p:nvSpPr>
        <p:spPr>
          <a:xfrm>
            <a:off x="288388" y="4339883"/>
            <a:ext cx="1613564" cy="45368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1" name="Text 19"/>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400" b="1" dirty="0" err="1">
                <a:solidFill>
                  <a:srgbClr val="BFD0CF"/>
                </a:solidFill>
                <a:latin typeface="Calibri" pitchFamily="34" charset="0"/>
                <a:ea typeface="Calibri" pitchFamily="34" charset="-122"/>
                <a:cs typeface="Calibri" pitchFamily="34" charset="-120"/>
                <a:hlinkClick r:id="rId3" action="ppaction://hlinkfile"/>
              </a:rPr>
              <a:t>Github</a:t>
            </a:r>
            <a:r>
              <a:rPr lang="en-US" sz="1400" b="1" dirty="0">
                <a:solidFill>
                  <a:srgbClr val="BFD0CF"/>
                </a:solidFill>
                <a:latin typeface="Calibri" pitchFamily="34" charset="0"/>
                <a:ea typeface="Calibri" pitchFamily="34" charset="-122"/>
                <a:cs typeface="Calibri" pitchFamily="34" charset="-120"/>
                <a:hlinkClick r:id="rId3" action="ppaction://hlinkfile"/>
              </a:rPr>
              <a:t> Repo link</a:t>
            </a:r>
            <a:endParaRPr lang="en-US" sz="1400" dirty="0"/>
          </a:p>
        </p:txBody>
      </p:sp>
    </p:spTree>
  </p:cSld>
  <p:clrMapOvr>
    <a:masterClrMapping/>
  </p:clrMapOvr>
</p:sld>
</file>

<file path=ppt/theme/theme1.xml><?xml version="1.0" encoding="utf-8"?>
<a:theme xmlns:a="http://schemas.openxmlformats.org/drawingml/2006/main" name="IMU Fusion Timeline">
  <a:themeElements>
    <a:clrScheme name="IMU Fusion Timeline">
      <a:dk1>
        <a:srgbClr val="26343A"/>
      </a:dk1>
      <a:lt1>
        <a:srgbClr val="FFFFFF"/>
      </a:lt1>
      <a:dk2>
        <a:srgbClr val="2F4858"/>
      </a:dk2>
      <a:lt2>
        <a:srgbClr val="F3F5F4"/>
      </a:lt2>
      <a:accent1>
        <a:srgbClr val="55808A"/>
      </a:accent1>
      <a:accent2>
        <a:srgbClr val="C58B5A"/>
      </a:accent2>
      <a:accent3>
        <a:srgbClr val="BFD0CF"/>
      </a:accent3>
      <a:accent4>
        <a:srgbClr val="7FA0A8"/>
      </a:accent4>
      <a:accent5>
        <a:srgbClr val="8C9BA5"/>
      </a:accent5>
      <a:accent6>
        <a:srgbClr val="D9C7B0"/>
      </a:accent6>
      <a:hlink>
        <a:srgbClr val="55808A"/>
      </a:hlink>
      <a:folHlink>
        <a:srgbClr val="2F4858"/>
      </a:folHlink>
    </a:clrScheme>
    <a:fontScheme name="IMU Fusion Tim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3332</Words>
  <Application>Microsoft Office PowerPoint</Application>
  <PresentationFormat>On-screen Show (16:9)</PresentationFormat>
  <Paragraphs>398</Paragraphs>
  <Slides>21</Slides>
  <Notes>21</Notes>
  <HiddenSlides>1</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IMU Fusion Timeline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phone on a table to a drone in Gazebo</dc:title>
  <dc:subject>PptxGenJS Presentation</dc:subject>
  <dc:creator>IMU sensor fusion team, NIT Trichy</dc:creator>
  <cp:lastModifiedBy>111124102_ Rahul V</cp:lastModifiedBy>
  <cp:revision>3</cp:revision>
  <dcterms:created xsi:type="dcterms:W3CDTF">2026-10-25T07:24:02Z</dcterms:created>
  <dcterms:modified xsi:type="dcterms:W3CDTF">2026-10-25T08:24:00Z</dcterms:modified>
</cp:coreProperties>
</file>